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y="6858000" cx="12191675"/>
  <p:notesSz cx="6858000" cy="9144000"/>
  <p:embeddedFontLst>
    <p:embeddedFont>
      <p:font typeface="Roboto"/>
      <p:regular r:id="rId76"/>
      <p:bold r:id="rId77"/>
      <p:italic r:id="rId78"/>
      <p:boldItalic r:id="rId79"/>
    </p:embeddedFont>
    <p:embeddedFont>
      <p:font typeface="Nunito"/>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4" roundtripDataSignature="AMtx7mis4sUQkVYD1zDw4+ap5W67kMyv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BB5EDB-FB31-46EC-9822-BB6EADF0BBC1}">
  <a:tblStyle styleId="{AABB5EDB-FB31-46EC-9822-BB6EADF0BBC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9218CA2-764A-41ED-B9C0-92EC91D7CA4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font" Target="fonts/Nunito-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Nunito-regular.fntdata"/><Relationship Id="rId82" Type="http://schemas.openxmlformats.org/officeDocument/2006/relationships/font" Target="fonts/Nunito-italic.fntdata"/><Relationship Id="rId81"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Roboto-bold.fntdata"/><Relationship Id="rId32" Type="http://schemas.openxmlformats.org/officeDocument/2006/relationships/slide" Target="slides/slide26.xml"/><Relationship Id="rId76" Type="http://schemas.openxmlformats.org/officeDocument/2006/relationships/font" Target="fonts/Roboto-regular.fntdata"/><Relationship Id="rId35" Type="http://schemas.openxmlformats.org/officeDocument/2006/relationships/slide" Target="slides/slide29.xml"/><Relationship Id="rId79" Type="http://schemas.openxmlformats.org/officeDocument/2006/relationships/font" Target="fonts/Roboto-boldItalic.fntdata"/><Relationship Id="rId34" Type="http://schemas.openxmlformats.org/officeDocument/2006/relationships/slide" Target="slides/slide28.xml"/><Relationship Id="rId78" Type="http://schemas.openxmlformats.org/officeDocument/2006/relationships/font" Target="fonts/Roboto-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36dc2ce36be3d24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36dc2ce36be3d2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36dc2ce36be3d24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36dc2ce36be3d2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36dc2ce36be3d24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36dc2ce36be3d2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6dc2ce36be3d24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6dc2ce36be3d2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36dc2ce36be3d24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36dc2ce36be3d2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36dc2ce36be3d24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h36dc2ce36be3d2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e33305f8ebb87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e33305f8ebb87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e33305f8ebb870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e33305f8ebb870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609d645b367ca6be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h609d645b367ca6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09d645b367ca6be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609d645b367ca6b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609d645b367ca6be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609d645b367ca6b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609d645b367ca6be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609d645b367ca6b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609d645b367ca6be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h609d645b367ca6b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609d645b367ca6be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609d645b367ca6b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609d645b367ca6be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609d645b367ca6b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609d645b367ca6be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h609d645b367ca6b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609d645b367ca6be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h609d645b367ca6b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0a1e6f4fc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40a1e6f4f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40a1e6f4fc2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40a1e6f4fc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40a1e6f4fc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40a1e6f4fc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40a1e6f4fc2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40a1e6f4fc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a7d38579d64536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ha7d38579d6453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a7d38579d64536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a7d38579d6453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a7d38579d6453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a7d38579d6453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a7d38579d64536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ha7d38579d6453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a7d38579d64536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ha7d38579d6453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a7d38579d64536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a7d38579d6453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a7d38579d64536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ha7d38579d6453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a7d38579d64536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ha7d38579d6453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a7d38579d64536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a7d38579d6453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a7d38579d6453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ha7d38579d6453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a7d38579d64536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a7d38579d6453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a7d38579d64536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a7d38579d6453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h62b2205ea301b09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h62b2205ea301b0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h62b2205ea301b09f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h62b2205ea301b09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62b2205ea301b09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62b2205ea301b09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62b2205ea301b09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h62b2205ea301b09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62b2205ea301b09f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h62b2205ea301b0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62b2205ea301b09f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62b2205ea301b09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h62b2205ea301b09f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h62b2205ea301b09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62b2205ea301b09f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62b2205ea301b09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62b2205ea301b09f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62b2205ea301b09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62b2205ea301b09f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h62b2205ea301b09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h62b2205ea301b09f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h62b2205ea301b09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62b2205ea301b09f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62b2205ea301b09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2205aeae9b1c56d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h2205aeae9b1c56d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2205aeae9b1c56da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h2205aeae9b1c56d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2205aeae9b1c56da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h2205aeae9b1c56d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62b2205ea301b09f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62b2205ea301b09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2205aeae9b1c56da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h2205aeae9b1c56d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2b2205ea301b09f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h62b2205ea301b09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62b2205ea301b09f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h62b2205ea301b0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62b2205ea301b09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h62b2205ea301b09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h2205aeae9b1c56da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h2205aeae9b1c56d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h2205aeae9b1c56da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h2205aeae9b1c56d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36dc2ce36be3d2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h36dc2ce36be3d2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36dc2ce36be3d2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h36dc2ce36be3d2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h2205aeae9b1c56da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h2205aeae9b1c56d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7"/>
          <p:cNvSpPr/>
          <p:nvPr>
            <p:ph idx="2" type="pic"/>
          </p:nvPr>
        </p:nvSpPr>
        <p:spPr>
          <a:xfrm>
            <a:off x="1792288" y="612775"/>
            <a:ext cx="5486400" cy="4114800"/>
          </a:xfrm>
          <a:prstGeom prst="rect">
            <a:avLst/>
          </a:prstGeom>
          <a:noFill/>
          <a:ln>
            <a:noFill/>
          </a:ln>
        </p:spPr>
      </p:sp>
      <p:sp>
        <p:nvSpPr>
          <p:cNvPr id="64" name="Google Shape;64;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en.wikipedia.org/wiki/Homoscedasticity_and_heteroscedasticity" TargetMode="External"/><Relationship Id="rId4" Type="http://schemas.openxmlformats.org/officeDocument/2006/relationships/hyperlink" Target="https://en.wikipedia.org/wiki/Homoscedasticity_and_heteroscedasticit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www.displayr.com/what-is-heteroscedasticity/" TargetMode="External"/><Relationship Id="rId4" Type="http://schemas.openxmlformats.org/officeDocument/2006/relationships/hyperlink" Target="https://www.displayr.com/what-is-heteroscedasticity/" TargetMode="External"/><Relationship Id="rId5" Type="http://schemas.openxmlformats.org/officeDocument/2006/relationships/hyperlink" Target="https://medium.com/@ghofrantalaat/understanding-heteroscedasticity-meaning-ways-of-detection-and-solutions-905605a22eba" TargetMode="External"/><Relationship Id="rId6" Type="http://schemas.openxmlformats.org/officeDocument/2006/relationships/hyperlink" Target="https://medium.com/@ghofrantalaat/understanding-heteroscedasticity-meaning-ways-of-detection-and-solutions-905605a22eb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support.minitab.com/en-us/minitab/help-and-how-to/statistical-modeling/regression/how-to/nonlinear-regression/interpret-the-results/all-statistics-and-graphs/residual-plots/" TargetMode="External"/><Relationship Id="rId4" Type="http://schemas.openxmlformats.org/officeDocument/2006/relationships/hyperlink" Target="https://www.graphpad.com/support/faq/why-does-a-normality-test-of-residuals-from-nonlinear-regression-give-different-results-than-a-normality-test-of-the-raw-data/"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www.geeksforgeeks.org/physics/power/"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2209650" y="1423625"/>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PREDICTIVE ANALYTICS</a:t>
            </a:r>
            <a:endParaRPr/>
          </a:p>
        </p:txBody>
      </p:sp>
      <p:sp>
        <p:nvSpPr>
          <p:cNvPr id="85" name="Google Shape;85;p1"/>
          <p:cNvSpPr txBox="1"/>
          <p:nvPr>
            <p:ph idx="1" type="subTitle"/>
          </p:nvPr>
        </p:nvSpPr>
        <p:spPr>
          <a:xfrm>
            <a:off x="2895438" y="3351325"/>
            <a:ext cx="6400800" cy="17526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ctr">
              <a:spcBef>
                <a:spcPts val="0"/>
              </a:spcBef>
              <a:spcAft>
                <a:spcPts val="0"/>
              </a:spcAft>
              <a:buClr>
                <a:srgbClr val="888888"/>
              </a:buClr>
              <a:buSzPct val="100000"/>
              <a:buNone/>
            </a:pPr>
            <a:r>
              <a:rPr lang="en-US">
                <a:solidFill>
                  <a:srgbClr val="333333"/>
                </a:solidFill>
              </a:rPr>
              <a:t>B.Sc. Data Science Honours | Extra / Accelerated Lectures</a:t>
            </a:r>
            <a:endParaRPr>
              <a:solidFill>
                <a:srgbClr val="333333"/>
              </a:solidFill>
            </a:endParaRPr>
          </a:p>
          <a:p>
            <a:pPr indent="0" lvl="0" marL="0" rtl="0" algn="ctr">
              <a:spcBef>
                <a:spcPts val="640"/>
              </a:spcBef>
              <a:spcAft>
                <a:spcPts val="0"/>
              </a:spcAft>
              <a:buClr>
                <a:srgbClr val="888888"/>
              </a:buClr>
              <a:buSzPct val="100000"/>
              <a:buNone/>
            </a:pPr>
            <a:r>
              <a:rPr lang="en-US">
                <a:solidFill>
                  <a:srgbClr val="333333"/>
                </a:solidFill>
              </a:rPr>
              <a:t>BSCDS47(B) | Department of Technology, SPPU</a:t>
            </a:r>
            <a:endParaRPr>
              <a:solidFill>
                <a:srgbClr val="333333"/>
              </a:solidFill>
            </a:endParaRPr>
          </a:p>
          <a:p>
            <a:pPr indent="0" lvl="0" marL="0" rtl="0" algn="ctr">
              <a:spcBef>
                <a:spcPts val="640"/>
              </a:spcBef>
              <a:spcAft>
                <a:spcPts val="0"/>
              </a:spcAft>
              <a:buClr>
                <a:srgbClr val="888888"/>
              </a:buClr>
              <a:buSzPct val="100000"/>
              <a:buNone/>
            </a:pPr>
            <a:r>
              <a:rPr lang="en-US">
                <a:solidFill>
                  <a:srgbClr val="333333"/>
                </a:solidFill>
              </a:rPr>
              <a:t>Dr. </a:t>
            </a:r>
            <a:r>
              <a:rPr lang="en-US">
                <a:solidFill>
                  <a:srgbClr val="333333"/>
                </a:solidFill>
              </a:rPr>
              <a:t>Aparna Jagtap</a:t>
            </a:r>
            <a:endParaRPr>
              <a:solidFill>
                <a:srgbClr val="33333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502920" y="228600"/>
            <a:ext cx="111556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Course Map</a:t>
            </a:r>
            <a:endParaRPr/>
          </a:p>
        </p:txBody>
      </p:sp>
      <p:sp>
        <p:nvSpPr>
          <p:cNvPr id="91" name="Google Shape;91;p2"/>
          <p:cNvSpPr txBox="1"/>
          <p:nvPr/>
        </p:nvSpPr>
        <p:spPr>
          <a:xfrm>
            <a:off x="640080" y="1051560"/>
            <a:ext cx="5212200" cy="4166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900" u="none" cap="none" strike="noStrike">
                <a:solidFill>
                  <a:schemeClr val="dk1"/>
                </a:solidFill>
                <a:latin typeface="Calibri"/>
                <a:ea typeface="Calibri"/>
                <a:cs typeface="Calibri"/>
                <a:sym typeface="Calibri"/>
              </a:rPr>
              <a:t>UNIT I — Simple Regression Analysis</a:t>
            </a:r>
            <a:br>
              <a:rPr b="0" i="0" lang="en-US" sz="1900" u="none" cap="none" strike="noStrike">
                <a:solidFill>
                  <a:schemeClr val="dk1"/>
                </a:solidFill>
                <a:latin typeface="Calibri"/>
                <a:ea typeface="Calibri"/>
                <a:cs typeface="Calibri"/>
                <a:sym typeface="Calibri"/>
              </a:rPr>
            </a:br>
            <a:r>
              <a:rPr b="0" i="0" lang="en-US" sz="1900" u="none" cap="none" strike="noStrike">
                <a:solidFill>
                  <a:schemeClr val="dk1"/>
                </a:solidFill>
                <a:latin typeface="Calibri"/>
                <a:ea typeface="Calibri"/>
                <a:cs typeface="Calibri"/>
                <a:sym typeface="Calibri"/>
              </a:rPr>
              <a:t>9 Hours</a:t>
            </a:r>
            <a:endParaRPr b="0" i="0" sz="1900" u="none" cap="none" strike="noStrike">
              <a:solidFill>
                <a:schemeClr val="dk1"/>
              </a:solidFill>
              <a:latin typeface="Calibri"/>
              <a:ea typeface="Calibri"/>
              <a:cs typeface="Calibri"/>
              <a:sym typeface="Calibri"/>
            </a:endParaRPr>
          </a:p>
          <a:p>
            <a:pPr indent="0" lvl="0" marL="0" marR="0" rtl="0" algn="l">
              <a:spcBef>
                <a:spcPts val="1000"/>
              </a:spcBef>
              <a:spcAft>
                <a:spcPts val="0"/>
              </a:spcAft>
              <a:buNone/>
            </a:pPr>
            <a:r>
              <a:rPr b="0" i="0" lang="en-US" sz="1900" u="none" cap="none" strike="noStrike">
                <a:solidFill>
                  <a:schemeClr val="dk1"/>
                </a:solidFill>
                <a:latin typeface="Calibri"/>
                <a:ea typeface="Calibri"/>
                <a:cs typeface="Calibri"/>
                <a:sym typeface="Calibri"/>
              </a:rPr>
              <a:t>UNIT II — Non-Linear Regression Analysis</a:t>
            </a:r>
            <a:br>
              <a:rPr b="0" i="0" lang="en-US" sz="1900" u="none" cap="none" strike="noStrike">
                <a:solidFill>
                  <a:schemeClr val="dk1"/>
                </a:solidFill>
                <a:latin typeface="Calibri"/>
                <a:ea typeface="Calibri"/>
                <a:cs typeface="Calibri"/>
                <a:sym typeface="Calibri"/>
              </a:rPr>
            </a:br>
            <a:r>
              <a:rPr b="0" i="0" lang="en-US" sz="1900" u="none" cap="none" strike="noStrike">
                <a:solidFill>
                  <a:schemeClr val="dk1"/>
                </a:solidFill>
                <a:latin typeface="Calibri"/>
                <a:ea typeface="Calibri"/>
                <a:cs typeface="Calibri"/>
                <a:sym typeface="Calibri"/>
              </a:rPr>
              <a:t>9 Hours</a:t>
            </a:r>
            <a:endParaRPr/>
          </a:p>
          <a:p>
            <a:pPr indent="0" lvl="0" marL="0" marR="0" rtl="0" algn="l">
              <a:spcBef>
                <a:spcPts val="1000"/>
              </a:spcBef>
              <a:spcAft>
                <a:spcPts val="0"/>
              </a:spcAft>
              <a:buNone/>
            </a:pPr>
            <a:r>
              <a:rPr b="0" i="0" lang="en-US" sz="1900" u="none" cap="none" strike="noStrike">
                <a:solidFill>
                  <a:schemeClr val="dk1"/>
                </a:solidFill>
                <a:latin typeface="Calibri"/>
                <a:ea typeface="Calibri"/>
                <a:cs typeface="Calibri"/>
                <a:sym typeface="Calibri"/>
              </a:rPr>
              <a:t>UNIT III — Dummy Modelling &amp; Panel Data</a:t>
            </a:r>
            <a:br>
              <a:rPr b="0" i="0" lang="en-US" sz="1900" u="none" cap="none" strike="noStrike">
                <a:solidFill>
                  <a:schemeClr val="dk1"/>
                </a:solidFill>
                <a:latin typeface="Calibri"/>
                <a:ea typeface="Calibri"/>
                <a:cs typeface="Calibri"/>
                <a:sym typeface="Calibri"/>
              </a:rPr>
            </a:br>
            <a:r>
              <a:rPr b="0" i="0" lang="en-US" sz="1900" u="none" cap="none" strike="noStrike">
                <a:solidFill>
                  <a:schemeClr val="dk1"/>
                </a:solidFill>
                <a:latin typeface="Calibri"/>
                <a:ea typeface="Calibri"/>
                <a:cs typeface="Calibri"/>
                <a:sym typeface="Calibri"/>
              </a:rPr>
              <a:t>9 Hours</a:t>
            </a:r>
            <a:endParaRPr b="0" i="0" sz="19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900">
                <a:solidFill>
                  <a:schemeClr val="dk1"/>
                </a:solidFill>
                <a:latin typeface="Calibri"/>
                <a:ea typeface="Calibri"/>
                <a:cs typeface="Calibri"/>
                <a:sym typeface="Calibri"/>
              </a:rPr>
              <a:t>UNIT IV — Forecasting &amp; Time Series Forecasting</a:t>
            </a:r>
            <a:br>
              <a:rPr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9 Hours</a:t>
            </a:r>
            <a:endParaRPr>
              <a:solidFill>
                <a:schemeClr val="dk1"/>
              </a:solidFill>
            </a:endParaRPr>
          </a:p>
          <a:p>
            <a:pPr indent="0" lvl="0" marL="0" rtl="0" algn="l">
              <a:spcBef>
                <a:spcPts val="1000"/>
              </a:spcBef>
              <a:spcAft>
                <a:spcPts val="0"/>
              </a:spcAft>
              <a:buNone/>
            </a:pPr>
            <a:r>
              <a:rPr lang="en-US" sz="1900">
                <a:solidFill>
                  <a:schemeClr val="dk1"/>
                </a:solidFill>
                <a:latin typeface="Calibri"/>
                <a:ea typeface="Calibri"/>
                <a:cs typeface="Calibri"/>
                <a:sym typeface="Calibri"/>
              </a:rPr>
              <a:t>UNIT V — Data Mining &amp; Simulation</a:t>
            </a:r>
            <a:br>
              <a:rPr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9 Hours</a:t>
            </a:r>
            <a:endParaRPr>
              <a:solidFill>
                <a:schemeClr val="dk1"/>
              </a:solidFill>
            </a:endParaRPr>
          </a:p>
          <a:p>
            <a:pPr indent="0" lvl="0" marL="0" rtl="0" algn="l">
              <a:spcBef>
                <a:spcPts val="1000"/>
              </a:spcBef>
              <a:spcAft>
                <a:spcPts val="0"/>
              </a:spcAft>
              <a:buNone/>
            </a:pPr>
            <a:r>
              <a:t/>
            </a:r>
            <a:endParaRPr>
              <a:solidFill>
                <a:schemeClr val="dk1"/>
              </a:solidFill>
            </a:endParaRPr>
          </a:p>
          <a:p>
            <a:pPr indent="0" lvl="0" marL="0" rtl="0" algn="l">
              <a:spcBef>
                <a:spcPts val="1000"/>
              </a:spcBef>
              <a:spcAft>
                <a:spcPts val="0"/>
              </a:spcAft>
              <a:buClr>
                <a:schemeClr val="dk1"/>
              </a:buClr>
              <a:buFont typeface="Arial"/>
              <a:buNone/>
            </a:pPr>
            <a:r>
              <a:rPr lang="en-US" sz="1900">
                <a:solidFill>
                  <a:schemeClr val="dk1"/>
                </a:solidFill>
                <a:latin typeface="Calibri"/>
                <a:ea typeface="Calibri"/>
                <a:cs typeface="Calibri"/>
                <a:sym typeface="Calibri"/>
              </a:rPr>
              <a:t>Total teaching scheme: 45 hours</a:t>
            </a:r>
            <a:endParaRPr sz="1900">
              <a:solidFill>
                <a:schemeClr val="dk1"/>
              </a:solidFill>
              <a:latin typeface="Calibri"/>
              <a:ea typeface="Calibri"/>
              <a:cs typeface="Calibri"/>
              <a:sym typeface="Calibri"/>
            </a:endParaRPr>
          </a:p>
        </p:txBody>
      </p:sp>
      <p:sp>
        <p:nvSpPr>
          <p:cNvPr id="92" name="Google Shape;92;p2"/>
          <p:cNvSpPr txBox="1"/>
          <p:nvPr/>
        </p:nvSpPr>
        <p:spPr>
          <a:xfrm>
            <a:off x="5387075" y="228600"/>
            <a:ext cx="5981700" cy="5227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UNIT I — Simple Regression Analysis — 9 Hours</a:t>
            </a:r>
            <a:endParaRPr b="1" sz="22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Concept Fundamentals of Regression Analysis</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Requirements in Regression Model Building</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Model Diagnostics</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Interpretation of Regression Results for Management Decision</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Multiple Regression Analysis:</a:t>
            </a:r>
            <a:r>
              <a:rPr lang="en-US" sz="2000">
                <a:solidFill>
                  <a:schemeClr val="dk1"/>
                </a:solidFill>
              </a:rPr>
              <a:t> Concept</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Significance of Multiple Regression Analysis</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Structure of Model Estimation</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Testing Rule of Multiple Regression Analysis</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502920" y="228600"/>
            <a:ext cx="111556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What is Predictive Analytics?</a:t>
            </a:r>
            <a:endParaRPr/>
          </a:p>
        </p:txBody>
      </p:sp>
      <p:sp>
        <p:nvSpPr>
          <p:cNvPr id="98" name="Google Shape;98;p3"/>
          <p:cNvSpPr txBox="1"/>
          <p:nvPr/>
        </p:nvSpPr>
        <p:spPr>
          <a:xfrm>
            <a:off x="685800" y="1051560"/>
            <a:ext cx="10789800" cy="5501100"/>
          </a:xfrm>
          <a:prstGeom prst="rect">
            <a:avLst/>
          </a:prstGeom>
          <a:noFill/>
          <a:ln>
            <a:noFill/>
          </a:ln>
        </p:spPr>
        <p:txBody>
          <a:bodyPr anchorCtr="0" anchor="t" bIns="45700" lIns="91425" spcFirstLastPara="1" rIns="91425" wrap="square" tIns="45700">
            <a:spAutoFit/>
          </a:bodyPr>
          <a:lstStyle/>
          <a:p>
            <a:pPr indent="457200" lvl="0" marL="457200" rtl="0" algn="l">
              <a:lnSpc>
                <a:spcPct val="120000"/>
              </a:lnSpc>
              <a:spcBef>
                <a:spcPts val="0"/>
              </a:spcBef>
              <a:spcAft>
                <a:spcPts val="0"/>
              </a:spcAft>
              <a:buClr>
                <a:schemeClr val="dk1"/>
              </a:buClr>
              <a:buSzPts val="1100"/>
              <a:buFont typeface="Arial"/>
              <a:buNone/>
            </a:pPr>
            <a:r>
              <a:rPr lang="en-US" spc="12" sz="1800">
                <a:solidFill>
                  <a:srgbClr val="273239"/>
                </a:solidFill>
                <a:highlight>
                  <a:srgbClr val="FFFFFF"/>
                </a:highlight>
                <a:latin typeface="Nunito"/>
                <a:ea typeface="Nunito"/>
                <a:cs typeface="Nunito"/>
                <a:sym typeface="Nunito"/>
              </a:rPr>
              <a:t>Predictive analytics is a branch of data science that leverages statistical techniques, machine</a:t>
            </a:r>
            <a:r>
              <a:rPr lang="en-US" spc="12" sz="1800">
                <a:solidFill>
                  <a:srgbClr val="273239"/>
                </a:solidFill>
                <a:highlight>
                  <a:srgbClr val="FFFFFF"/>
                </a:highlight>
                <a:latin typeface="Nunito"/>
                <a:ea typeface="Nunito"/>
                <a:cs typeface="Nunito"/>
                <a:sym typeface="Nunito"/>
              </a:rPr>
              <a:t> </a:t>
            </a:r>
            <a:r>
              <a:rPr lang="en-US" spc="12" sz="1800">
                <a:solidFill>
                  <a:srgbClr val="273239"/>
                </a:solidFill>
                <a:highlight>
                  <a:srgbClr val="FFFFFF"/>
                </a:highlight>
                <a:latin typeface="Nunito"/>
                <a:ea typeface="Nunito"/>
                <a:cs typeface="Nunito"/>
                <a:sym typeface="Nunito"/>
              </a:rPr>
              <a:t>learning algorithms, and historical data to make data-driven predictions about future outcomes.</a:t>
            </a:r>
            <a:endParaRPr spc="12" sz="1800">
              <a:solidFill>
                <a:srgbClr val="273239"/>
              </a:solidFill>
              <a:highlight>
                <a:srgbClr val="FFFFFF"/>
              </a:highlight>
              <a:latin typeface="Nunito"/>
              <a:ea typeface="Nunito"/>
              <a:cs typeface="Nunito"/>
              <a:sym typeface="Nunito"/>
            </a:endParaRPr>
          </a:p>
          <a:p>
            <a:pPr indent="0" lvl="0" marL="0" rtl="0" algn="l">
              <a:lnSpc>
                <a:spcPct val="116666"/>
              </a:lnSpc>
              <a:spcBef>
                <a:spcPts val="800"/>
              </a:spcBef>
              <a:spcAft>
                <a:spcPts val="0"/>
              </a:spcAft>
              <a:buClr>
                <a:schemeClr val="dk1"/>
              </a:buClr>
              <a:buSzPts val="1100"/>
              <a:buFont typeface="Arial"/>
              <a:buNone/>
            </a:pPr>
            <a:r>
              <a:rPr lang="en-US" spc="12" sz="1800">
                <a:solidFill>
                  <a:srgbClr val="273239"/>
                </a:solidFill>
                <a:highlight>
                  <a:srgbClr val="FFFFFF"/>
                </a:highlight>
                <a:latin typeface="Nunito"/>
                <a:ea typeface="Nunito"/>
                <a:cs typeface="Nunito"/>
                <a:sym typeface="Nunito"/>
              </a:rPr>
              <a:t>Why Predictive Analytics is important?</a:t>
            </a:r>
            <a:endParaRPr spc="12" sz="1800">
              <a:solidFill>
                <a:srgbClr val="273239"/>
              </a:solidFill>
              <a:highlight>
                <a:srgbClr val="FFFFFF"/>
              </a:highlight>
              <a:latin typeface="Nunito"/>
              <a:ea typeface="Nunito"/>
              <a:cs typeface="Nunito"/>
              <a:sym typeface="Nunito"/>
            </a:endParaRPr>
          </a:p>
          <a:p>
            <a:pPr indent="-342900" lvl="0" marL="685800" rtl="0" algn="l">
              <a:lnSpc>
                <a:spcPct val="158000"/>
              </a:lnSpc>
              <a:spcBef>
                <a:spcPts val="0"/>
              </a:spcBef>
              <a:spcAft>
                <a:spcPts val="0"/>
              </a:spcAft>
              <a:buClr>
                <a:srgbClr val="273239"/>
              </a:buClr>
              <a:buSzPts val="1800"/>
              <a:buFont typeface="Nunito"/>
              <a:buChar char="●"/>
            </a:pPr>
            <a:r>
              <a:rPr b="1" lang="en-US" spc="10" sz="1800">
                <a:solidFill>
                  <a:srgbClr val="273239"/>
                </a:solidFill>
                <a:highlight>
                  <a:srgbClr val="FFFFFF"/>
                </a:highlight>
                <a:latin typeface="Nunito"/>
                <a:ea typeface="Nunito"/>
                <a:cs typeface="Nunito"/>
                <a:sym typeface="Nunito"/>
              </a:rPr>
              <a:t>Informed Decision-Making:</a:t>
            </a:r>
            <a:r>
              <a:rPr lang="en-US" spc="12" sz="1800">
                <a:solidFill>
                  <a:srgbClr val="273239"/>
                </a:solidFill>
                <a:highlight>
                  <a:srgbClr val="FFFFFF"/>
                </a:highlight>
                <a:latin typeface="Nunito"/>
                <a:ea typeface="Nunito"/>
                <a:cs typeface="Nunito"/>
                <a:sym typeface="Nunito"/>
              </a:rPr>
              <a:t> </a:t>
            </a:r>
            <a:endParaRPr spc="12" sz="1800">
              <a:solidFill>
                <a:srgbClr val="273239"/>
              </a:solidFill>
              <a:highlight>
                <a:srgbClr val="FFFFFF"/>
              </a:highlight>
              <a:latin typeface="Nunito"/>
              <a:ea typeface="Nunito"/>
              <a:cs typeface="Nunito"/>
              <a:sym typeface="Nunito"/>
            </a:endParaRPr>
          </a:p>
          <a:p>
            <a:pPr indent="-342900" lvl="0" marL="685800" rtl="0" algn="l">
              <a:lnSpc>
                <a:spcPct val="158000"/>
              </a:lnSpc>
              <a:spcBef>
                <a:spcPts val="0"/>
              </a:spcBef>
              <a:spcAft>
                <a:spcPts val="0"/>
              </a:spcAft>
              <a:buClr>
                <a:srgbClr val="273239"/>
              </a:buClr>
              <a:buSzPts val="1800"/>
              <a:buFont typeface="Nunito"/>
              <a:buChar char="●"/>
            </a:pPr>
            <a:r>
              <a:rPr b="1" lang="en-US" spc="10" sz="1800">
                <a:solidFill>
                  <a:srgbClr val="273239"/>
                </a:solidFill>
                <a:highlight>
                  <a:srgbClr val="FFFFFF"/>
                </a:highlight>
                <a:latin typeface="Nunito"/>
                <a:ea typeface="Nunito"/>
                <a:cs typeface="Nunito"/>
                <a:sym typeface="Nunito"/>
              </a:rPr>
              <a:t>Risk Management:</a:t>
            </a:r>
            <a:r>
              <a:rPr lang="en-US" spc="12" sz="1800">
                <a:solidFill>
                  <a:srgbClr val="273239"/>
                </a:solidFill>
                <a:highlight>
                  <a:srgbClr val="FFFFFF"/>
                </a:highlight>
                <a:latin typeface="Nunito"/>
                <a:ea typeface="Nunito"/>
                <a:cs typeface="Nunito"/>
                <a:sym typeface="Nunito"/>
              </a:rPr>
              <a:t> </a:t>
            </a:r>
            <a:endParaRPr spc="12" sz="1800">
              <a:solidFill>
                <a:srgbClr val="273239"/>
              </a:solidFill>
              <a:highlight>
                <a:srgbClr val="FFFFFF"/>
              </a:highlight>
              <a:latin typeface="Nunito"/>
              <a:ea typeface="Nunito"/>
              <a:cs typeface="Nunito"/>
              <a:sym typeface="Nunito"/>
            </a:endParaRPr>
          </a:p>
          <a:p>
            <a:pPr indent="-342900" lvl="0" marL="685800" rtl="0" algn="l">
              <a:lnSpc>
                <a:spcPct val="158000"/>
              </a:lnSpc>
              <a:spcBef>
                <a:spcPts val="0"/>
              </a:spcBef>
              <a:spcAft>
                <a:spcPts val="0"/>
              </a:spcAft>
              <a:buClr>
                <a:srgbClr val="273239"/>
              </a:buClr>
              <a:buSzPts val="1800"/>
              <a:buFont typeface="Nunito"/>
              <a:buChar char="●"/>
            </a:pPr>
            <a:r>
              <a:rPr b="1" lang="en-US" spc="10" sz="1800">
                <a:solidFill>
                  <a:srgbClr val="273239"/>
                </a:solidFill>
                <a:highlight>
                  <a:srgbClr val="FFFFFF"/>
                </a:highlight>
                <a:latin typeface="Nunito"/>
                <a:ea typeface="Nunito"/>
                <a:cs typeface="Nunito"/>
                <a:sym typeface="Nunito"/>
              </a:rPr>
              <a:t>Optimization and Efficiency:</a:t>
            </a:r>
            <a:r>
              <a:rPr lang="en-US" spc="12" sz="1800">
                <a:solidFill>
                  <a:srgbClr val="273239"/>
                </a:solidFill>
                <a:highlight>
                  <a:srgbClr val="FFFFFF"/>
                </a:highlight>
                <a:latin typeface="Nunito"/>
                <a:ea typeface="Nunito"/>
                <a:cs typeface="Nunito"/>
                <a:sym typeface="Nunito"/>
              </a:rPr>
              <a:t> </a:t>
            </a:r>
            <a:endParaRPr spc="12" sz="1800">
              <a:solidFill>
                <a:srgbClr val="273239"/>
              </a:solidFill>
              <a:highlight>
                <a:srgbClr val="FFFFFF"/>
              </a:highlight>
              <a:latin typeface="Nunito"/>
              <a:ea typeface="Nunito"/>
              <a:cs typeface="Nunito"/>
              <a:sym typeface="Nunito"/>
            </a:endParaRPr>
          </a:p>
          <a:p>
            <a:pPr indent="-342900" lvl="0" marL="685800" rtl="0" algn="l">
              <a:lnSpc>
                <a:spcPct val="158000"/>
              </a:lnSpc>
              <a:spcBef>
                <a:spcPts val="0"/>
              </a:spcBef>
              <a:spcAft>
                <a:spcPts val="0"/>
              </a:spcAft>
              <a:buClr>
                <a:srgbClr val="273239"/>
              </a:buClr>
              <a:buSzPts val="1800"/>
              <a:buFont typeface="Nunito"/>
              <a:buChar char="●"/>
            </a:pPr>
            <a:r>
              <a:rPr b="1" lang="en-US" spc="10" sz="1800">
                <a:solidFill>
                  <a:srgbClr val="273239"/>
                </a:solidFill>
                <a:highlight>
                  <a:srgbClr val="FFFFFF"/>
                </a:highlight>
                <a:latin typeface="Nunito"/>
                <a:ea typeface="Nunito"/>
                <a:cs typeface="Nunito"/>
                <a:sym typeface="Nunito"/>
              </a:rPr>
              <a:t>Personalized Experiences:</a:t>
            </a:r>
            <a:r>
              <a:rPr lang="en-US" spc="12" sz="1800">
                <a:solidFill>
                  <a:srgbClr val="273239"/>
                </a:solidFill>
                <a:highlight>
                  <a:srgbClr val="FFFFFF"/>
                </a:highlight>
                <a:latin typeface="Nunito"/>
                <a:ea typeface="Nunito"/>
                <a:cs typeface="Nunito"/>
                <a:sym typeface="Nunito"/>
              </a:rPr>
              <a:t> </a:t>
            </a:r>
            <a:endParaRPr spc="12" sz="1800">
              <a:solidFill>
                <a:srgbClr val="273239"/>
              </a:solidFill>
              <a:highlight>
                <a:srgbClr val="FFFFFF"/>
              </a:highlight>
              <a:latin typeface="Nunito"/>
              <a:ea typeface="Nunito"/>
              <a:cs typeface="Nunito"/>
              <a:sym typeface="Nunito"/>
            </a:endParaRPr>
          </a:p>
          <a:p>
            <a:pPr indent="-342900" lvl="0" marL="685800" rtl="0" algn="l">
              <a:lnSpc>
                <a:spcPct val="158000"/>
              </a:lnSpc>
              <a:spcBef>
                <a:spcPts val="0"/>
              </a:spcBef>
              <a:spcAft>
                <a:spcPts val="0"/>
              </a:spcAft>
              <a:buClr>
                <a:srgbClr val="273239"/>
              </a:buClr>
              <a:buSzPts val="1800"/>
              <a:buFont typeface="Nunito"/>
              <a:buChar char="●"/>
            </a:pPr>
            <a:r>
              <a:rPr b="1" lang="en-US" spc="10" sz="1800">
                <a:solidFill>
                  <a:srgbClr val="273239"/>
                </a:solidFill>
                <a:highlight>
                  <a:srgbClr val="FFFFFF"/>
                </a:highlight>
                <a:latin typeface="Nunito"/>
                <a:ea typeface="Nunito"/>
                <a:cs typeface="Nunito"/>
                <a:sym typeface="Nunito"/>
              </a:rPr>
              <a:t>Innovation and Competitive Advantage:</a:t>
            </a:r>
            <a:endParaRPr b="1" spc="10" sz="1800">
              <a:solidFill>
                <a:srgbClr val="273239"/>
              </a:solidFill>
              <a:highlight>
                <a:srgbClr val="FFFFFF"/>
              </a:highlight>
              <a:latin typeface="Nunito"/>
              <a:ea typeface="Nunito"/>
              <a:cs typeface="Nunito"/>
              <a:sym typeface="Nunito"/>
            </a:endParaRPr>
          </a:p>
          <a:p>
            <a:pPr indent="0" lvl="0" marL="0" marR="0" rtl="0" algn="l">
              <a:spcBef>
                <a:spcPts val="18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0" i="0" lang="en-US" sz="1800" u="none" cap="none" strike="noStrike">
                <a:solidFill>
                  <a:schemeClr val="dk1"/>
                </a:solidFill>
                <a:latin typeface="Calibri"/>
                <a:ea typeface="Calibri"/>
                <a:cs typeface="Calibri"/>
                <a:sym typeface="Calibri"/>
              </a:rPr>
              <a:t>Core idea: DATA → MODEL → PREDICTION → DECISION</a:t>
            </a:r>
            <a:endParaRPr sz="1800"/>
          </a:p>
          <a:p>
            <a:pPr indent="0" lvl="0" marL="0" marR="0" rtl="0" algn="l">
              <a:spcBef>
                <a:spcPts val="1000"/>
              </a:spcBef>
              <a:spcAft>
                <a:spcPts val="0"/>
              </a:spcAft>
              <a:buNone/>
            </a:pPr>
            <a:r>
              <a:rPr b="0" i="0" lang="en-US" sz="1800" u="none" cap="none" strike="noStrike">
                <a:solidFill>
                  <a:schemeClr val="dk1"/>
                </a:solidFill>
                <a:latin typeface="Calibri"/>
                <a:ea typeface="Calibri"/>
                <a:cs typeface="Calibri"/>
                <a:sym typeface="Calibri"/>
              </a:rPr>
              <a:t>Typical applications: sales forecasting, risk prediction, customer behaviour, healthcare and business decisions.</a:t>
            </a:r>
            <a:endParaRPr sz="1800"/>
          </a:p>
        </p:txBody>
      </p:sp>
      <p:pic>
        <p:nvPicPr>
          <p:cNvPr id="99" name="Google Shape;99;p3"/>
          <p:cNvPicPr preferRelativeResize="0"/>
          <p:nvPr/>
        </p:nvPicPr>
        <p:blipFill>
          <a:blip r:embed="rId3">
            <a:alphaModFix/>
          </a:blip>
          <a:stretch>
            <a:fillRect/>
          </a:stretch>
        </p:blipFill>
        <p:spPr>
          <a:xfrm>
            <a:off x="2082975" y="4630913"/>
            <a:ext cx="6962775" cy="86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333450" y="264600"/>
            <a:ext cx="11226000" cy="6334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800">
                <a:solidFill>
                  <a:schemeClr val="dk1"/>
                </a:solidFill>
                <a:latin typeface="Calibri"/>
                <a:ea typeface="Calibri"/>
                <a:cs typeface="Calibri"/>
                <a:sym typeface="Calibri"/>
              </a:rPr>
              <a:t>Four Types of Analytics</a:t>
            </a:r>
            <a:endParaRPr>
              <a:solidFill>
                <a:schemeClr val="dk1"/>
              </a:solidFill>
            </a:endParaRPr>
          </a:p>
          <a:p>
            <a:pPr indent="-317500" lvl="0" marL="457200" marR="0" rtl="0" algn="l">
              <a:lnSpc>
                <a:spcPct val="115000"/>
              </a:lnSpc>
              <a:spcBef>
                <a:spcPts val="1800"/>
              </a:spcBef>
              <a:spcAft>
                <a:spcPts val="0"/>
              </a:spcAft>
              <a:buClr>
                <a:schemeClr val="dk1"/>
              </a:buClr>
              <a:buSzPts val="1400"/>
              <a:buAutoNum type="arabicPeriod"/>
            </a:pPr>
            <a:r>
              <a:rPr lang="en-US" sz="1800">
                <a:solidFill>
                  <a:schemeClr val="dk1"/>
                </a:solidFill>
              </a:rPr>
              <a:t>Descriptive Analytics :</a:t>
            </a:r>
            <a:r>
              <a:rPr b="1" lang="en-US" sz="1500">
                <a:solidFill>
                  <a:schemeClr val="dk1"/>
                </a:solidFill>
              </a:rPr>
              <a:t> </a:t>
            </a:r>
            <a:r>
              <a:rPr lang="en-US" sz="1500">
                <a:solidFill>
                  <a:schemeClr val="dk1"/>
                </a:solidFill>
              </a:rPr>
              <a:t> What happened?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Purpose:</a:t>
            </a:r>
            <a:r>
              <a:rPr lang="en-US" sz="1500">
                <a:solidFill>
                  <a:schemeClr val="dk1"/>
                </a:solidFill>
              </a:rPr>
              <a:t> Summarizes past data to show historical trends and performance.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Common Tools:</a:t>
            </a:r>
            <a:r>
              <a:rPr lang="en-US" sz="1500">
                <a:solidFill>
                  <a:schemeClr val="dk1"/>
                </a:solidFill>
              </a:rPr>
              <a:t> Dashboards, charts, KPIs, and monthly reports.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Example:</a:t>
            </a:r>
            <a:r>
              <a:rPr lang="en-US" sz="1500">
                <a:solidFill>
                  <a:schemeClr val="dk1"/>
                </a:solidFill>
              </a:rPr>
              <a:t> Reviewing last month's sales numbers to see which products sold best</a:t>
            </a:r>
            <a:endParaRPr sz="1500">
              <a:solidFill>
                <a:schemeClr val="dk1"/>
              </a:solidFill>
            </a:endParaRPr>
          </a:p>
          <a:p>
            <a:pPr indent="0" lvl="0" marL="0" rtl="0" algn="l">
              <a:lnSpc>
                <a:spcPct val="115000"/>
              </a:lnSpc>
              <a:spcBef>
                <a:spcPts val="2100"/>
              </a:spcBef>
              <a:spcAft>
                <a:spcPts val="0"/>
              </a:spcAft>
              <a:buSzPts val="1100"/>
              <a:buNone/>
            </a:pPr>
            <a:r>
              <a:rPr lang="en-US" sz="1800">
                <a:solidFill>
                  <a:schemeClr val="dk1"/>
                </a:solidFill>
              </a:rPr>
              <a:t>2. Diagnostic Analytics: </a:t>
            </a:r>
            <a:r>
              <a:rPr lang="en-US" sz="1500">
                <a:solidFill>
                  <a:schemeClr val="dk1"/>
                </a:solidFill>
              </a:rPr>
              <a:t>Why did it happen? </a:t>
            </a:r>
            <a:endParaRPr sz="1500">
              <a:solidFill>
                <a:schemeClr val="dk1"/>
              </a:solidFill>
            </a:endParaRPr>
          </a:p>
          <a:p>
            <a:pPr indent="-323850" lvl="0" marL="457200" rtl="0" algn="l">
              <a:lnSpc>
                <a:spcPct val="115000"/>
              </a:lnSpc>
              <a:spcBef>
                <a:spcPts val="900"/>
              </a:spcBef>
              <a:spcAft>
                <a:spcPts val="0"/>
              </a:spcAft>
              <a:buClr>
                <a:schemeClr val="dk1"/>
              </a:buClr>
              <a:buSzPts val="1500"/>
              <a:buChar char="●"/>
            </a:pPr>
            <a:r>
              <a:rPr b="1" lang="en-US" sz="1500">
                <a:solidFill>
                  <a:schemeClr val="dk1"/>
                </a:solidFill>
              </a:rPr>
              <a:t>Purpose:</a:t>
            </a:r>
            <a:r>
              <a:rPr lang="en-US" sz="1500">
                <a:solidFill>
                  <a:schemeClr val="dk1"/>
                </a:solidFill>
              </a:rPr>
              <a:t> Investigates the root causes behind trends or unexpected changes.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Common Techniques:</a:t>
            </a:r>
            <a:r>
              <a:rPr lang="en-US" sz="1500">
                <a:solidFill>
                  <a:schemeClr val="dk1"/>
                </a:solidFill>
              </a:rPr>
              <a:t> Drill-down analysis, data mining, and correlation.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Example:</a:t>
            </a:r>
            <a:r>
              <a:rPr lang="en-US" sz="1500">
                <a:solidFill>
                  <a:schemeClr val="dk1"/>
                </a:solidFill>
              </a:rPr>
              <a:t> Finding out that a drop in sales was caused by a recent price increase in a specific region.</a:t>
            </a:r>
            <a:endParaRPr sz="1500">
              <a:solidFill>
                <a:schemeClr val="dk1"/>
              </a:solidFill>
            </a:endParaRPr>
          </a:p>
          <a:p>
            <a:pPr indent="0" lvl="0" marL="0" rtl="0" algn="l">
              <a:lnSpc>
                <a:spcPct val="115000"/>
              </a:lnSpc>
              <a:spcBef>
                <a:spcPts val="2100"/>
              </a:spcBef>
              <a:spcAft>
                <a:spcPts val="0"/>
              </a:spcAft>
              <a:buSzPts val="1100"/>
              <a:buNone/>
            </a:pPr>
            <a:r>
              <a:rPr lang="en-US" sz="1800">
                <a:solidFill>
                  <a:schemeClr val="dk1"/>
                </a:solidFill>
              </a:rPr>
              <a:t>3. Predictive Analytics: </a:t>
            </a:r>
            <a:r>
              <a:rPr lang="en-US" sz="1500">
                <a:solidFill>
                  <a:schemeClr val="dk1"/>
                </a:solidFill>
              </a:rPr>
              <a:t>What is likely to happen?</a:t>
            </a:r>
            <a:endParaRPr sz="1500">
              <a:solidFill>
                <a:schemeClr val="dk1"/>
              </a:solidFill>
            </a:endParaRPr>
          </a:p>
          <a:p>
            <a:pPr indent="-323850" lvl="0" marL="457200" rtl="0" algn="l">
              <a:lnSpc>
                <a:spcPct val="115000"/>
              </a:lnSpc>
              <a:spcBef>
                <a:spcPts val="900"/>
              </a:spcBef>
              <a:spcAft>
                <a:spcPts val="0"/>
              </a:spcAft>
              <a:buClr>
                <a:schemeClr val="dk1"/>
              </a:buClr>
              <a:buSzPts val="1500"/>
              <a:buChar char="●"/>
            </a:pPr>
            <a:r>
              <a:rPr b="1" lang="en-US" sz="1500">
                <a:solidFill>
                  <a:schemeClr val="dk1"/>
                </a:solidFill>
              </a:rPr>
              <a:t>Purpose:</a:t>
            </a:r>
            <a:r>
              <a:rPr lang="en-US" sz="1500">
                <a:solidFill>
                  <a:schemeClr val="dk1"/>
                </a:solidFill>
              </a:rPr>
              <a:t> Uses historical data and machine learning to forecast future events.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Common Techniques:</a:t>
            </a:r>
            <a:r>
              <a:rPr lang="en-US" sz="1500">
                <a:solidFill>
                  <a:schemeClr val="dk1"/>
                </a:solidFill>
              </a:rPr>
              <a:t> Statistical modeling, forecasting, and regression.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Example:</a:t>
            </a:r>
            <a:r>
              <a:rPr lang="en-US" sz="1500">
                <a:solidFill>
                  <a:schemeClr val="dk1"/>
                </a:solidFill>
              </a:rPr>
              <a:t> Estimating next quarter’s revenue based on past seasonal shopping habits. </a:t>
            </a:r>
            <a:endParaRPr sz="1500">
              <a:solidFill>
                <a:schemeClr val="dk1"/>
              </a:solidFill>
            </a:endParaRPr>
          </a:p>
          <a:p>
            <a:pPr indent="0" lvl="0" marL="0" rtl="0" algn="l">
              <a:lnSpc>
                <a:spcPct val="115000"/>
              </a:lnSpc>
              <a:spcBef>
                <a:spcPts val="2100"/>
              </a:spcBef>
              <a:spcAft>
                <a:spcPts val="0"/>
              </a:spcAft>
              <a:buSzPts val="1100"/>
              <a:buNone/>
            </a:pPr>
            <a:r>
              <a:rPr lang="en-US" sz="1800">
                <a:solidFill>
                  <a:schemeClr val="dk1"/>
                </a:solidFill>
              </a:rPr>
              <a:t>4. Prescriptive Analytics: </a:t>
            </a:r>
            <a:r>
              <a:rPr lang="en-US" sz="1500">
                <a:solidFill>
                  <a:schemeClr val="dk1"/>
                </a:solidFill>
              </a:rPr>
              <a:t>What should we do next?</a:t>
            </a:r>
            <a:endParaRPr sz="1500">
              <a:solidFill>
                <a:schemeClr val="dk1"/>
              </a:solidFill>
            </a:endParaRPr>
          </a:p>
          <a:p>
            <a:pPr indent="-323850" lvl="0" marL="457200" rtl="0" algn="l">
              <a:lnSpc>
                <a:spcPct val="115000"/>
              </a:lnSpc>
              <a:spcBef>
                <a:spcPts val="900"/>
              </a:spcBef>
              <a:spcAft>
                <a:spcPts val="0"/>
              </a:spcAft>
              <a:buClr>
                <a:schemeClr val="dk1"/>
              </a:buClr>
              <a:buSzPts val="1500"/>
              <a:buChar char="●"/>
            </a:pPr>
            <a:r>
              <a:rPr b="1" lang="en-US" sz="1500">
                <a:solidFill>
                  <a:schemeClr val="dk1"/>
                </a:solidFill>
              </a:rPr>
              <a:t>Purpose:</a:t>
            </a:r>
            <a:r>
              <a:rPr lang="en-US" sz="1500">
                <a:solidFill>
                  <a:schemeClr val="dk1"/>
                </a:solidFill>
              </a:rPr>
              <a:t> Recommends specific, data-driven actions to achieve the best outcome.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Common Techniques:</a:t>
            </a:r>
            <a:r>
              <a:rPr lang="en-US" sz="1500">
                <a:solidFill>
                  <a:schemeClr val="dk1"/>
                </a:solidFill>
              </a:rPr>
              <a:t> Simulation, algorithms, and automated decision logic.</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US" sz="1500">
                <a:solidFill>
                  <a:schemeClr val="dk1"/>
                </a:solidFill>
              </a:rPr>
              <a:t>Example:</a:t>
            </a:r>
            <a:r>
              <a:rPr lang="en-US" sz="1500">
                <a:solidFill>
                  <a:schemeClr val="dk1"/>
                </a:solidFill>
              </a:rPr>
              <a:t> Suggesting an optimal price point or automated ad budget allocation to maximize holiday profits.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h36dc2ce36be3d24_0_29"/>
          <p:cNvSpPr txBox="1"/>
          <p:nvPr/>
        </p:nvSpPr>
        <p:spPr>
          <a:xfrm>
            <a:off x="343850" y="286550"/>
            <a:ext cx="11672100" cy="683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Descriptive Analytics</a:t>
            </a:r>
            <a:endParaRPr b="1" sz="2400"/>
          </a:p>
          <a:p>
            <a:pPr indent="0" lvl="0" marL="0" rtl="0" algn="l">
              <a:spcBef>
                <a:spcPts val="0"/>
              </a:spcBef>
              <a:spcAft>
                <a:spcPts val="0"/>
              </a:spcAft>
              <a:buNone/>
            </a:pPr>
            <a:r>
              <a:rPr b="1" lang="en-US" sz="2400"/>
              <a:t>             </a:t>
            </a:r>
            <a:r>
              <a:rPr lang="en-US" sz="2400"/>
              <a:t>  Descriptive analytics explains what has happened in the past. It focuses on analyzing historical data to identify trends, patterns and summaries.Commonly use it for reporting and tracking performance, as it gives an overview of results over time.</a:t>
            </a:r>
            <a:endParaRPr sz="2400"/>
          </a:p>
          <a:p>
            <a:pPr indent="0" lvl="0" marL="0" rtl="0" algn="l">
              <a:spcBef>
                <a:spcPts val="0"/>
              </a:spcBef>
              <a:spcAft>
                <a:spcPts val="0"/>
              </a:spcAft>
              <a:buNone/>
            </a:pPr>
            <a:r>
              <a:rPr b="1" lang="en-US" sz="2400"/>
              <a:t>Applications</a:t>
            </a:r>
            <a:endParaRPr b="1" sz="2400"/>
          </a:p>
          <a:p>
            <a:pPr indent="-381000" lvl="0" marL="457200" rtl="0" algn="l">
              <a:spcBef>
                <a:spcPts val="0"/>
              </a:spcBef>
              <a:spcAft>
                <a:spcPts val="0"/>
              </a:spcAft>
              <a:buSzPts val="2400"/>
              <a:buChar char="●"/>
            </a:pPr>
            <a:r>
              <a:rPr lang="en-US" sz="2400"/>
              <a:t>Data Queries: Retrieving specific values or attributes from datasets.</a:t>
            </a:r>
            <a:endParaRPr sz="2400"/>
          </a:p>
          <a:p>
            <a:pPr indent="-381000" lvl="0" marL="457200" rtl="0" algn="l">
              <a:spcBef>
                <a:spcPts val="0"/>
              </a:spcBef>
              <a:spcAft>
                <a:spcPts val="0"/>
              </a:spcAft>
              <a:buSzPts val="2400"/>
              <a:buChar char="●"/>
            </a:pPr>
            <a:r>
              <a:rPr lang="en-US" sz="2400"/>
              <a:t>Reports: Generating summaries such as sales reports, expense sheets.</a:t>
            </a:r>
            <a:endParaRPr sz="2400"/>
          </a:p>
          <a:p>
            <a:pPr indent="-381000" lvl="0" marL="457200" rtl="0" algn="l">
              <a:spcBef>
                <a:spcPts val="0"/>
              </a:spcBef>
              <a:spcAft>
                <a:spcPts val="0"/>
              </a:spcAft>
              <a:buSzPts val="2400"/>
              <a:buChar char="●"/>
            </a:pPr>
            <a:r>
              <a:rPr lang="en-US" sz="2400"/>
              <a:t>Descriptive Statistics: Using mean, median, mode and variance to interpret data.</a:t>
            </a:r>
            <a:endParaRPr sz="2400"/>
          </a:p>
          <a:p>
            <a:pPr indent="-381000" lvl="0" marL="457200" rtl="0" algn="l">
              <a:spcBef>
                <a:spcPts val="0"/>
              </a:spcBef>
              <a:spcAft>
                <a:spcPts val="0"/>
              </a:spcAft>
              <a:buSzPts val="2400"/>
              <a:buChar char="●"/>
            </a:pPr>
            <a:r>
              <a:rPr lang="en-US" sz="2400"/>
              <a:t>Data Dashboards: Interactive visuals to track KPIs and trends.</a:t>
            </a:r>
            <a:endParaRPr sz="2400"/>
          </a:p>
          <a:p>
            <a:pPr indent="-381000" lvl="0" marL="457200" rtl="0" algn="l">
              <a:spcBef>
                <a:spcPts val="0"/>
              </a:spcBef>
              <a:spcAft>
                <a:spcPts val="0"/>
              </a:spcAft>
              <a:buSzPts val="2400"/>
              <a:buChar char="●"/>
            </a:pPr>
            <a:r>
              <a:rPr lang="en-US" sz="2400"/>
              <a:t>Customer Segmentation: Grouping customers by demographics or purchasing habits.</a:t>
            </a:r>
            <a:endParaRPr sz="2400"/>
          </a:p>
          <a:p>
            <a:pPr indent="0" lvl="0" marL="0" rtl="0" algn="l">
              <a:spcBef>
                <a:spcPts val="0"/>
              </a:spcBef>
              <a:spcAft>
                <a:spcPts val="0"/>
              </a:spcAft>
              <a:buNone/>
            </a:pPr>
            <a:r>
              <a:rPr b="1" lang="en-US" sz="2400"/>
              <a:t>Example: </a:t>
            </a:r>
            <a:r>
              <a:rPr lang="en-US" sz="2400"/>
              <a:t>A monthly sales report that shows which products sold the most.</a:t>
            </a:r>
            <a:endParaRPr sz="2400"/>
          </a:p>
          <a:p>
            <a:pPr indent="0" lvl="0" marL="0" rtl="0" algn="l">
              <a:spcBef>
                <a:spcPts val="0"/>
              </a:spcBef>
              <a:spcAft>
                <a:spcPts val="0"/>
              </a:spcAft>
              <a:buNone/>
            </a:pPr>
            <a:r>
              <a:rPr b="1" lang="en-US" sz="2400"/>
              <a:t>Advantages</a:t>
            </a:r>
            <a:endParaRPr b="1" sz="2400"/>
          </a:p>
          <a:p>
            <a:pPr indent="-381000" lvl="0" marL="457200" rtl="0" algn="l">
              <a:spcBef>
                <a:spcPts val="0"/>
              </a:spcBef>
              <a:spcAft>
                <a:spcPts val="0"/>
              </a:spcAft>
              <a:buSzPts val="2400"/>
              <a:buChar char="●"/>
            </a:pPr>
            <a:r>
              <a:rPr lang="en-US" sz="2400"/>
              <a:t>Easy to implement and interpret.</a:t>
            </a:r>
            <a:endParaRPr sz="2400"/>
          </a:p>
          <a:p>
            <a:pPr indent="-381000" lvl="0" marL="457200" rtl="0" algn="l">
              <a:spcBef>
                <a:spcPts val="0"/>
              </a:spcBef>
              <a:spcAft>
                <a:spcPts val="0"/>
              </a:spcAft>
              <a:buSzPts val="2400"/>
              <a:buChar char="●"/>
            </a:pPr>
            <a:r>
              <a:rPr lang="en-US" sz="2400"/>
              <a:t>Provides a clear historical view for performance tracking.</a:t>
            </a:r>
            <a:endParaRPr sz="2400"/>
          </a:p>
          <a:p>
            <a:pPr indent="0" lvl="0" marL="0" rtl="0" algn="l">
              <a:spcBef>
                <a:spcPts val="0"/>
              </a:spcBef>
              <a:spcAft>
                <a:spcPts val="0"/>
              </a:spcAft>
              <a:buNone/>
            </a:pPr>
            <a:r>
              <a:rPr b="1" lang="en-US" sz="2400"/>
              <a:t>Limitations</a:t>
            </a:r>
            <a:endParaRPr b="1" sz="2400"/>
          </a:p>
          <a:p>
            <a:pPr indent="-381000" lvl="0" marL="457200" rtl="0" algn="l">
              <a:spcBef>
                <a:spcPts val="0"/>
              </a:spcBef>
              <a:spcAft>
                <a:spcPts val="0"/>
              </a:spcAft>
              <a:buSzPts val="2400"/>
              <a:buChar char="●"/>
            </a:pPr>
            <a:r>
              <a:rPr lang="en-US" sz="2400"/>
              <a:t>Limited to past events without explaining causes.</a:t>
            </a:r>
            <a:endParaRPr sz="2400"/>
          </a:p>
          <a:p>
            <a:pPr indent="-381000" lvl="0" marL="457200" rtl="0" algn="l">
              <a:spcBef>
                <a:spcPts val="0"/>
              </a:spcBef>
              <a:spcAft>
                <a:spcPts val="0"/>
              </a:spcAft>
              <a:buSzPts val="2400"/>
              <a:buChar char="●"/>
            </a:pPr>
            <a:r>
              <a:rPr lang="en-US" sz="2400"/>
              <a:t>Cannot predict or recommend future actions.</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h36dc2ce36be3d24_0_32"/>
          <p:cNvSpPr txBox="1"/>
          <p:nvPr/>
        </p:nvSpPr>
        <p:spPr>
          <a:xfrm>
            <a:off x="401175" y="343850"/>
            <a:ext cx="11118000" cy="6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Diagnostic Analytics:</a:t>
            </a:r>
            <a:endParaRPr b="1" sz="2400"/>
          </a:p>
          <a:p>
            <a:pPr indent="0" lvl="0" marL="0" rtl="0" algn="l">
              <a:spcBef>
                <a:spcPts val="0"/>
              </a:spcBef>
              <a:spcAft>
                <a:spcPts val="0"/>
              </a:spcAft>
              <a:buNone/>
            </a:pPr>
            <a:r>
              <a:rPr b="1" lang="en-US" sz="2400"/>
              <a:t>       </a:t>
            </a:r>
            <a:r>
              <a:rPr lang="en-US" sz="2400"/>
              <a:t>Diagnostic analytics answers  “</a:t>
            </a:r>
            <a:r>
              <a:rPr b="1" lang="en-US" sz="2400"/>
              <a:t>Why did it happen?”</a:t>
            </a:r>
            <a:r>
              <a:rPr lang="en-US" sz="2400"/>
              <a:t>. It goes deeper than descriptive analytics by examining data to find patterns, dependencies and causes. Helps organizations uncover the reasons behind success or failure.</a:t>
            </a:r>
            <a:endParaRPr sz="2400"/>
          </a:p>
          <a:p>
            <a:pPr indent="0" lvl="0" marL="0" rtl="0" algn="l">
              <a:spcBef>
                <a:spcPts val="0"/>
              </a:spcBef>
              <a:spcAft>
                <a:spcPts val="0"/>
              </a:spcAft>
              <a:buNone/>
            </a:pPr>
            <a:r>
              <a:rPr b="1" lang="en-US" sz="2400"/>
              <a:t>Applications</a:t>
            </a:r>
            <a:endParaRPr b="1" sz="2400"/>
          </a:p>
          <a:p>
            <a:pPr indent="-381000" lvl="0" marL="457200" rtl="0" algn="l">
              <a:spcBef>
                <a:spcPts val="0"/>
              </a:spcBef>
              <a:spcAft>
                <a:spcPts val="0"/>
              </a:spcAft>
              <a:buSzPts val="2400"/>
              <a:buChar char="●"/>
            </a:pPr>
            <a:r>
              <a:rPr lang="en-US" sz="2400"/>
              <a:t>Data Discovery: To detect unusual behavior.</a:t>
            </a:r>
            <a:endParaRPr sz="2400"/>
          </a:p>
          <a:p>
            <a:pPr indent="-381000" lvl="0" marL="457200" rtl="0" algn="l">
              <a:spcBef>
                <a:spcPts val="0"/>
              </a:spcBef>
              <a:spcAft>
                <a:spcPts val="0"/>
              </a:spcAft>
              <a:buSzPts val="2400"/>
              <a:buChar char="●"/>
            </a:pPr>
            <a:r>
              <a:rPr lang="en-US" sz="2400"/>
              <a:t>Data Mining: Identifying hidden patterns, clusters or associations.</a:t>
            </a:r>
            <a:endParaRPr sz="2400"/>
          </a:p>
          <a:p>
            <a:pPr indent="-381000" lvl="0" marL="457200" rtl="0" algn="l">
              <a:spcBef>
                <a:spcPts val="0"/>
              </a:spcBef>
              <a:spcAft>
                <a:spcPts val="0"/>
              </a:spcAft>
              <a:buSzPts val="2400"/>
              <a:buChar char="●"/>
            </a:pPr>
            <a:r>
              <a:rPr lang="en-US" sz="2400"/>
              <a:t>Correlation Analysis: Studying relationships between variables.</a:t>
            </a:r>
            <a:endParaRPr sz="2400"/>
          </a:p>
          <a:p>
            <a:pPr indent="-381000" lvl="0" marL="457200" rtl="0" algn="l">
              <a:spcBef>
                <a:spcPts val="0"/>
              </a:spcBef>
              <a:spcAft>
                <a:spcPts val="0"/>
              </a:spcAft>
              <a:buSzPts val="2400"/>
              <a:buChar char="●"/>
            </a:pPr>
            <a:r>
              <a:rPr lang="en-US" sz="2400"/>
              <a:t>Problem-Solving: Helps to understand reasons for poor performance.</a:t>
            </a:r>
            <a:endParaRPr sz="2400"/>
          </a:p>
          <a:p>
            <a:pPr indent="-381000" lvl="0" marL="457200" rtl="0" algn="l">
              <a:spcBef>
                <a:spcPts val="0"/>
              </a:spcBef>
              <a:spcAft>
                <a:spcPts val="0"/>
              </a:spcAft>
              <a:buSzPts val="2400"/>
              <a:buChar char="●"/>
            </a:pPr>
            <a:r>
              <a:rPr lang="en-US" sz="2400"/>
              <a:t>Operational Insights: Uncovering bottlenecks or inefficiencies in workflows.</a:t>
            </a:r>
            <a:endParaRPr sz="2400"/>
          </a:p>
          <a:p>
            <a:pPr indent="0" lvl="0" marL="0" rtl="0" algn="l">
              <a:spcBef>
                <a:spcPts val="0"/>
              </a:spcBef>
              <a:spcAft>
                <a:spcPts val="0"/>
              </a:spcAft>
              <a:buNone/>
            </a:pPr>
            <a:r>
              <a:rPr b="1" lang="en-US" sz="2400"/>
              <a:t>Example: </a:t>
            </a:r>
            <a:r>
              <a:rPr lang="en-US" sz="2400"/>
              <a:t>An airline uses diagnostic analytics to analyze why flight delays increased and discovers that weather disruptions and staff shortages were the main causes.</a:t>
            </a:r>
            <a:endParaRPr sz="2400"/>
          </a:p>
          <a:p>
            <a:pPr indent="0" lvl="0" marL="0" rtl="0" algn="l">
              <a:spcBef>
                <a:spcPts val="0"/>
              </a:spcBef>
              <a:spcAft>
                <a:spcPts val="0"/>
              </a:spcAft>
              <a:buNone/>
            </a:pPr>
            <a:r>
              <a:rPr b="1" lang="en-US" sz="2400"/>
              <a:t>Advantages: </a:t>
            </a:r>
            <a:r>
              <a:rPr lang="en-US" sz="2400"/>
              <a:t>Helps identify root causes of problems.</a:t>
            </a:r>
            <a:endParaRPr sz="2400"/>
          </a:p>
          <a:p>
            <a:pPr indent="0" lvl="0" marL="0" rtl="0" algn="l">
              <a:spcBef>
                <a:spcPts val="0"/>
              </a:spcBef>
              <a:spcAft>
                <a:spcPts val="0"/>
              </a:spcAft>
              <a:buNone/>
            </a:pPr>
            <a:r>
              <a:rPr lang="en-US" sz="2400"/>
              <a:t>         Improves decision-making by revealing dependencies.</a:t>
            </a:r>
            <a:endParaRPr sz="2400"/>
          </a:p>
          <a:p>
            <a:pPr indent="0" lvl="0" marL="0" rtl="0" algn="l">
              <a:spcBef>
                <a:spcPts val="0"/>
              </a:spcBef>
              <a:spcAft>
                <a:spcPts val="0"/>
              </a:spcAft>
              <a:buNone/>
            </a:pPr>
            <a:r>
              <a:rPr b="1" lang="en-US" sz="2400"/>
              <a:t>Limitations: </a:t>
            </a:r>
            <a:r>
              <a:rPr lang="en-US" sz="2400"/>
              <a:t>Requires detailed, high-quality historical data.</a:t>
            </a:r>
            <a:endParaRPr sz="2400"/>
          </a:p>
          <a:p>
            <a:pPr indent="0" lvl="0" marL="0" rtl="0" algn="l">
              <a:spcBef>
                <a:spcPts val="0"/>
              </a:spcBef>
              <a:spcAft>
                <a:spcPts val="0"/>
              </a:spcAft>
              <a:buNone/>
            </a:pPr>
            <a:r>
              <a:rPr lang="en-US" sz="2400"/>
              <a:t>         Can be time-consuming and complex to perform.</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h36dc2ce36be3d24_0_35"/>
          <p:cNvSpPr txBox="1"/>
          <p:nvPr/>
        </p:nvSpPr>
        <p:spPr>
          <a:xfrm>
            <a:off x="469938" y="248350"/>
            <a:ext cx="11251800" cy="6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Predictive Analytics: </a:t>
            </a:r>
            <a:r>
              <a:rPr lang="en-US" sz="2400"/>
              <a:t>Focuses on </a:t>
            </a:r>
            <a:r>
              <a:rPr b="1" lang="en-US" sz="2400"/>
              <a:t>what is likely to happen in the future</a:t>
            </a:r>
            <a:r>
              <a:rPr lang="en-US" sz="2400"/>
              <a:t>. It uses past and current data, with statistical models &amp; machine learning, to forecast outcomes such as customer behavior, market demand or risks.</a:t>
            </a:r>
            <a:endParaRPr sz="2400"/>
          </a:p>
          <a:p>
            <a:pPr indent="0" lvl="0" marL="0" rtl="0" algn="l">
              <a:spcBef>
                <a:spcPts val="0"/>
              </a:spcBef>
              <a:spcAft>
                <a:spcPts val="0"/>
              </a:spcAft>
              <a:buNone/>
            </a:pPr>
            <a:r>
              <a:rPr b="1" lang="en-US" sz="2400"/>
              <a:t>Applications</a:t>
            </a:r>
            <a:endParaRPr b="1" sz="2400"/>
          </a:p>
          <a:p>
            <a:pPr indent="-381000" lvl="0" marL="457200" rtl="0" algn="l">
              <a:spcBef>
                <a:spcPts val="0"/>
              </a:spcBef>
              <a:spcAft>
                <a:spcPts val="0"/>
              </a:spcAft>
              <a:buSzPts val="2400"/>
              <a:buChar char="●"/>
            </a:pPr>
            <a:r>
              <a:rPr lang="en-US" sz="2400"/>
              <a:t>Linear Regression: Predicting outcomes like sales or revenue growth.</a:t>
            </a:r>
            <a:endParaRPr sz="2400"/>
          </a:p>
          <a:p>
            <a:pPr indent="-381000" lvl="0" marL="457200" rtl="0" algn="l">
              <a:spcBef>
                <a:spcPts val="0"/>
              </a:spcBef>
              <a:spcAft>
                <a:spcPts val="0"/>
              </a:spcAft>
              <a:buSzPts val="2400"/>
              <a:buChar char="●"/>
            </a:pPr>
            <a:r>
              <a:rPr lang="en-US" sz="2400"/>
              <a:t>Time Series Forecasting: Estimating future trends in demand or stock prices.</a:t>
            </a:r>
            <a:endParaRPr sz="2400"/>
          </a:p>
          <a:p>
            <a:pPr indent="-381000" lvl="0" marL="457200" rtl="0" algn="l">
              <a:spcBef>
                <a:spcPts val="0"/>
              </a:spcBef>
              <a:spcAft>
                <a:spcPts val="0"/>
              </a:spcAft>
              <a:buSzPts val="2400"/>
              <a:buChar char="●"/>
            </a:pPr>
            <a:r>
              <a:rPr lang="en-US" sz="2400"/>
              <a:t>Data Mining: Uncovering patterns that indicate future behavior.</a:t>
            </a:r>
            <a:endParaRPr sz="2400"/>
          </a:p>
          <a:p>
            <a:pPr indent="-381000" lvl="0" marL="457200" rtl="0" algn="l">
              <a:spcBef>
                <a:spcPts val="0"/>
              </a:spcBef>
              <a:spcAft>
                <a:spcPts val="0"/>
              </a:spcAft>
              <a:buSzPts val="2400"/>
              <a:buChar char="●"/>
            </a:pPr>
            <a:r>
              <a:rPr lang="en-US" sz="2400"/>
              <a:t>Predictive Modeling: Creating models to predict customer fraud or credit risk.</a:t>
            </a:r>
            <a:endParaRPr sz="2400"/>
          </a:p>
          <a:p>
            <a:pPr indent="-381000" lvl="0" marL="457200" rtl="0" algn="l">
              <a:spcBef>
                <a:spcPts val="0"/>
              </a:spcBef>
              <a:spcAft>
                <a:spcPts val="0"/>
              </a:spcAft>
              <a:buSzPts val="2400"/>
              <a:buChar char="●"/>
            </a:pPr>
            <a:r>
              <a:rPr lang="en-US" sz="2400"/>
              <a:t>Decision Analysis: Evaluating scenarios to determine the best strategy.</a:t>
            </a:r>
            <a:endParaRPr sz="2400"/>
          </a:p>
          <a:p>
            <a:pPr indent="-381000" lvl="0" marL="457200" rtl="0" algn="l">
              <a:spcBef>
                <a:spcPts val="0"/>
              </a:spcBef>
              <a:spcAft>
                <a:spcPts val="0"/>
              </a:spcAft>
              <a:buSzPts val="2400"/>
              <a:buChar char="●"/>
            </a:pPr>
            <a:r>
              <a:rPr lang="en-US" sz="2400"/>
              <a:t>Transaction Profiling: Detecting suspicious or unusual financial transactions.</a:t>
            </a:r>
            <a:endParaRPr sz="2400"/>
          </a:p>
          <a:p>
            <a:pPr indent="0" lvl="0" marL="0" rtl="0" algn="l">
              <a:spcBef>
                <a:spcPts val="0"/>
              </a:spcBef>
              <a:spcAft>
                <a:spcPts val="0"/>
              </a:spcAft>
              <a:buNone/>
            </a:pPr>
            <a:r>
              <a:rPr b="1" lang="en-US" sz="2400"/>
              <a:t>Example: </a:t>
            </a:r>
            <a:r>
              <a:rPr lang="en-US" sz="2400"/>
              <a:t>A bank estimates the likelihood of customers defaulting on loans,</a:t>
            </a:r>
            <a:endParaRPr sz="2400"/>
          </a:p>
          <a:p>
            <a:pPr indent="0" lvl="0" marL="0" rtl="0" algn="l">
              <a:spcBef>
                <a:spcPts val="0"/>
              </a:spcBef>
              <a:spcAft>
                <a:spcPts val="0"/>
              </a:spcAft>
              <a:buNone/>
            </a:pPr>
            <a:r>
              <a:rPr b="1" lang="en-US" sz="2400"/>
              <a:t>Advantages</a:t>
            </a:r>
            <a:endParaRPr b="1" sz="2400"/>
          </a:p>
          <a:p>
            <a:pPr indent="-381000" lvl="0" marL="457200" rtl="0" algn="l">
              <a:spcBef>
                <a:spcPts val="0"/>
              </a:spcBef>
              <a:spcAft>
                <a:spcPts val="0"/>
              </a:spcAft>
              <a:buSzPts val="2400"/>
              <a:buChar char="●"/>
            </a:pPr>
            <a:r>
              <a:rPr lang="en-US" sz="2400"/>
              <a:t>Anticipates future risks and opportunities.</a:t>
            </a:r>
            <a:endParaRPr sz="2400"/>
          </a:p>
          <a:p>
            <a:pPr indent="-381000" lvl="0" marL="457200" rtl="0" algn="l">
              <a:spcBef>
                <a:spcPts val="0"/>
              </a:spcBef>
              <a:spcAft>
                <a:spcPts val="0"/>
              </a:spcAft>
              <a:buSzPts val="2400"/>
              <a:buChar char="●"/>
            </a:pPr>
            <a:r>
              <a:rPr lang="en-US" sz="2400"/>
              <a:t>Improves planning and resource allocation.</a:t>
            </a:r>
            <a:endParaRPr sz="2400"/>
          </a:p>
          <a:p>
            <a:pPr indent="0" lvl="0" marL="0" rtl="0" algn="l">
              <a:spcBef>
                <a:spcPts val="0"/>
              </a:spcBef>
              <a:spcAft>
                <a:spcPts val="0"/>
              </a:spcAft>
              <a:buNone/>
            </a:pPr>
            <a:r>
              <a:rPr b="1" lang="en-US" sz="2400"/>
              <a:t>Limitations</a:t>
            </a:r>
            <a:endParaRPr b="1" sz="2400"/>
          </a:p>
          <a:p>
            <a:pPr indent="-381000" lvl="0" marL="457200" rtl="0" algn="l">
              <a:spcBef>
                <a:spcPts val="0"/>
              </a:spcBef>
              <a:spcAft>
                <a:spcPts val="0"/>
              </a:spcAft>
              <a:buSzPts val="2400"/>
              <a:buChar char="●"/>
            </a:pPr>
            <a:r>
              <a:rPr lang="en-US" sz="2400"/>
              <a:t>Accuracy depends heavily on data quality.</a:t>
            </a:r>
            <a:endParaRPr sz="2400"/>
          </a:p>
          <a:p>
            <a:pPr indent="-381000" lvl="0" marL="457200" rtl="0" algn="l">
              <a:spcBef>
                <a:spcPts val="0"/>
              </a:spcBef>
              <a:spcAft>
                <a:spcPts val="0"/>
              </a:spcAft>
              <a:buSzPts val="2400"/>
              <a:buChar char="●"/>
            </a:pPr>
            <a:r>
              <a:rPr lang="en-US" sz="2400"/>
              <a:t>Models may be complex and require advanced expertise.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h36dc2ce36be3d24_0_47"/>
          <p:cNvSpPr txBox="1"/>
          <p:nvPr/>
        </p:nvSpPr>
        <p:spPr>
          <a:xfrm>
            <a:off x="382025" y="343850"/>
            <a:ext cx="11309100" cy="683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Prescriptive Analytics: </a:t>
            </a:r>
            <a:r>
              <a:rPr lang="en-US" sz="2400"/>
              <a:t>Focuses on what action should be taken. Not just predict outcomes but also recommends the best steps to achieve goals or reduce risks. </a:t>
            </a:r>
            <a:endParaRPr sz="2400"/>
          </a:p>
          <a:p>
            <a:pPr indent="0" lvl="0" marL="0" rtl="0" algn="l">
              <a:spcBef>
                <a:spcPts val="0"/>
              </a:spcBef>
              <a:spcAft>
                <a:spcPts val="0"/>
              </a:spcAft>
              <a:buNone/>
            </a:pPr>
            <a:r>
              <a:rPr b="1" lang="en-US" sz="2400"/>
              <a:t>Applications:</a:t>
            </a:r>
            <a:endParaRPr b="1" sz="2400"/>
          </a:p>
          <a:p>
            <a:pPr indent="-381000" lvl="0" marL="457200" rtl="0" algn="l">
              <a:spcBef>
                <a:spcPts val="0"/>
              </a:spcBef>
              <a:spcAft>
                <a:spcPts val="0"/>
              </a:spcAft>
              <a:buSzPts val="2400"/>
              <a:buChar char="●"/>
            </a:pPr>
            <a:r>
              <a:rPr lang="en-US" sz="2400"/>
              <a:t>Decision Support: Helping leaders choose the most effective action.</a:t>
            </a:r>
            <a:endParaRPr sz="2400"/>
          </a:p>
          <a:p>
            <a:pPr indent="-381000" lvl="0" marL="457200" rtl="0" algn="l">
              <a:spcBef>
                <a:spcPts val="0"/>
              </a:spcBef>
              <a:spcAft>
                <a:spcPts val="0"/>
              </a:spcAft>
              <a:buSzPts val="2400"/>
              <a:buChar char="●"/>
            </a:pPr>
            <a:r>
              <a:rPr lang="en-US" sz="2400"/>
              <a:t>Healthcare Strategic Planning: Optimizing resources using operational, demographic and economic data.</a:t>
            </a:r>
            <a:endParaRPr sz="2400"/>
          </a:p>
          <a:p>
            <a:pPr indent="-381000" lvl="0" marL="457200" rtl="0" algn="l">
              <a:spcBef>
                <a:spcPts val="0"/>
              </a:spcBef>
              <a:spcAft>
                <a:spcPts val="0"/>
              </a:spcAft>
              <a:buSzPts val="2400"/>
              <a:buChar char="●"/>
            </a:pPr>
            <a:r>
              <a:rPr lang="en-US" sz="2400"/>
              <a:t>Risk Mitigation: Suggesting strategies to minimize exposure to risks.</a:t>
            </a:r>
            <a:endParaRPr sz="2400"/>
          </a:p>
          <a:p>
            <a:pPr indent="-381000" lvl="0" marL="457200" rtl="0" algn="l">
              <a:spcBef>
                <a:spcPts val="0"/>
              </a:spcBef>
              <a:spcAft>
                <a:spcPts val="0"/>
              </a:spcAft>
              <a:buSzPts val="2400"/>
              <a:buChar char="●"/>
            </a:pPr>
            <a:r>
              <a:rPr lang="en-US" sz="2400"/>
              <a:t>Opportunity Optimization: Identifying actions to maximize benefits from upcoming market trends.</a:t>
            </a:r>
            <a:endParaRPr sz="2400"/>
          </a:p>
          <a:p>
            <a:pPr indent="-381000" lvl="0" marL="457200" rtl="0" algn="l">
              <a:spcBef>
                <a:spcPts val="0"/>
              </a:spcBef>
              <a:spcAft>
                <a:spcPts val="0"/>
              </a:spcAft>
              <a:buSzPts val="2400"/>
              <a:buChar char="●"/>
            </a:pPr>
            <a:r>
              <a:rPr lang="en-US" sz="2400"/>
              <a:t>What-if Analysis: Simulating different decision outcomes.</a:t>
            </a:r>
            <a:endParaRPr sz="2400"/>
          </a:p>
          <a:p>
            <a:pPr indent="0" lvl="0" marL="0" rtl="0" algn="l">
              <a:spcBef>
                <a:spcPts val="0"/>
              </a:spcBef>
              <a:spcAft>
                <a:spcPts val="0"/>
              </a:spcAft>
              <a:buNone/>
            </a:pPr>
            <a:r>
              <a:rPr b="1" lang="en-US" sz="2400"/>
              <a:t>Example: T</a:t>
            </a:r>
            <a:r>
              <a:rPr lang="en-US" sz="2400"/>
              <a:t>o recommend the most efficient delivery routes, reducing fuel costs and improving on-time delivery.</a:t>
            </a:r>
            <a:endParaRPr sz="2400"/>
          </a:p>
          <a:p>
            <a:pPr indent="0" lvl="0" marL="0" rtl="0" algn="l">
              <a:spcBef>
                <a:spcPts val="0"/>
              </a:spcBef>
              <a:spcAft>
                <a:spcPts val="0"/>
              </a:spcAft>
              <a:buNone/>
            </a:pPr>
            <a:r>
              <a:rPr b="1" lang="en-US" sz="2400"/>
              <a:t>Advantages</a:t>
            </a:r>
            <a:endParaRPr b="1" sz="2400"/>
          </a:p>
          <a:p>
            <a:pPr indent="-381000" lvl="0" marL="457200" rtl="0" algn="l">
              <a:spcBef>
                <a:spcPts val="0"/>
              </a:spcBef>
              <a:spcAft>
                <a:spcPts val="0"/>
              </a:spcAft>
              <a:buSzPts val="2400"/>
              <a:buChar char="●"/>
            </a:pPr>
            <a:r>
              <a:rPr lang="en-US" sz="2400"/>
              <a:t>Provides actionable recommendations along with predictions.</a:t>
            </a:r>
            <a:endParaRPr sz="2400"/>
          </a:p>
          <a:p>
            <a:pPr indent="-381000" lvl="0" marL="457200" rtl="0" algn="l">
              <a:spcBef>
                <a:spcPts val="0"/>
              </a:spcBef>
              <a:spcAft>
                <a:spcPts val="0"/>
              </a:spcAft>
              <a:buSzPts val="2400"/>
              <a:buChar char="●"/>
            </a:pPr>
            <a:r>
              <a:rPr lang="en-US" sz="2400"/>
              <a:t>Helps optimize decisions for maximum benefits.</a:t>
            </a:r>
            <a:endParaRPr sz="2400"/>
          </a:p>
          <a:p>
            <a:pPr indent="0" lvl="0" marL="0" rtl="0" algn="l">
              <a:spcBef>
                <a:spcPts val="0"/>
              </a:spcBef>
              <a:spcAft>
                <a:spcPts val="0"/>
              </a:spcAft>
              <a:buNone/>
            </a:pPr>
            <a:r>
              <a:rPr b="1" lang="en-US" sz="2400"/>
              <a:t>Limitations</a:t>
            </a:r>
            <a:endParaRPr b="1" sz="2400"/>
          </a:p>
          <a:p>
            <a:pPr indent="-381000" lvl="0" marL="457200" rtl="0" algn="l">
              <a:spcBef>
                <a:spcPts val="0"/>
              </a:spcBef>
              <a:spcAft>
                <a:spcPts val="0"/>
              </a:spcAft>
              <a:buSzPts val="2400"/>
              <a:buChar char="●"/>
            </a:pPr>
            <a:r>
              <a:rPr lang="en-US" sz="2400"/>
              <a:t>Requires advanced technology and expertise.</a:t>
            </a:r>
            <a:endParaRPr sz="2400"/>
          </a:p>
          <a:p>
            <a:pPr indent="-381000" lvl="0" marL="457200" rtl="0" algn="l">
              <a:spcBef>
                <a:spcPts val="0"/>
              </a:spcBef>
              <a:spcAft>
                <a:spcPts val="0"/>
              </a:spcAft>
              <a:buSzPts val="2400"/>
              <a:buChar char="●"/>
            </a:pPr>
            <a:r>
              <a:rPr lang="en-US" sz="2400"/>
              <a:t>Implementation can be costly and resource-intensive.</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nvSpPr>
        <p:spPr>
          <a:xfrm>
            <a:off x="502920" y="228600"/>
            <a:ext cx="11155800" cy="7111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100"/>
              <a:buNone/>
            </a:pPr>
            <a:r>
              <a:rPr b="1" lang="en-US" sz="2400"/>
              <a:t>What is Regression Analysis?</a:t>
            </a:r>
            <a:endParaRPr b="1" sz="2400"/>
          </a:p>
          <a:p>
            <a:pPr indent="0" lvl="0" marL="0" rtl="0" algn="l">
              <a:spcBef>
                <a:spcPts val="0"/>
              </a:spcBef>
              <a:spcAft>
                <a:spcPts val="0"/>
              </a:spcAft>
              <a:buSzPts val="1100"/>
              <a:buNone/>
            </a:pPr>
            <a:r>
              <a:rPr lang="en-US" sz="2400"/>
              <a:t>Is a statistical method used to understand the relationship between input features and a target value that varies across a continuous numeric range. It helps measure how changes in different factors affect the outcome, allowing better predictions, planning and decision-making across various fields</a:t>
            </a:r>
            <a:endParaRPr sz="2400"/>
          </a:p>
          <a:p>
            <a:pPr indent="0" lvl="0" marL="0" rtl="0" algn="l">
              <a:spcBef>
                <a:spcPts val="0"/>
              </a:spcBef>
              <a:spcAft>
                <a:spcPts val="0"/>
              </a:spcAft>
              <a:buSzPts val="1100"/>
              <a:buNone/>
            </a:pPr>
            <a:r>
              <a:rPr b="1" lang="en-US" sz="2400"/>
              <a:t>Need for Regression Analysis</a:t>
            </a:r>
            <a:endParaRPr b="1" sz="2400"/>
          </a:p>
          <a:p>
            <a:pPr indent="0" lvl="0" marL="0" rtl="0" algn="l">
              <a:spcBef>
                <a:spcPts val="0"/>
              </a:spcBef>
              <a:spcAft>
                <a:spcPts val="0"/>
              </a:spcAft>
              <a:buSzPts val="1100"/>
              <a:buNone/>
            </a:pPr>
            <a:r>
              <a:rPr lang="en-US" sz="2400"/>
              <a:t>Some common reasons why regression analysis is essential are:</a:t>
            </a:r>
            <a:endParaRPr sz="2400"/>
          </a:p>
          <a:p>
            <a:pPr indent="-381000" lvl="0" marL="457200" rtl="0" algn="l">
              <a:spcBef>
                <a:spcPts val="0"/>
              </a:spcBef>
              <a:spcAft>
                <a:spcPts val="0"/>
              </a:spcAft>
              <a:buSzPts val="2400"/>
              <a:buChar char="●"/>
            </a:pPr>
            <a:r>
              <a:rPr lang="en-US" sz="2400"/>
              <a:t>Identifies the strength and direction of relationships between variables.</a:t>
            </a:r>
            <a:endParaRPr sz="2400"/>
          </a:p>
          <a:p>
            <a:pPr indent="-381000" lvl="0" marL="457200" rtl="0" algn="l">
              <a:spcBef>
                <a:spcPts val="0"/>
              </a:spcBef>
              <a:spcAft>
                <a:spcPts val="0"/>
              </a:spcAft>
              <a:buSzPts val="2400"/>
              <a:buChar char="●"/>
            </a:pPr>
            <a:r>
              <a:rPr lang="en-US" sz="2400"/>
              <a:t>Predicts continuous outcomes using historical or current data.</a:t>
            </a:r>
            <a:endParaRPr sz="2400"/>
          </a:p>
          <a:p>
            <a:pPr indent="-381000" lvl="0" marL="457200" rtl="0" algn="l">
              <a:spcBef>
                <a:spcPts val="0"/>
              </a:spcBef>
              <a:spcAft>
                <a:spcPts val="0"/>
              </a:spcAft>
              <a:buSzPts val="2400"/>
              <a:buChar char="●"/>
            </a:pPr>
            <a:r>
              <a:rPr lang="en-US" sz="2400"/>
              <a:t>Helps estimate the impact of multiple factors simultaneously.</a:t>
            </a:r>
            <a:endParaRPr sz="2400"/>
          </a:p>
          <a:p>
            <a:pPr indent="-381000" lvl="0" marL="457200" rtl="0" algn="l">
              <a:spcBef>
                <a:spcPts val="0"/>
              </a:spcBef>
              <a:spcAft>
                <a:spcPts val="0"/>
              </a:spcAft>
              <a:buSzPts val="2400"/>
              <a:buChar char="●"/>
            </a:pPr>
            <a:r>
              <a:rPr lang="en-US" sz="2400"/>
              <a:t>Enables trend forecasting in business, finance and manufacturing.</a:t>
            </a:r>
            <a:endParaRPr sz="2400"/>
          </a:p>
          <a:p>
            <a:pPr indent="-381000" lvl="0" marL="457200" rtl="0" algn="l">
              <a:spcBef>
                <a:spcPts val="0"/>
              </a:spcBef>
              <a:spcAft>
                <a:spcPts val="0"/>
              </a:spcAft>
              <a:buSzPts val="2400"/>
              <a:buChar char="●"/>
            </a:pPr>
            <a:r>
              <a:rPr lang="en-US" sz="2400"/>
              <a:t>Reduces uncertainty through mathematically grounded predictions.</a:t>
            </a:r>
            <a:endParaRPr sz="2400"/>
          </a:p>
          <a:p>
            <a:pPr indent="0" lvl="0" marL="0" rtl="0" algn="l">
              <a:spcBef>
                <a:spcPts val="0"/>
              </a:spcBef>
              <a:spcAft>
                <a:spcPts val="0"/>
              </a:spcAft>
              <a:buSzPts val="1100"/>
              <a:buNone/>
            </a:pPr>
            <a:r>
              <a:rPr b="1" lang="en-US" sz="2400"/>
              <a:t>Types of Regression</a:t>
            </a:r>
            <a:endParaRPr b="1" sz="2400"/>
          </a:p>
          <a:p>
            <a:pPr indent="0" lvl="0" marL="0" rtl="0" algn="l">
              <a:spcBef>
                <a:spcPts val="0"/>
              </a:spcBef>
              <a:spcAft>
                <a:spcPts val="0"/>
              </a:spcAft>
              <a:buSzPts val="1100"/>
              <a:buNone/>
            </a:pPr>
            <a:r>
              <a:rPr lang="en-US" sz="2400"/>
              <a:t>Some commonly used regression techniques are:</a:t>
            </a:r>
            <a:endParaRPr sz="2400"/>
          </a:p>
          <a:p>
            <a:pPr indent="-381000" lvl="0" marL="457200" rtl="0" algn="l">
              <a:spcBef>
                <a:spcPts val="0"/>
              </a:spcBef>
              <a:spcAft>
                <a:spcPts val="0"/>
              </a:spcAft>
              <a:buSzPts val="2400"/>
              <a:buChar char="●"/>
            </a:pPr>
            <a:r>
              <a:rPr lang="en-US" sz="2400"/>
              <a:t>Linear Regression: Straight-line relationships between predictors and outputs.</a:t>
            </a:r>
            <a:endParaRPr sz="2400"/>
          </a:p>
          <a:p>
            <a:pPr indent="-381000" lvl="0" marL="457200" rtl="0" algn="l">
              <a:spcBef>
                <a:spcPts val="0"/>
              </a:spcBef>
              <a:spcAft>
                <a:spcPts val="0"/>
              </a:spcAft>
              <a:buSzPts val="2400"/>
              <a:buChar char="●"/>
            </a:pPr>
            <a:r>
              <a:rPr lang="en-US" sz="2400"/>
              <a:t>Multiple Regression: Many input features to predict one continuous outcome.</a:t>
            </a:r>
            <a:endParaRPr sz="2400"/>
          </a:p>
          <a:p>
            <a:pPr indent="-381000" lvl="0" marL="457200" rtl="0" algn="l">
              <a:spcBef>
                <a:spcPts val="0"/>
              </a:spcBef>
              <a:spcAft>
                <a:spcPts val="0"/>
              </a:spcAft>
              <a:buSzPts val="2400"/>
              <a:buChar char="●"/>
            </a:pPr>
            <a:r>
              <a:rPr lang="en-US" sz="2400"/>
              <a:t>Polynomial Regression: Captures non-linear patterns by transforming input variables.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nvSpPr>
        <p:spPr>
          <a:xfrm>
            <a:off x="112425" y="163525"/>
            <a:ext cx="11814900" cy="673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3400">
                <a:solidFill>
                  <a:schemeClr val="dk1"/>
                </a:solidFill>
                <a:latin typeface="Calibri"/>
                <a:ea typeface="Calibri"/>
                <a:cs typeface="Calibri"/>
                <a:sym typeface="Calibri"/>
              </a:rPr>
              <a:t>Simple Linear Regression</a:t>
            </a:r>
            <a:endParaRPr spc="12" sz="250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Linear Regression forms a straight line relationship between independent variables and the target. It is simple, interpretable and used in analytics and forecasting tasks.</a:t>
            </a:r>
            <a:endParaRPr spc="12" sz="2350">
              <a:solidFill>
                <a:srgbClr val="273239"/>
              </a:solidFill>
              <a:highlight>
                <a:srgbClr val="FFFFFF"/>
              </a:highlight>
              <a:latin typeface="Times New Roman"/>
              <a:ea typeface="Times New Roman"/>
              <a:cs typeface="Times New Roman"/>
              <a:sym typeface="Times New Roman"/>
            </a:endParaRPr>
          </a:p>
          <a:p>
            <a:pPr indent="0" lvl="0" marL="0" rtl="0" algn="l">
              <a:lnSpc>
                <a:spcPct val="120000"/>
              </a:lnSpc>
              <a:spcBef>
                <a:spcPts val="800"/>
              </a:spcBef>
              <a:spcAft>
                <a:spcPts val="0"/>
              </a:spcAft>
              <a:buClr>
                <a:schemeClr val="dk1"/>
              </a:buClr>
              <a:buSzPts val="1100"/>
              <a:buFont typeface="Arial"/>
              <a:buNone/>
            </a:pPr>
            <a:r>
              <a:rPr b="1" lang="en-US" spc="10" sz="2350">
                <a:solidFill>
                  <a:srgbClr val="273239"/>
                </a:solidFill>
                <a:highlight>
                  <a:srgbClr val="FFFFFF"/>
                </a:highlight>
                <a:latin typeface="Times New Roman"/>
                <a:ea typeface="Times New Roman"/>
                <a:cs typeface="Times New Roman"/>
                <a:sym typeface="Times New Roman"/>
              </a:rPr>
              <a:t>Formula:            </a:t>
            </a:r>
            <a:r>
              <a:rPr lang="en-US" spc="12" sz="2350">
                <a:solidFill>
                  <a:srgbClr val="273239"/>
                </a:solidFill>
                <a:highlight>
                  <a:srgbClr val="FFFFFF"/>
                </a:highlight>
                <a:latin typeface="Times New Roman"/>
                <a:ea typeface="Times New Roman"/>
                <a:cs typeface="Times New Roman"/>
                <a:sym typeface="Times New Roman"/>
              </a:rPr>
              <a:t>Y=b0+b1X+ϵ          </a:t>
            </a:r>
            <a:r>
              <a:rPr lang="en-US" spc="12" sz="2350">
                <a:solidFill>
                  <a:srgbClr val="273239"/>
                </a:solidFill>
                <a:highlight>
                  <a:srgbClr val="FFFFFF"/>
                </a:highlight>
                <a:latin typeface="Times New Roman"/>
                <a:ea typeface="Times New Roman"/>
                <a:cs typeface="Times New Roman"/>
                <a:sym typeface="Times New Roman"/>
              </a:rPr>
              <a:t>Where:</a:t>
            </a:r>
            <a:endParaRPr spc="12" sz="23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80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Y is the predicted value or dependent variable</a:t>
            </a:r>
            <a:endParaRPr spc="12" sz="23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80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b</a:t>
            </a:r>
            <a:r>
              <a:rPr lang="en-US" spc="12" sz="2350">
                <a:solidFill>
                  <a:srgbClr val="273239"/>
                </a:solidFill>
                <a:highlight>
                  <a:srgbClr val="FFFFFF"/>
                </a:highlight>
                <a:latin typeface="Times New Roman"/>
                <a:ea typeface="Times New Roman"/>
                <a:cs typeface="Times New Roman"/>
                <a:sym typeface="Times New Roman"/>
              </a:rPr>
              <a:t>0         </a:t>
            </a:r>
            <a:r>
              <a:rPr lang="en-US" spc="12" sz="2350">
                <a:solidFill>
                  <a:srgbClr val="273239"/>
                </a:solidFill>
                <a:highlight>
                  <a:srgbClr val="FFFFFF"/>
                </a:highlight>
                <a:latin typeface="Times New Roman"/>
                <a:ea typeface="Times New Roman"/>
                <a:cs typeface="Times New Roman"/>
                <a:sym typeface="Times New Roman"/>
              </a:rPr>
              <a:t>is the intercept, constant value</a:t>
            </a:r>
            <a:endParaRPr spc="12" sz="23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80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b1           is the coefficient affecting, slope of the line</a:t>
            </a:r>
            <a:endParaRPr spc="12" sz="23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80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X input variable, </a:t>
            </a:r>
            <a:r>
              <a:rPr lang="en-US" spc="12" sz="2350">
                <a:solidFill>
                  <a:srgbClr val="273239"/>
                </a:solidFill>
                <a:highlight>
                  <a:srgbClr val="FFFFFF"/>
                </a:highlight>
                <a:latin typeface="Times New Roman"/>
                <a:ea typeface="Times New Roman"/>
                <a:cs typeface="Times New Roman"/>
                <a:sym typeface="Times New Roman"/>
              </a:rPr>
              <a:t>independent</a:t>
            </a:r>
            <a:r>
              <a:rPr lang="en-US" spc="12" sz="2350">
                <a:solidFill>
                  <a:srgbClr val="273239"/>
                </a:solidFill>
                <a:highlight>
                  <a:srgbClr val="FFFFFF"/>
                </a:highlight>
                <a:latin typeface="Times New Roman"/>
                <a:ea typeface="Times New Roman"/>
                <a:cs typeface="Times New Roman"/>
                <a:sym typeface="Times New Roman"/>
              </a:rPr>
              <a:t> </a:t>
            </a:r>
            <a:r>
              <a:rPr lang="en-US" spc="12" sz="2350">
                <a:solidFill>
                  <a:srgbClr val="273239"/>
                </a:solidFill>
                <a:highlight>
                  <a:srgbClr val="FFFFFF"/>
                </a:highlight>
                <a:latin typeface="Times New Roman"/>
                <a:ea typeface="Times New Roman"/>
                <a:cs typeface="Times New Roman"/>
                <a:sym typeface="Times New Roman"/>
              </a:rPr>
              <a:t>variable,      </a:t>
            </a:r>
            <a:r>
              <a:rPr lang="en-US" spc="12" sz="2350">
                <a:solidFill>
                  <a:srgbClr val="273239"/>
                </a:solidFill>
                <a:highlight>
                  <a:srgbClr val="FFFFFF"/>
                </a:highlight>
                <a:latin typeface="Times New Roman"/>
                <a:ea typeface="Times New Roman"/>
                <a:cs typeface="Times New Roman"/>
                <a:sym typeface="Times New Roman"/>
              </a:rPr>
              <a:t>ϵ is the error term.</a:t>
            </a:r>
            <a:endParaRPr spc="12" sz="2350">
              <a:solidFill>
                <a:srgbClr val="273239"/>
              </a:solidFill>
              <a:highlight>
                <a:srgbClr val="FFFFFF"/>
              </a:highlight>
              <a:latin typeface="Times New Roman"/>
              <a:ea typeface="Times New Roman"/>
              <a:cs typeface="Times New Roman"/>
              <a:sym typeface="Times New Roman"/>
            </a:endParaRPr>
          </a:p>
          <a:p>
            <a:pPr indent="0" lvl="0" marL="0" marR="0" rtl="0" algn="l">
              <a:lnSpc>
                <a:spcPct val="120000"/>
              </a:lnSpc>
              <a:spcBef>
                <a:spcPts val="800"/>
              </a:spcBef>
              <a:spcAft>
                <a:spcPts val="0"/>
              </a:spcAft>
              <a:buNone/>
            </a:pPr>
            <a:r>
              <a:rPr lang="en-US" spc="12" sz="2350">
                <a:solidFill>
                  <a:srgbClr val="273239"/>
                </a:solidFill>
                <a:highlight>
                  <a:srgbClr val="FFFFFF"/>
                </a:highlight>
                <a:latin typeface="Times New Roman"/>
                <a:ea typeface="Times New Roman"/>
                <a:cs typeface="Times New Roman"/>
                <a:sym typeface="Times New Roman"/>
              </a:rPr>
              <a:t>Example:  </a:t>
            </a:r>
            <a:r>
              <a:rPr lang="en-US" sz="2600">
                <a:solidFill>
                  <a:schemeClr val="dk1"/>
                </a:solidFill>
                <a:latin typeface="Times New Roman"/>
                <a:ea typeface="Times New Roman"/>
                <a:cs typeface="Times New Roman"/>
                <a:sym typeface="Times New Roman"/>
              </a:rPr>
              <a:t>Suppose:  Marks = 30 + 7 × Study Hours</a:t>
            </a:r>
            <a:endParaRPr sz="2000">
              <a:solidFill>
                <a:schemeClr val="dk1"/>
              </a:solidFill>
              <a:latin typeface="Times New Roman"/>
              <a:ea typeface="Times New Roman"/>
              <a:cs typeface="Times New Roman"/>
              <a:sym typeface="Times New Roman"/>
            </a:endParaRPr>
          </a:p>
          <a:p>
            <a:pPr indent="0" lvl="0" marL="0" rtl="0" algn="l">
              <a:spcBef>
                <a:spcPts val="1000"/>
              </a:spcBef>
              <a:spcAft>
                <a:spcPts val="0"/>
              </a:spcAft>
              <a:buClr>
                <a:schemeClr val="dk1"/>
              </a:buClr>
              <a:buFont typeface="Arial"/>
              <a:buNone/>
            </a:pPr>
            <a:r>
              <a:rPr lang="en-US" sz="2600">
                <a:solidFill>
                  <a:schemeClr val="dk1"/>
                </a:solidFill>
                <a:latin typeface="Times New Roman"/>
                <a:ea typeface="Times New Roman"/>
                <a:cs typeface="Times New Roman"/>
                <a:sym typeface="Times New Roman"/>
              </a:rPr>
              <a:t>Intercept = 30: predicted marks when StudyHours = 0.</a:t>
            </a:r>
            <a:endParaRPr sz="2000">
              <a:solidFill>
                <a:schemeClr val="dk1"/>
              </a:solidFill>
              <a:latin typeface="Times New Roman"/>
              <a:ea typeface="Times New Roman"/>
              <a:cs typeface="Times New Roman"/>
              <a:sym typeface="Times New Roman"/>
            </a:endParaRPr>
          </a:p>
          <a:p>
            <a:pPr indent="0" lvl="0" marL="0" rtl="0" algn="l">
              <a:spcBef>
                <a:spcPts val="1000"/>
              </a:spcBef>
              <a:spcAft>
                <a:spcPts val="0"/>
              </a:spcAft>
              <a:buClr>
                <a:schemeClr val="dk1"/>
              </a:buClr>
              <a:buFont typeface="Arial"/>
              <a:buNone/>
            </a:pPr>
            <a:r>
              <a:rPr lang="en-US" sz="2600">
                <a:solidFill>
                  <a:schemeClr val="dk1"/>
                </a:solidFill>
                <a:latin typeface="Times New Roman"/>
                <a:ea typeface="Times New Roman"/>
                <a:cs typeface="Times New Roman"/>
                <a:sym typeface="Times New Roman"/>
              </a:rPr>
              <a:t>Slope = 7: predicted marks increase by 7 marks for one additional hour of study, within this model.</a:t>
            </a:r>
            <a:endParaRPr sz="2000">
              <a:solidFill>
                <a:schemeClr val="dk1"/>
              </a:solidFill>
              <a:latin typeface="Times New Roman"/>
              <a:ea typeface="Times New Roman"/>
              <a:cs typeface="Times New Roman"/>
              <a:sym typeface="Times New Roman"/>
            </a:endParaRPr>
          </a:p>
          <a:p>
            <a:pPr indent="0" lvl="0" marL="0" rtl="0" algn="l">
              <a:spcBef>
                <a:spcPts val="1000"/>
              </a:spcBef>
              <a:spcAft>
                <a:spcPts val="0"/>
              </a:spcAft>
              <a:buClr>
                <a:schemeClr val="dk1"/>
              </a:buClr>
              <a:buFont typeface="Arial"/>
              <a:buNone/>
            </a:pPr>
            <a:r>
              <a:rPr lang="en-US" sz="2600">
                <a:solidFill>
                  <a:schemeClr val="dk1"/>
                </a:solidFill>
                <a:latin typeface="Times New Roman"/>
                <a:ea typeface="Times New Roman"/>
                <a:cs typeface="Times New Roman"/>
                <a:sym typeface="Times New Roman"/>
              </a:rPr>
              <a:t>For 5 hours: predicted marks = 30 + 7(5) = 65.</a:t>
            </a:r>
            <a:endParaRPr spc="12" sz="2350">
              <a:solidFill>
                <a:srgbClr val="273239"/>
              </a:solidFill>
              <a:highlight>
                <a:srgbClr val="FFFFFF"/>
              </a:highlight>
              <a:latin typeface="Times New Roman"/>
              <a:ea typeface="Times New Roman"/>
              <a:cs typeface="Times New Roman"/>
              <a:sym typeface="Times New Roman"/>
            </a:endParaRPr>
          </a:p>
        </p:txBody>
      </p:sp>
      <p:pic>
        <p:nvPicPr>
          <p:cNvPr id="135" name="Google Shape;135;p6"/>
          <p:cNvPicPr preferRelativeResize="0"/>
          <p:nvPr/>
        </p:nvPicPr>
        <p:blipFill>
          <a:blip r:embed="rId3">
            <a:alphaModFix/>
          </a:blip>
          <a:stretch>
            <a:fillRect/>
          </a:stretch>
        </p:blipFill>
        <p:spPr>
          <a:xfrm>
            <a:off x="7755300" y="1725625"/>
            <a:ext cx="3874500" cy="3474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h36dc2ce36be3d24_0_56"/>
          <p:cNvSpPr txBox="1"/>
          <p:nvPr/>
        </p:nvSpPr>
        <p:spPr>
          <a:xfrm>
            <a:off x="324750" y="439375"/>
            <a:ext cx="11309100" cy="6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Polynomial Regression</a:t>
            </a:r>
            <a:endParaRPr b="1" sz="2400"/>
          </a:p>
          <a:p>
            <a:pPr indent="0" lvl="0" marL="0" rtl="0" algn="l">
              <a:spcBef>
                <a:spcPts val="0"/>
              </a:spcBef>
              <a:spcAft>
                <a:spcPts val="0"/>
              </a:spcAft>
              <a:buNone/>
            </a:pPr>
            <a:r>
              <a:rPr lang="en-US" sz="2400"/>
              <a:t>              Polynomial Regression is a regression technique used to model a curved relationship between an independent variable \(X\) and dependent variable \(Y\) by including powers of X.</a:t>
            </a:r>
            <a:endParaRPr sz="2400"/>
          </a:p>
          <a:p>
            <a:pPr indent="0" lvl="0" marL="0" rtl="0" algn="l">
              <a:spcBef>
                <a:spcPts val="0"/>
              </a:spcBef>
              <a:spcAft>
                <a:spcPts val="0"/>
              </a:spcAft>
              <a:buNone/>
            </a:pPr>
            <a:r>
              <a:rPr lang="en-US" sz="2400"/>
              <a:t>            Instead of:         </a:t>
            </a:r>
            <a:r>
              <a:rPr lang="en-US" spc="12" sz="2350">
                <a:solidFill>
                  <a:srgbClr val="273239"/>
                </a:solidFill>
                <a:highlight>
                  <a:schemeClr val="lt1"/>
                </a:highlight>
                <a:latin typeface="Times New Roman"/>
                <a:ea typeface="Times New Roman"/>
                <a:cs typeface="Times New Roman"/>
                <a:sym typeface="Times New Roman"/>
              </a:rPr>
              <a:t>Y=b</a:t>
            </a:r>
            <a:r>
              <a:rPr baseline="-25000" lang="en-US" spc="12" sz="2350">
                <a:solidFill>
                  <a:srgbClr val="273239"/>
                </a:solidFill>
                <a:highlight>
                  <a:schemeClr val="lt1"/>
                </a:highlight>
                <a:latin typeface="Times New Roman"/>
                <a:ea typeface="Times New Roman"/>
                <a:cs typeface="Times New Roman"/>
                <a:sym typeface="Times New Roman"/>
              </a:rPr>
              <a:t>0</a:t>
            </a:r>
            <a:r>
              <a:rPr lang="en-US" spc="12" sz="2350">
                <a:solidFill>
                  <a:srgbClr val="273239"/>
                </a:solidFill>
                <a:highlight>
                  <a:schemeClr val="lt1"/>
                </a:highlight>
                <a:latin typeface="Times New Roman"/>
                <a:ea typeface="Times New Roman"/>
                <a:cs typeface="Times New Roman"/>
                <a:sym typeface="Times New Roman"/>
              </a:rPr>
              <a:t>+b</a:t>
            </a:r>
            <a:r>
              <a:rPr baseline="-25000" lang="en-US" spc="12" sz="2350">
                <a:solidFill>
                  <a:srgbClr val="273239"/>
                </a:solidFill>
                <a:highlight>
                  <a:schemeClr val="lt1"/>
                </a:highlight>
                <a:latin typeface="Times New Roman"/>
                <a:ea typeface="Times New Roman"/>
                <a:cs typeface="Times New Roman"/>
                <a:sym typeface="Times New Roman"/>
              </a:rPr>
              <a:t>1</a:t>
            </a:r>
            <a:r>
              <a:rPr lang="en-US" spc="12" sz="2350">
                <a:solidFill>
                  <a:srgbClr val="273239"/>
                </a:solidFill>
                <a:highlight>
                  <a:schemeClr val="lt1"/>
                </a:highlight>
                <a:latin typeface="Times New Roman"/>
                <a:ea typeface="Times New Roman"/>
                <a:cs typeface="Times New Roman"/>
                <a:sym typeface="Times New Roman"/>
              </a:rPr>
              <a:t>X+ϵ</a:t>
            </a:r>
            <a:r>
              <a:rPr lang="en-US" sz="2400"/>
              <a:t> </a:t>
            </a:r>
            <a:endParaRPr sz="2400"/>
          </a:p>
          <a:p>
            <a:pPr indent="0" lvl="0" marL="0" rtl="0" algn="l">
              <a:spcBef>
                <a:spcPts val="0"/>
              </a:spcBef>
              <a:spcAft>
                <a:spcPts val="0"/>
              </a:spcAft>
              <a:buClr>
                <a:schemeClr val="dk1"/>
              </a:buClr>
              <a:buSzPts val="1100"/>
              <a:buFont typeface="Arial"/>
              <a:buNone/>
            </a:pPr>
            <a:r>
              <a:rPr lang="en-US" sz="2400"/>
              <a:t>            we can use:      </a:t>
            </a:r>
            <a:r>
              <a:rPr lang="en-US" spc="12" sz="2350">
                <a:solidFill>
                  <a:srgbClr val="273239"/>
                </a:solidFill>
                <a:highlight>
                  <a:schemeClr val="lt1"/>
                </a:highlight>
                <a:latin typeface="Times New Roman"/>
                <a:ea typeface="Times New Roman"/>
                <a:cs typeface="Times New Roman"/>
                <a:sym typeface="Times New Roman"/>
              </a:rPr>
              <a:t>Y=b</a:t>
            </a:r>
            <a:r>
              <a:rPr baseline="-25000" lang="en-US" spc="12" sz="2350">
                <a:solidFill>
                  <a:srgbClr val="273239"/>
                </a:solidFill>
                <a:highlight>
                  <a:schemeClr val="lt1"/>
                </a:highlight>
                <a:latin typeface="Times New Roman"/>
                <a:ea typeface="Times New Roman"/>
                <a:cs typeface="Times New Roman"/>
                <a:sym typeface="Times New Roman"/>
              </a:rPr>
              <a:t>0</a:t>
            </a:r>
            <a:r>
              <a:rPr lang="en-US" spc="12" sz="2350">
                <a:solidFill>
                  <a:srgbClr val="273239"/>
                </a:solidFill>
                <a:highlight>
                  <a:schemeClr val="lt1"/>
                </a:highlight>
                <a:latin typeface="Times New Roman"/>
                <a:ea typeface="Times New Roman"/>
                <a:cs typeface="Times New Roman"/>
                <a:sym typeface="Times New Roman"/>
              </a:rPr>
              <a:t>+b</a:t>
            </a:r>
            <a:r>
              <a:rPr baseline="-25000" lang="en-US" spc="12" sz="2350">
                <a:solidFill>
                  <a:srgbClr val="273239"/>
                </a:solidFill>
                <a:highlight>
                  <a:schemeClr val="lt1"/>
                </a:highlight>
                <a:latin typeface="Times New Roman"/>
                <a:ea typeface="Times New Roman"/>
                <a:cs typeface="Times New Roman"/>
                <a:sym typeface="Times New Roman"/>
              </a:rPr>
              <a:t>1</a:t>
            </a:r>
            <a:r>
              <a:rPr lang="en-US" spc="12" sz="2350">
                <a:solidFill>
                  <a:srgbClr val="273239"/>
                </a:solidFill>
                <a:highlight>
                  <a:schemeClr val="lt1"/>
                </a:highlight>
                <a:latin typeface="Times New Roman"/>
                <a:ea typeface="Times New Roman"/>
                <a:cs typeface="Times New Roman"/>
                <a:sym typeface="Times New Roman"/>
              </a:rPr>
              <a:t>X+b</a:t>
            </a:r>
            <a:r>
              <a:rPr baseline="-25000" lang="en-US" spc="12" sz="2350">
                <a:solidFill>
                  <a:srgbClr val="273239"/>
                </a:solidFill>
                <a:highlight>
                  <a:schemeClr val="lt1"/>
                </a:highlight>
                <a:latin typeface="Times New Roman"/>
                <a:ea typeface="Times New Roman"/>
                <a:cs typeface="Times New Roman"/>
                <a:sym typeface="Times New Roman"/>
              </a:rPr>
              <a:t>2</a:t>
            </a:r>
            <a:r>
              <a:rPr lang="en-US" spc="12" sz="2350">
                <a:solidFill>
                  <a:srgbClr val="273239"/>
                </a:solidFill>
                <a:highlight>
                  <a:schemeClr val="lt1"/>
                </a:highlight>
                <a:latin typeface="Times New Roman"/>
                <a:ea typeface="Times New Roman"/>
                <a:cs typeface="Times New Roman"/>
                <a:sym typeface="Times New Roman"/>
              </a:rPr>
              <a:t>X</a:t>
            </a:r>
            <a:r>
              <a:rPr baseline="30000" lang="en-US" spc="12" sz="2350">
                <a:solidFill>
                  <a:srgbClr val="273239"/>
                </a:solidFill>
                <a:highlight>
                  <a:schemeClr val="lt1"/>
                </a:highlight>
                <a:latin typeface="Times New Roman"/>
                <a:ea typeface="Times New Roman"/>
                <a:cs typeface="Times New Roman"/>
                <a:sym typeface="Times New Roman"/>
              </a:rPr>
              <a:t>2</a:t>
            </a:r>
            <a:r>
              <a:rPr lang="en-US" spc="12" sz="2350">
                <a:solidFill>
                  <a:srgbClr val="273239"/>
                </a:solidFill>
                <a:highlight>
                  <a:schemeClr val="lt1"/>
                </a:highlight>
                <a:latin typeface="Times New Roman"/>
                <a:ea typeface="Times New Roman"/>
                <a:cs typeface="Times New Roman"/>
                <a:sym typeface="Times New Roman"/>
              </a:rPr>
              <a:t>+ϵ</a:t>
            </a:r>
            <a:r>
              <a:rPr lang="en-US" sz="2400">
                <a:solidFill>
                  <a:schemeClr val="dk1"/>
                </a:solidFill>
              </a:rPr>
              <a:t>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This is called a second-degree (quadratic) polynomial regression.</a:t>
            </a:r>
            <a:endParaRPr sz="2400"/>
          </a:p>
          <a:p>
            <a:pPr indent="0" lvl="0" marL="0" rtl="0" algn="l">
              <a:spcBef>
                <a:spcPts val="0"/>
              </a:spcBef>
              <a:spcAft>
                <a:spcPts val="0"/>
              </a:spcAft>
              <a:buClr>
                <a:schemeClr val="dk1"/>
              </a:buClr>
              <a:buSzPts val="1100"/>
              <a:buFont typeface="Arial"/>
              <a:buNone/>
            </a:pPr>
            <a:r>
              <a:rPr lang="en-US" sz="2400"/>
              <a:t>A straight-line model assumes </a:t>
            </a:r>
            <a:r>
              <a:rPr b="1" lang="en-US" sz="2400"/>
              <a:t>a constant rate of change.</a:t>
            </a:r>
            <a:endParaRPr b="1" sz="2400"/>
          </a:p>
          <a:p>
            <a:pPr indent="0" lvl="0" marL="0" rtl="0" algn="l">
              <a:spcBef>
                <a:spcPts val="0"/>
              </a:spcBef>
              <a:spcAft>
                <a:spcPts val="0"/>
              </a:spcAft>
              <a:buClr>
                <a:schemeClr val="dk1"/>
              </a:buClr>
              <a:buSzPts val="1100"/>
              <a:buFont typeface="Arial"/>
              <a:buNone/>
            </a:pPr>
            <a:r>
              <a:rPr lang="en-US" sz="2400"/>
              <a:t>But many real-world relationships are curved.</a:t>
            </a:r>
            <a:endParaRPr sz="2400"/>
          </a:p>
          <a:p>
            <a:pPr indent="0" lvl="0" marL="0" rtl="0" algn="l">
              <a:spcBef>
                <a:spcPts val="0"/>
              </a:spcBef>
              <a:spcAft>
                <a:spcPts val="0"/>
              </a:spcAft>
              <a:buClr>
                <a:schemeClr val="dk1"/>
              </a:buClr>
              <a:buSzPts val="1100"/>
              <a:buFont typeface="Arial"/>
              <a:buNone/>
            </a:pPr>
            <a:r>
              <a:rPr lang="en-US" sz="2400"/>
              <a:t>Polynomial regression can capture patterns such as:</a:t>
            </a:r>
            <a:endParaRPr sz="2400"/>
          </a:p>
          <a:p>
            <a:pPr indent="-381000" lvl="0" marL="457200" rtl="0" algn="l">
              <a:spcBef>
                <a:spcPts val="0"/>
              </a:spcBef>
              <a:spcAft>
                <a:spcPts val="0"/>
              </a:spcAft>
              <a:buSzPts val="2400"/>
              <a:buChar char="●"/>
            </a:pPr>
            <a:r>
              <a:rPr lang="en-US" sz="2400"/>
              <a:t>U-shaped relationships</a:t>
            </a:r>
            <a:endParaRPr sz="2400"/>
          </a:p>
          <a:p>
            <a:pPr indent="-381000" lvl="0" marL="457200" rtl="0" algn="l">
              <a:spcBef>
                <a:spcPts val="0"/>
              </a:spcBef>
              <a:spcAft>
                <a:spcPts val="0"/>
              </a:spcAft>
              <a:buSzPts val="2400"/>
              <a:buChar char="●"/>
            </a:pPr>
            <a:r>
              <a:rPr lang="en-US" sz="2400"/>
              <a:t>Increasing/decreasing curves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b="1" lang="en-US" sz="2400"/>
              <a:t>Third degree</a:t>
            </a:r>
            <a:r>
              <a:rPr lang="en-US" sz="2400"/>
              <a:t> — Cubic         </a:t>
            </a:r>
            <a:r>
              <a:rPr lang="en-US" spc="12" sz="2350">
                <a:solidFill>
                  <a:srgbClr val="273239"/>
                </a:solidFill>
                <a:highlight>
                  <a:schemeClr val="lt1"/>
                </a:highlight>
                <a:latin typeface="Times New Roman"/>
                <a:ea typeface="Times New Roman"/>
                <a:cs typeface="Times New Roman"/>
                <a:sym typeface="Times New Roman"/>
              </a:rPr>
              <a:t>Y=b</a:t>
            </a:r>
            <a:r>
              <a:rPr baseline="-25000" lang="en-US" spc="12" sz="2350">
                <a:solidFill>
                  <a:srgbClr val="273239"/>
                </a:solidFill>
                <a:highlight>
                  <a:schemeClr val="lt1"/>
                </a:highlight>
                <a:latin typeface="Times New Roman"/>
                <a:ea typeface="Times New Roman"/>
                <a:cs typeface="Times New Roman"/>
                <a:sym typeface="Times New Roman"/>
              </a:rPr>
              <a:t>0</a:t>
            </a:r>
            <a:r>
              <a:rPr lang="en-US" spc="12" sz="2350">
                <a:solidFill>
                  <a:srgbClr val="273239"/>
                </a:solidFill>
                <a:highlight>
                  <a:schemeClr val="lt1"/>
                </a:highlight>
                <a:latin typeface="Times New Roman"/>
                <a:ea typeface="Times New Roman"/>
                <a:cs typeface="Times New Roman"/>
                <a:sym typeface="Times New Roman"/>
              </a:rPr>
              <a:t>+b</a:t>
            </a:r>
            <a:r>
              <a:rPr baseline="-25000" lang="en-US" spc="12" sz="2350">
                <a:solidFill>
                  <a:srgbClr val="273239"/>
                </a:solidFill>
                <a:highlight>
                  <a:schemeClr val="lt1"/>
                </a:highlight>
                <a:latin typeface="Times New Roman"/>
                <a:ea typeface="Times New Roman"/>
                <a:cs typeface="Times New Roman"/>
                <a:sym typeface="Times New Roman"/>
              </a:rPr>
              <a:t>1</a:t>
            </a:r>
            <a:r>
              <a:rPr lang="en-US" spc="12" sz="2350">
                <a:solidFill>
                  <a:srgbClr val="273239"/>
                </a:solidFill>
                <a:highlight>
                  <a:schemeClr val="lt1"/>
                </a:highlight>
                <a:latin typeface="Times New Roman"/>
                <a:ea typeface="Times New Roman"/>
                <a:cs typeface="Times New Roman"/>
                <a:sym typeface="Times New Roman"/>
              </a:rPr>
              <a:t>X+b</a:t>
            </a:r>
            <a:r>
              <a:rPr baseline="-25000" lang="en-US" spc="12" sz="2350">
                <a:solidFill>
                  <a:srgbClr val="273239"/>
                </a:solidFill>
                <a:highlight>
                  <a:schemeClr val="lt1"/>
                </a:highlight>
                <a:latin typeface="Times New Roman"/>
                <a:ea typeface="Times New Roman"/>
                <a:cs typeface="Times New Roman"/>
                <a:sym typeface="Times New Roman"/>
              </a:rPr>
              <a:t>2</a:t>
            </a:r>
            <a:r>
              <a:rPr lang="en-US" spc="12" sz="2350">
                <a:solidFill>
                  <a:srgbClr val="273239"/>
                </a:solidFill>
                <a:highlight>
                  <a:schemeClr val="lt1"/>
                </a:highlight>
                <a:latin typeface="Times New Roman"/>
                <a:ea typeface="Times New Roman"/>
                <a:cs typeface="Times New Roman"/>
                <a:sym typeface="Times New Roman"/>
              </a:rPr>
              <a:t>X</a:t>
            </a:r>
            <a:r>
              <a:rPr baseline="30000" lang="en-US" spc="12" sz="2350">
                <a:solidFill>
                  <a:srgbClr val="273239"/>
                </a:solidFill>
                <a:highlight>
                  <a:schemeClr val="lt1"/>
                </a:highlight>
                <a:latin typeface="Times New Roman"/>
                <a:ea typeface="Times New Roman"/>
                <a:cs typeface="Times New Roman"/>
                <a:sym typeface="Times New Roman"/>
              </a:rPr>
              <a:t>2</a:t>
            </a:r>
            <a:r>
              <a:rPr lang="en-US" spc="12" sz="2350">
                <a:solidFill>
                  <a:srgbClr val="273239"/>
                </a:solidFill>
                <a:highlight>
                  <a:schemeClr val="lt1"/>
                </a:highlight>
                <a:latin typeface="Times New Roman"/>
                <a:ea typeface="Times New Roman"/>
                <a:cs typeface="Times New Roman"/>
                <a:sym typeface="Times New Roman"/>
              </a:rPr>
              <a:t>+b</a:t>
            </a:r>
            <a:r>
              <a:rPr baseline="-25000" lang="en-US" spc="12" sz="2350">
                <a:solidFill>
                  <a:srgbClr val="273239"/>
                </a:solidFill>
                <a:highlight>
                  <a:schemeClr val="lt1"/>
                </a:highlight>
                <a:latin typeface="Times New Roman"/>
                <a:ea typeface="Times New Roman"/>
                <a:cs typeface="Times New Roman"/>
                <a:sym typeface="Times New Roman"/>
              </a:rPr>
              <a:t>3</a:t>
            </a:r>
            <a:r>
              <a:rPr lang="en-US" spc="12" sz="2350">
                <a:solidFill>
                  <a:srgbClr val="273239"/>
                </a:solidFill>
                <a:highlight>
                  <a:schemeClr val="lt1"/>
                </a:highlight>
                <a:latin typeface="Times New Roman"/>
                <a:ea typeface="Times New Roman"/>
                <a:cs typeface="Times New Roman"/>
                <a:sym typeface="Times New Roman"/>
              </a:rPr>
              <a:t>X</a:t>
            </a:r>
            <a:r>
              <a:rPr baseline="30000" lang="en-US" spc="12" sz="2350">
                <a:solidFill>
                  <a:srgbClr val="273239"/>
                </a:solidFill>
                <a:highlight>
                  <a:schemeClr val="lt1"/>
                </a:highlight>
                <a:latin typeface="Times New Roman"/>
                <a:ea typeface="Times New Roman"/>
                <a:cs typeface="Times New Roman"/>
                <a:sym typeface="Times New Roman"/>
              </a:rPr>
              <a:t>3+</a:t>
            </a:r>
            <a:r>
              <a:rPr lang="en-US" spc="12" sz="2350">
                <a:solidFill>
                  <a:srgbClr val="273239"/>
                </a:solidFill>
                <a:highlight>
                  <a:schemeClr val="lt1"/>
                </a:highlight>
                <a:latin typeface="Times New Roman"/>
                <a:ea typeface="Times New Roman"/>
                <a:cs typeface="Times New Roman"/>
                <a:sym typeface="Times New Roman"/>
              </a:rPr>
              <a:t>ϵ</a:t>
            </a:r>
            <a:endParaRPr spc="12" sz="2350">
              <a:solidFill>
                <a:srgbClr val="273239"/>
              </a:solidFill>
              <a:highlight>
                <a:schemeClr val="lt1"/>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US" sz="2400"/>
              <a:t>Can represent more complex curves.</a:t>
            </a:r>
            <a:endParaRPr sz="2400"/>
          </a:p>
          <a:p>
            <a:pPr indent="0" lvl="0" marL="0" marR="0" rtl="0" algn="l">
              <a:lnSpc>
                <a:spcPct val="100000"/>
              </a:lnSpc>
              <a:spcBef>
                <a:spcPts val="0"/>
              </a:spcBef>
              <a:spcAft>
                <a:spcPts val="0"/>
              </a:spcAft>
              <a:buNone/>
            </a:pPr>
            <a:r>
              <a:rPr lang="en-US" sz="2400"/>
              <a:t>Higher degree → greater flexibility, but also greater risk of overfitting.</a:t>
            </a:r>
            <a:endParaRPr/>
          </a:p>
        </p:txBody>
      </p:sp>
      <p:pic>
        <p:nvPicPr>
          <p:cNvPr id="141" name="Google Shape;141;h36dc2ce36be3d24_0_56"/>
          <p:cNvPicPr preferRelativeResize="0"/>
          <p:nvPr/>
        </p:nvPicPr>
        <p:blipFill>
          <a:blip r:embed="rId3">
            <a:alphaModFix/>
          </a:blip>
          <a:stretch>
            <a:fillRect/>
          </a:stretch>
        </p:blipFill>
        <p:spPr>
          <a:xfrm>
            <a:off x="9481188" y="2423438"/>
            <a:ext cx="2152650" cy="181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h36dc2ce36be3d24_0_134"/>
          <p:cNvSpPr txBox="1"/>
          <p:nvPr/>
        </p:nvSpPr>
        <p:spPr>
          <a:xfrm>
            <a:off x="343850" y="401175"/>
            <a:ext cx="11710200" cy="61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t>A quadratic model can be used:</a:t>
            </a:r>
            <a:endParaRPr sz="2400"/>
          </a:p>
          <a:p>
            <a:pPr indent="0" lvl="0" marL="0" rtl="0" algn="l">
              <a:spcBef>
                <a:spcPts val="1200"/>
              </a:spcBef>
              <a:spcAft>
                <a:spcPts val="0"/>
              </a:spcAft>
              <a:buNone/>
            </a:pPr>
            <a:r>
              <a:rPr lang="en-US" sz="2400"/>
              <a:t>FuelConsumption </a:t>
            </a:r>
            <a:r>
              <a:rPr lang="en-US" spc="12" sz="2400">
                <a:solidFill>
                  <a:srgbClr val="273239"/>
                </a:solidFill>
                <a:highlight>
                  <a:schemeClr val="lt1"/>
                </a:highlight>
                <a:latin typeface="Times New Roman"/>
                <a:ea typeface="Times New Roman"/>
                <a:cs typeface="Times New Roman"/>
                <a:sym typeface="Times New Roman"/>
              </a:rPr>
              <a:t>= b</a:t>
            </a:r>
            <a:r>
              <a:rPr baseline="-25000" lang="en-US" spc="12" sz="2400">
                <a:solidFill>
                  <a:srgbClr val="273239"/>
                </a:solidFill>
                <a:highlight>
                  <a:schemeClr val="lt1"/>
                </a:highlight>
                <a:latin typeface="Times New Roman"/>
                <a:ea typeface="Times New Roman"/>
                <a:cs typeface="Times New Roman"/>
                <a:sym typeface="Times New Roman"/>
              </a:rPr>
              <a:t>0</a:t>
            </a:r>
            <a:r>
              <a:rPr lang="en-US" spc="12" sz="2400">
                <a:solidFill>
                  <a:srgbClr val="273239"/>
                </a:solidFill>
                <a:highlight>
                  <a:schemeClr val="lt1"/>
                </a:highlight>
                <a:latin typeface="Times New Roman"/>
                <a:ea typeface="Times New Roman"/>
                <a:cs typeface="Times New Roman"/>
                <a:sym typeface="Times New Roman"/>
              </a:rPr>
              <a:t>+ b</a:t>
            </a:r>
            <a:r>
              <a:rPr baseline="-25000" lang="en-US" spc="12" sz="2400">
                <a:solidFill>
                  <a:srgbClr val="273239"/>
                </a:solidFill>
                <a:highlight>
                  <a:schemeClr val="lt1"/>
                </a:highlight>
                <a:latin typeface="Times New Roman"/>
                <a:ea typeface="Times New Roman"/>
                <a:cs typeface="Times New Roman"/>
                <a:sym typeface="Times New Roman"/>
              </a:rPr>
              <a:t>1</a:t>
            </a:r>
            <a:r>
              <a:rPr lang="en-US" spc="12" sz="2400">
                <a:solidFill>
                  <a:srgbClr val="273239"/>
                </a:solidFill>
                <a:highlight>
                  <a:schemeClr val="lt1"/>
                </a:highlight>
                <a:latin typeface="Times New Roman"/>
                <a:ea typeface="Times New Roman"/>
                <a:cs typeface="Times New Roman"/>
                <a:sym typeface="Times New Roman"/>
              </a:rPr>
              <a:t>Speed + b</a:t>
            </a:r>
            <a:r>
              <a:rPr baseline="-25000" lang="en-US" spc="12" sz="2400">
                <a:solidFill>
                  <a:srgbClr val="273239"/>
                </a:solidFill>
                <a:highlight>
                  <a:schemeClr val="lt1"/>
                </a:highlight>
                <a:latin typeface="Times New Roman"/>
                <a:ea typeface="Times New Roman"/>
                <a:cs typeface="Times New Roman"/>
                <a:sym typeface="Times New Roman"/>
              </a:rPr>
              <a:t>2</a:t>
            </a:r>
            <a:r>
              <a:rPr lang="en-US" spc="12" sz="2400">
                <a:solidFill>
                  <a:srgbClr val="273239"/>
                </a:solidFill>
                <a:highlight>
                  <a:schemeClr val="lt1"/>
                </a:highlight>
                <a:latin typeface="Times New Roman"/>
                <a:ea typeface="Times New Roman"/>
                <a:cs typeface="Times New Roman"/>
                <a:sym typeface="Times New Roman"/>
              </a:rPr>
              <a:t>(Speed)</a:t>
            </a:r>
            <a:r>
              <a:rPr baseline="30000" lang="en-US" spc="12" sz="2400">
                <a:solidFill>
                  <a:srgbClr val="273239"/>
                </a:solidFill>
                <a:highlight>
                  <a:schemeClr val="lt1"/>
                </a:highlight>
                <a:latin typeface="Times New Roman"/>
                <a:ea typeface="Times New Roman"/>
                <a:cs typeface="Times New Roman"/>
                <a:sym typeface="Times New Roman"/>
              </a:rPr>
              <a:t>2 </a:t>
            </a:r>
            <a:r>
              <a:rPr lang="en-US" spc="12" sz="2400">
                <a:solidFill>
                  <a:srgbClr val="273239"/>
                </a:solidFill>
                <a:highlight>
                  <a:schemeClr val="lt1"/>
                </a:highlight>
                <a:latin typeface="Times New Roman"/>
                <a:ea typeface="Times New Roman"/>
                <a:cs typeface="Times New Roman"/>
                <a:sym typeface="Times New Roman"/>
              </a:rPr>
              <a:t>+ ϵ This allows the relationship to curve.</a:t>
            </a:r>
            <a:endParaRPr spc="12" sz="2400">
              <a:solidFill>
                <a:srgbClr val="273239"/>
              </a:solidFill>
              <a:highlight>
                <a:schemeClr val="lt1"/>
              </a:highlight>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rPr>
              <a:t>Understanding the  </a:t>
            </a:r>
            <a:r>
              <a:rPr b="1" lang="en-US" spc="12" sz="2350">
                <a:solidFill>
                  <a:srgbClr val="273239"/>
                </a:solidFill>
                <a:highlight>
                  <a:schemeClr val="lt1"/>
                </a:highlight>
                <a:latin typeface="Times New Roman"/>
                <a:ea typeface="Times New Roman"/>
                <a:cs typeface="Times New Roman"/>
                <a:sym typeface="Times New Roman"/>
              </a:rPr>
              <a:t>X</a:t>
            </a:r>
            <a:r>
              <a:rPr b="1" baseline="30000" lang="en-US" spc="12" sz="2350">
                <a:solidFill>
                  <a:srgbClr val="273239"/>
                </a:solidFill>
                <a:highlight>
                  <a:schemeClr val="lt1"/>
                </a:highlight>
                <a:latin typeface="Times New Roman"/>
                <a:ea typeface="Times New Roman"/>
                <a:cs typeface="Times New Roman"/>
                <a:sym typeface="Times New Roman"/>
              </a:rPr>
              <a:t>2</a:t>
            </a:r>
            <a:r>
              <a:rPr baseline="30000" lang="en-US" spc="12" sz="2350">
                <a:solidFill>
                  <a:srgbClr val="273239"/>
                </a:solidFill>
                <a:highlight>
                  <a:schemeClr val="lt1"/>
                </a:highlight>
                <a:latin typeface="Times New Roman"/>
                <a:ea typeface="Times New Roman"/>
                <a:cs typeface="Times New Roman"/>
                <a:sym typeface="Times New Roman"/>
              </a:rPr>
              <a:t> </a:t>
            </a:r>
            <a:r>
              <a:rPr b="1" lang="en-US" sz="2400">
                <a:solidFill>
                  <a:schemeClr val="dk1"/>
                </a:solidFill>
              </a:rPr>
              <a:t>Term </a:t>
            </a:r>
            <a:r>
              <a:rPr lang="en-US" sz="2400">
                <a:solidFill>
                  <a:schemeClr val="dk1"/>
                </a:solidFill>
              </a:rPr>
              <a:t>Suppose our estimated model is: </a:t>
            </a:r>
            <a:endParaRPr sz="2400">
              <a:solidFill>
                <a:schemeClr val="dk1"/>
              </a:solidFill>
            </a:endParaRPr>
          </a:p>
          <a:p>
            <a:pPr indent="0" lvl="0" marL="0" rtl="0" algn="l">
              <a:lnSpc>
                <a:spcPct val="115000"/>
              </a:lnSpc>
              <a:spcBef>
                <a:spcPts val="1400"/>
              </a:spcBef>
              <a:spcAft>
                <a:spcPts val="0"/>
              </a:spcAft>
              <a:buNone/>
            </a:pPr>
            <a:r>
              <a:rPr lang="en-US" sz="2400">
                <a:solidFill>
                  <a:schemeClr val="dk1"/>
                </a:solidFill>
              </a:rPr>
              <a:t>Fuel = 8 - 0.08 (Speed) + 0.001 (Speed)</a:t>
            </a:r>
            <a:r>
              <a:rPr baseline="30000" lang="en-US" sz="2400">
                <a:solidFill>
                  <a:schemeClr val="dk1"/>
                </a:solidFill>
              </a:rPr>
              <a:t>2</a:t>
            </a:r>
            <a:r>
              <a:rPr lang="en-US" sz="2400">
                <a:solidFill>
                  <a:schemeClr val="dk1"/>
                </a:solidFill>
              </a:rPr>
              <a:t>              FC</a:t>
            </a:r>
            <a:r>
              <a:rPr lang="en-US" spc="12" sz="2400">
                <a:solidFill>
                  <a:srgbClr val="273239"/>
                </a:solidFill>
                <a:highlight>
                  <a:schemeClr val="lt1"/>
                </a:highlight>
                <a:latin typeface="Times New Roman"/>
                <a:ea typeface="Times New Roman"/>
                <a:cs typeface="Times New Roman"/>
                <a:sym typeface="Times New Roman"/>
              </a:rPr>
              <a:t>= 8 - 0.08(Speed)+0.001(Speed)</a:t>
            </a:r>
            <a:r>
              <a:rPr baseline="30000" lang="en-US" spc="12" sz="2400">
                <a:solidFill>
                  <a:srgbClr val="273239"/>
                </a:solidFill>
                <a:highlight>
                  <a:schemeClr val="lt1"/>
                </a:highlight>
                <a:latin typeface="Times New Roman"/>
                <a:ea typeface="Times New Roman"/>
                <a:cs typeface="Times New Roman"/>
                <a:sym typeface="Times New Roman"/>
              </a:rPr>
              <a:t>2</a:t>
            </a:r>
            <a:endParaRPr spc="12" sz="2400">
              <a:solidFill>
                <a:srgbClr val="273239"/>
              </a:solidFill>
              <a:highlight>
                <a:schemeClr val="lt1"/>
              </a:highlight>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8 → intercept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-0.08 → linear effect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0.001 → quadratic effect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pc="12" sz="2400">
                <a:solidFill>
                  <a:srgbClr val="273239"/>
                </a:solidFill>
                <a:highlight>
                  <a:schemeClr val="lt1"/>
                </a:highlight>
                <a:latin typeface="Times New Roman"/>
                <a:ea typeface="Times New Roman"/>
                <a:cs typeface="Times New Roman"/>
                <a:sym typeface="Times New Roman"/>
              </a:rPr>
              <a:t>Speed</a:t>
            </a:r>
            <a:r>
              <a:rPr baseline="30000" lang="en-US" spc="12" sz="2400">
                <a:solidFill>
                  <a:srgbClr val="273239"/>
                </a:solidFill>
                <a:highlight>
                  <a:schemeClr val="lt1"/>
                </a:highlight>
                <a:latin typeface="Times New Roman"/>
                <a:ea typeface="Times New Roman"/>
                <a:cs typeface="Times New Roman"/>
                <a:sym typeface="Times New Roman"/>
              </a:rPr>
              <a:t>2</a:t>
            </a:r>
            <a:r>
              <a:rPr lang="en-US" sz="2400">
                <a:solidFill>
                  <a:schemeClr val="dk1"/>
                </a:solidFill>
              </a:rPr>
              <a:t> → allows the relationship to curve</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important point is: </a:t>
            </a:r>
            <a:r>
              <a:rPr b="1" lang="en-US" sz="2400">
                <a:solidFill>
                  <a:schemeClr val="dk1"/>
                </a:solidFill>
              </a:rPr>
              <a:t>The </a:t>
            </a:r>
            <a:r>
              <a:rPr b="1" lang="en-US" spc="12" sz="2350">
                <a:solidFill>
                  <a:srgbClr val="273239"/>
                </a:solidFill>
                <a:highlight>
                  <a:schemeClr val="lt1"/>
                </a:highlight>
                <a:latin typeface="Times New Roman"/>
                <a:ea typeface="Times New Roman"/>
                <a:cs typeface="Times New Roman"/>
                <a:sym typeface="Times New Roman"/>
              </a:rPr>
              <a:t>X</a:t>
            </a:r>
            <a:r>
              <a:rPr b="1" baseline="30000" lang="en-US" spc="12" sz="2350">
                <a:solidFill>
                  <a:srgbClr val="273239"/>
                </a:solidFill>
                <a:highlight>
                  <a:schemeClr val="lt1"/>
                </a:highlight>
                <a:latin typeface="Times New Roman"/>
                <a:ea typeface="Times New Roman"/>
                <a:cs typeface="Times New Roman"/>
                <a:sym typeface="Times New Roman"/>
              </a:rPr>
              <a:t>2</a:t>
            </a:r>
            <a:r>
              <a:rPr b="1" lang="en-US" sz="2400">
                <a:solidFill>
                  <a:schemeClr val="dk1"/>
                </a:solidFill>
              </a:rPr>
              <a:t> term allows the effect of </a:t>
            </a:r>
            <a:r>
              <a:rPr b="1" lang="en-US" spc="12" sz="2350">
                <a:solidFill>
                  <a:srgbClr val="273239"/>
                </a:solidFill>
                <a:highlight>
                  <a:schemeClr val="lt1"/>
                </a:highlight>
                <a:latin typeface="Times New Roman"/>
                <a:ea typeface="Times New Roman"/>
                <a:cs typeface="Times New Roman"/>
                <a:sym typeface="Times New Roman"/>
              </a:rPr>
              <a:t>X</a:t>
            </a:r>
            <a:r>
              <a:rPr b="1" baseline="30000" lang="en-US" spc="12" sz="2350">
                <a:solidFill>
                  <a:srgbClr val="273239"/>
                </a:solidFill>
                <a:highlight>
                  <a:schemeClr val="lt1"/>
                </a:highlight>
                <a:latin typeface="Times New Roman"/>
                <a:ea typeface="Times New Roman"/>
                <a:cs typeface="Times New Roman"/>
                <a:sym typeface="Times New Roman"/>
              </a:rPr>
              <a:t>2</a:t>
            </a:r>
            <a:r>
              <a:rPr b="1" lang="en-US" sz="2400">
                <a:solidFill>
                  <a:schemeClr val="dk1"/>
                </a:solidFill>
              </a:rPr>
              <a:t> on Y to change as X changes.</a:t>
            </a:r>
            <a:endParaRPr b="1" sz="2400">
              <a:solidFill>
                <a:schemeClr val="dk1"/>
              </a:solidFill>
            </a:endParaRPr>
          </a:p>
          <a:p>
            <a:pPr indent="0" lvl="0" marL="0" rtl="0" algn="l">
              <a:lnSpc>
                <a:spcPct val="115000"/>
              </a:lnSpc>
              <a:spcBef>
                <a:spcPts val="1200"/>
              </a:spcBef>
              <a:spcAft>
                <a:spcPts val="1200"/>
              </a:spcAft>
              <a:buNone/>
            </a:pPr>
            <a:r>
              <a:rPr b="1" lang="en-US" sz="2400">
                <a:solidFill>
                  <a:schemeClr val="dk1"/>
                </a:solidFill>
              </a:rPr>
              <a:t>Summary: Polynomial regression extends linear regression by adding powers of the predictor to capture curved relationships between X and Y. </a:t>
            </a:r>
            <a:endParaRPr spc="12" sz="2400">
              <a:solidFill>
                <a:srgbClr val="273239"/>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he33305f8ebb870c_0_0"/>
          <p:cNvSpPr txBox="1"/>
          <p:nvPr/>
        </p:nvSpPr>
        <p:spPr>
          <a:xfrm>
            <a:off x="276825" y="301425"/>
            <a:ext cx="11385300" cy="64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Least Squares chooses the regression coefficients so that the </a:t>
            </a:r>
            <a:r>
              <a:rPr b="1" lang="en-US" sz="2400">
                <a:solidFill>
                  <a:schemeClr val="dk1"/>
                </a:solidFill>
                <a:latin typeface="Times New Roman"/>
                <a:ea typeface="Times New Roman"/>
                <a:cs typeface="Times New Roman"/>
                <a:sym typeface="Times New Roman"/>
              </a:rPr>
              <a:t>sum of squared residuals</a:t>
            </a:r>
            <a:r>
              <a:rPr lang="en-US" sz="2400">
                <a:solidFill>
                  <a:schemeClr val="dk1"/>
                </a:solidFill>
                <a:latin typeface="Times New Roman"/>
                <a:ea typeface="Times New Roman"/>
                <a:cs typeface="Times New Roman"/>
                <a:sym typeface="Times New Roman"/>
              </a:rPr>
              <a:t> is as small as possible: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That's why it is called </a:t>
            </a:r>
            <a:r>
              <a:rPr b="1" lang="en-US" sz="2400">
                <a:solidFill>
                  <a:schemeClr val="dk1"/>
                </a:solidFill>
                <a:latin typeface="Times New Roman"/>
                <a:ea typeface="Times New Roman"/>
                <a:cs typeface="Times New Roman"/>
                <a:sym typeface="Times New Roman"/>
              </a:rPr>
              <a:t>Least Squares</a:t>
            </a:r>
            <a:r>
              <a:rPr lang="en-US" sz="2400">
                <a:solidFill>
                  <a:schemeClr val="dk1"/>
                </a:solidFill>
                <a:latin typeface="Times New Roman"/>
                <a:ea typeface="Times New Roman"/>
                <a:cs typeface="Times New Roman"/>
                <a:sym typeface="Times New Roman"/>
              </a:rPr>
              <a:t>. It Chooses the regression equation that minimizes the total squared prediction errors.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Polynomial regression uses least squares to find the coefficients of the polynomial that best fit the observed data. </a:t>
            </a:r>
            <a:endParaRPr sz="2400">
              <a:solidFill>
                <a:schemeClr val="dk1"/>
              </a:solidFill>
              <a:latin typeface="Times New Roman"/>
              <a:ea typeface="Times New Roman"/>
              <a:cs typeface="Times New Roman"/>
              <a:sym typeface="Times New Roman"/>
            </a:endParaRPr>
          </a:p>
        </p:txBody>
      </p:sp>
      <p:graphicFrame>
        <p:nvGraphicFramePr>
          <p:cNvPr id="152" name="Google Shape;152;he33305f8ebb870c_0_0"/>
          <p:cNvGraphicFramePr/>
          <p:nvPr/>
        </p:nvGraphicFramePr>
        <p:xfrm>
          <a:off x="276813" y="301425"/>
          <a:ext cx="3000000" cy="3000000"/>
        </p:xfrm>
        <a:graphic>
          <a:graphicData uri="http://schemas.openxmlformats.org/drawingml/2006/table">
            <a:tbl>
              <a:tblPr>
                <a:noFill/>
                <a:tableStyleId>{AABB5EDB-FB31-46EC-9822-BB6EADF0BBC1}</a:tableStyleId>
              </a:tblPr>
              <a:tblGrid>
                <a:gridCol w="4863525"/>
                <a:gridCol w="6521775"/>
              </a:tblGrid>
              <a:tr h="481200">
                <a:tc>
                  <a:txBody>
                    <a:bodyPr/>
                    <a:lstStyle/>
                    <a:p>
                      <a:pPr indent="0" lvl="0" marL="0" rtl="0" algn="l">
                        <a:lnSpc>
                          <a:spcPct val="115000"/>
                        </a:lnSpc>
                        <a:spcBef>
                          <a:spcPts val="1200"/>
                        </a:spcBef>
                        <a:spcAft>
                          <a:spcPts val="1200"/>
                        </a:spcAft>
                        <a:buClr>
                          <a:schemeClr val="dk1"/>
                        </a:buClr>
                        <a:buSzPts val="1100"/>
                        <a:buFont typeface="Arial"/>
                        <a:buNone/>
                      </a:pPr>
                      <a:r>
                        <a:rPr b="1" lang="en-US" sz="2400">
                          <a:solidFill>
                            <a:schemeClr val="dk1"/>
                          </a:solidFill>
                          <a:latin typeface="Times New Roman"/>
                          <a:ea typeface="Times New Roman"/>
                          <a:cs typeface="Times New Roman"/>
                          <a:sym typeface="Times New Roman"/>
                        </a:rPr>
                        <a:t>Advantages</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b="1" lang="en-US" sz="2400">
                          <a:solidFill>
                            <a:schemeClr val="dk1"/>
                          </a:solidFill>
                          <a:latin typeface="Times New Roman"/>
                          <a:ea typeface="Times New Roman"/>
                          <a:cs typeface="Times New Roman"/>
                          <a:sym typeface="Times New Roman"/>
                        </a:rPr>
                        <a:t>Limitations</a:t>
                      </a:r>
                      <a:endParaRPr/>
                    </a:p>
                  </a:txBody>
                  <a:tcPr marT="91425" marB="91425" marR="91425" marL="91425"/>
                </a:tc>
              </a:tr>
              <a:tr h="381000">
                <a:tc>
                  <a:txBody>
                    <a:bodyPr/>
                    <a:lstStyle/>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Captures curved relationships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More flexible than simple linear regression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Easy to implement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Can be estimated using least squares</a:t>
                      </a:r>
                      <a:endParaRPr/>
                    </a:p>
                  </a:txBody>
                  <a:tcPr marT="91425" marB="91425" marR="91425" marL="91425"/>
                </a:tc>
                <a:tc>
                  <a:txBody>
                    <a:bodyPr/>
                    <a:lstStyle/>
                    <a:p>
                      <a:pPr indent="-381000" lvl="0" marL="457200" rtl="0" algn="l">
                        <a:lnSpc>
                          <a:spcPct val="115000"/>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Higher-degree polynomials can overfit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Coefficients can be difficult to interpret individually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Polynomial terms may create multicollinearity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Predictions outside the observed data range can be unreliable.</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he33305f8ebb870c_0_10"/>
          <p:cNvSpPr txBox="1"/>
          <p:nvPr/>
        </p:nvSpPr>
        <p:spPr>
          <a:xfrm>
            <a:off x="443375" y="630400"/>
            <a:ext cx="11438700" cy="5618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US" sz="2400">
                <a:solidFill>
                  <a:schemeClr val="dk1"/>
                </a:solidFill>
                <a:latin typeface="Times New Roman"/>
                <a:ea typeface="Times New Roman"/>
                <a:cs typeface="Times New Roman"/>
                <a:sym typeface="Times New Roman"/>
              </a:rPr>
              <a:t>Role of Least Squares in Regression</a:t>
            </a:r>
            <a:endParaRPr b="1" sz="24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US" sz="2400">
                <a:solidFill>
                  <a:schemeClr val="dk1"/>
                </a:solidFill>
                <a:latin typeface="Times New Roman"/>
                <a:ea typeface="Times New Roman"/>
                <a:cs typeface="Times New Roman"/>
                <a:sym typeface="Times New Roman"/>
              </a:rPr>
              <a:t>To estimate regression coefficients by minimizing the total squared residual error.                 </a:t>
            </a:r>
            <a:endParaRPr sz="24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US" sz="2900">
                <a:solidFill>
                  <a:schemeClr val="dk1"/>
                </a:solidFill>
                <a:latin typeface="Times New Roman"/>
                <a:ea typeface="Times New Roman"/>
                <a:cs typeface="Times New Roman"/>
                <a:sym typeface="Times New Roman"/>
              </a:rPr>
              <a:t>               </a:t>
            </a:r>
            <a:r>
              <a:rPr lang="en-US" sz="2900">
                <a:solidFill>
                  <a:schemeClr val="dk1"/>
                </a:solidFill>
                <a:latin typeface="Times New Roman"/>
                <a:ea typeface="Times New Roman"/>
                <a:cs typeface="Times New Roman"/>
                <a:sym typeface="Times New Roman"/>
              </a:rPr>
              <a:t>e</a:t>
            </a:r>
            <a:r>
              <a:rPr baseline="-25000" lang="en-US" sz="2900">
                <a:solidFill>
                  <a:schemeClr val="dk1"/>
                </a:solidFill>
                <a:latin typeface="Times New Roman"/>
                <a:ea typeface="Times New Roman"/>
                <a:cs typeface="Times New Roman"/>
                <a:sym typeface="Times New Roman"/>
              </a:rPr>
              <a:t>i</a:t>
            </a:r>
            <a:r>
              <a:rPr lang="en-US" sz="2900">
                <a:solidFill>
                  <a:schemeClr val="dk1"/>
                </a:solidFill>
                <a:latin typeface="Times New Roman"/>
                <a:ea typeface="Times New Roman"/>
                <a:cs typeface="Times New Roman"/>
                <a:sym typeface="Times New Roman"/>
              </a:rPr>
              <a:t>= Y</a:t>
            </a:r>
            <a:r>
              <a:rPr baseline="-25000" lang="en-US" sz="2900">
                <a:solidFill>
                  <a:schemeClr val="dk1"/>
                </a:solidFill>
                <a:latin typeface="Times New Roman"/>
                <a:ea typeface="Times New Roman"/>
                <a:cs typeface="Times New Roman"/>
                <a:sym typeface="Times New Roman"/>
              </a:rPr>
              <a:t>i</a:t>
            </a:r>
            <a:r>
              <a:rPr lang="en-US" sz="2900">
                <a:solidFill>
                  <a:schemeClr val="dk1"/>
                </a:solidFill>
                <a:latin typeface="Times New Roman"/>
                <a:ea typeface="Times New Roman"/>
                <a:cs typeface="Times New Roman"/>
                <a:sym typeface="Times New Roman"/>
              </a:rPr>
              <a:t> - Ỹ</a:t>
            </a:r>
            <a:r>
              <a:rPr baseline="-25000" lang="en-US" sz="2900">
                <a:solidFill>
                  <a:schemeClr val="dk1"/>
                </a:solidFill>
                <a:latin typeface="Times New Roman"/>
                <a:ea typeface="Times New Roman"/>
                <a:cs typeface="Times New Roman"/>
                <a:sym typeface="Times New Roman"/>
              </a:rPr>
              <a:t>i     </a:t>
            </a:r>
            <a:r>
              <a:rPr lang="en-US" sz="2900">
                <a:solidFill>
                  <a:schemeClr val="dk1"/>
                </a:solidFill>
                <a:latin typeface="Times New Roman"/>
                <a:ea typeface="Times New Roman"/>
                <a:cs typeface="Times New Roman"/>
                <a:sym typeface="Times New Roman"/>
              </a:rPr>
              <a:t>          min ∑(</a:t>
            </a:r>
            <a:r>
              <a:rPr baseline="-25000" lang="en-US" sz="2900">
                <a:solidFill>
                  <a:schemeClr val="dk1"/>
                </a:solidFill>
                <a:latin typeface="Times New Roman"/>
                <a:ea typeface="Times New Roman"/>
                <a:cs typeface="Times New Roman"/>
                <a:sym typeface="Times New Roman"/>
              </a:rPr>
              <a:t> </a:t>
            </a:r>
            <a:r>
              <a:rPr lang="en-US" sz="2900">
                <a:solidFill>
                  <a:schemeClr val="dk1"/>
                </a:solidFill>
                <a:latin typeface="Times New Roman"/>
                <a:ea typeface="Times New Roman"/>
                <a:cs typeface="Times New Roman"/>
                <a:sym typeface="Times New Roman"/>
              </a:rPr>
              <a:t>e</a:t>
            </a:r>
            <a:r>
              <a:rPr baseline="-25000" lang="en-US" sz="2900">
                <a:solidFill>
                  <a:schemeClr val="dk1"/>
                </a:solidFill>
                <a:latin typeface="Times New Roman"/>
                <a:ea typeface="Times New Roman"/>
                <a:cs typeface="Times New Roman"/>
                <a:sym typeface="Times New Roman"/>
              </a:rPr>
              <a:t>i</a:t>
            </a:r>
            <a:r>
              <a:rPr lang="en-US" sz="2900">
                <a:solidFill>
                  <a:schemeClr val="dk1"/>
                </a:solidFill>
                <a:latin typeface="Times New Roman"/>
                <a:ea typeface="Times New Roman"/>
                <a:cs typeface="Times New Roman"/>
                <a:sym typeface="Times New Roman"/>
              </a:rPr>
              <a:t>)</a:t>
            </a:r>
            <a:r>
              <a:rPr baseline="30000" lang="en-US" sz="2900">
                <a:solidFill>
                  <a:schemeClr val="dk1"/>
                </a:solidFill>
                <a:latin typeface="Times New Roman"/>
                <a:ea typeface="Times New Roman"/>
                <a:cs typeface="Times New Roman"/>
                <a:sym typeface="Times New Roman"/>
              </a:rPr>
              <a:t>2</a:t>
            </a:r>
            <a:endParaRPr baseline="30000" sz="29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b="1" lang="en-US" sz="2400">
                <a:solidFill>
                  <a:schemeClr val="dk1"/>
                </a:solidFill>
                <a:latin typeface="Times New Roman"/>
                <a:ea typeface="Times New Roman"/>
                <a:cs typeface="Times New Roman"/>
                <a:sym typeface="Times New Roman"/>
              </a:rPr>
              <a:t>Least Squares helps to:</a:t>
            </a:r>
            <a:endParaRPr b="1"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120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Estimate regression coefficients</a:t>
            </a:r>
            <a:endParaRPr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Find the best-fitting regression equation</a:t>
            </a:r>
            <a:endParaRPr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Minimize prediction errors in the training data</a:t>
            </a:r>
            <a:endParaRPr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Calculate fitted/predicted values</a:t>
            </a:r>
            <a:endParaRPr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AutoNum type="arabicPeriod"/>
            </a:pPr>
            <a:r>
              <a:rPr lang="en-US" sz="2400">
                <a:solidFill>
                  <a:schemeClr val="dk1"/>
                </a:solidFill>
                <a:latin typeface="Times New Roman"/>
                <a:ea typeface="Times New Roman"/>
                <a:cs typeface="Times New Roman"/>
                <a:sym typeface="Times New Roman"/>
              </a:rPr>
              <a:t>Form the basis of OLS regression</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2400">
                <a:solidFill>
                  <a:schemeClr val="dk1"/>
                </a:solidFill>
                <a:latin typeface="Times New Roman"/>
                <a:ea typeface="Times New Roman"/>
                <a:cs typeface="Times New Roman"/>
                <a:sym typeface="Times New Roman"/>
              </a:rPr>
              <a:t>Least Squares finds the regression model whose sum of squared residuals is minimum.</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1200"/>
              </a:spcAft>
              <a:buNone/>
            </a:pPr>
            <a:r>
              <a:rPr lang="en-US" sz="2400">
                <a:solidFill>
                  <a:schemeClr val="dk1"/>
                </a:solidFill>
                <a:latin typeface="Times New Roman"/>
                <a:ea typeface="Times New Roman"/>
                <a:cs typeface="Times New Roman"/>
                <a:sym typeface="Times New Roman"/>
              </a:rPr>
              <a:t>And OLS (Ordinary Least Squares) simply means applying this least-squares criterion without observation-specific weights.</a:t>
            </a:r>
            <a:endParaRPr baseline="30000" sz="29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nvSpPr>
        <p:spPr>
          <a:xfrm>
            <a:off x="502920" y="228600"/>
            <a:ext cx="11155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63" name="Google Shape;163;p8"/>
          <p:cNvSpPr txBox="1"/>
          <p:nvPr/>
        </p:nvSpPr>
        <p:spPr>
          <a:xfrm>
            <a:off x="348525" y="228610"/>
            <a:ext cx="10789800" cy="1667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US" sz="2000">
                <a:solidFill>
                  <a:schemeClr val="dk1"/>
                </a:solidFill>
              </a:rPr>
              <a:t>Requirements in Regression Model Building</a:t>
            </a:r>
            <a:endParaRPr sz="2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2100">
                <a:solidFill>
                  <a:schemeClr val="dk1"/>
                </a:solidFill>
              </a:rPr>
              <a:t>Building a reliable regression model requires meeting specific data requirements, core statistical assumptions, and preprocessing steps. When these requirements are met, your model produces accurate and unbiased predictions.</a:t>
            </a:r>
            <a:endParaRPr sz="2300"/>
          </a:p>
        </p:txBody>
      </p:sp>
      <p:pic>
        <p:nvPicPr>
          <p:cNvPr id="164" name="Google Shape;164;p8"/>
          <p:cNvPicPr preferRelativeResize="0"/>
          <p:nvPr/>
        </p:nvPicPr>
        <p:blipFill>
          <a:blip r:embed="rId3">
            <a:alphaModFix/>
          </a:blip>
          <a:stretch>
            <a:fillRect/>
          </a:stretch>
        </p:blipFill>
        <p:spPr>
          <a:xfrm>
            <a:off x="6612101" y="2502500"/>
            <a:ext cx="5121100" cy="4208850"/>
          </a:xfrm>
          <a:prstGeom prst="rect">
            <a:avLst/>
          </a:prstGeom>
          <a:noFill/>
          <a:ln>
            <a:noFill/>
          </a:ln>
        </p:spPr>
      </p:pic>
      <p:sp>
        <p:nvSpPr>
          <p:cNvPr id="165" name="Google Shape;165;p8"/>
          <p:cNvSpPr txBox="1"/>
          <p:nvPr/>
        </p:nvSpPr>
        <p:spPr>
          <a:xfrm>
            <a:off x="348525" y="2419550"/>
            <a:ext cx="6603300" cy="400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US" sz="2200">
                <a:solidFill>
                  <a:schemeClr val="dk1"/>
                </a:solidFill>
              </a:rPr>
              <a:t>Data Requirements &amp; Preprocessing</a:t>
            </a:r>
            <a:endParaRPr sz="2200">
              <a:solidFill>
                <a:schemeClr val="dk1"/>
              </a:solidFill>
            </a:endParaRPr>
          </a:p>
          <a:p>
            <a:pPr indent="-349250" lvl="0" marL="457200" rtl="0" algn="l">
              <a:lnSpc>
                <a:spcPct val="115000"/>
              </a:lnSpc>
              <a:spcBef>
                <a:spcPts val="900"/>
              </a:spcBef>
              <a:spcAft>
                <a:spcPts val="0"/>
              </a:spcAft>
              <a:buClr>
                <a:schemeClr val="dk1"/>
              </a:buClr>
              <a:buSzPts val="1900"/>
              <a:buChar char="●"/>
            </a:pPr>
            <a:r>
              <a:rPr b="1" lang="en-US" sz="1900">
                <a:solidFill>
                  <a:schemeClr val="dk1"/>
                </a:solidFill>
              </a:rPr>
              <a:t>Continuous Target Variable:</a:t>
            </a:r>
            <a:r>
              <a:rPr lang="en-US" sz="1900">
                <a:solidFill>
                  <a:schemeClr val="dk1"/>
                </a:solidFill>
              </a:rPr>
              <a:t> Your dependent variable (Y) must be numeric and continuous (like house prices or sales volume).</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Feature Preparation:</a:t>
            </a:r>
            <a:r>
              <a:rPr lang="en-US" sz="1900">
                <a:solidFill>
                  <a:schemeClr val="dk1"/>
                </a:solidFill>
              </a:rPr>
              <a:t> Clean your data by handling missing values, encoding text categories into numbers, and scaling features so large numbers do not overpower smaller ones.</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Train-Test Split:</a:t>
            </a:r>
            <a:r>
              <a:rPr lang="en-US" sz="1900">
                <a:solidFill>
                  <a:schemeClr val="dk1"/>
                </a:solidFill>
              </a:rPr>
              <a:t> Divide your dataset (usually 80% for training and 20% for testing) to evaluate how well the model performs on unseen data. </a:t>
            </a:r>
            <a:endParaRPr sz="21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nvSpPr>
        <p:spPr>
          <a:xfrm>
            <a:off x="191025" y="442953"/>
            <a:ext cx="11824800" cy="6471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US" sz="2300">
                <a:solidFill>
                  <a:schemeClr val="dk1"/>
                </a:solidFill>
              </a:rPr>
              <a:t>Core Statistical Assumptions</a:t>
            </a:r>
            <a:endParaRPr b="1" sz="23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lang="en-US" sz="2000">
                <a:solidFill>
                  <a:schemeClr val="dk1"/>
                </a:solidFill>
              </a:rPr>
              <a:t>Linear regression relies on five main assumptions about your data and error terms (residuals): </a:t>
            </a:r>
            <a:endParaRPr sz="20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Linearity:</a:t>
            </a:r>
            <a:r>
              <a:rPr lang="en-US" sz="2000">
                <a:solidFill>
                  <a:schemeClr val="dk1"/>
                </a:solidFill>
              </a:rPr>
              <a:t> The relationship between independent variables (X) and the dependent variable (Y) must be a straight line.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Independence of Errors:</a:t>
            </a:r>
            <a:r>
              <a:rPr lang="en-US" sz="2000">
                <a:solidFill>
                  <a:schemeClr val="dk1"/>
                </a:solidFill>
              </a:rPr>
              <a:t> Residuals (prediction errors) must be completely uncorrelated with each other (common in non-time-series data).</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Homoscedasticity:</a:t>
            </a:r>
            <a:r>
              <a:rPr lang="en-US" sz="2000">
                <a:solidFill>
                  <a:schemeClr val="dk1"/>
                </a:solidFill>
              </a:rPr>
              <a:t> The variance of the error terms must be constant across all levels of the predictor variables.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Normality of Residuals:</a:t>
            </a:r>
            <a:r>
              <a:rPr lang="en-US" sz="2000">
                <a:solidFill>
                  <a:schemeClr val="dk1"/>
                </a:solidFill>
              </a:rPr>
              <a:t> The error terms should follow a normal distribution (bell-curve shape).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No Multicollinearity:</a:t>
            </a:r>
            <a:r>
              <a:rPr lang="en-US" sz="2000">
                <a:solidFill>
                  <a:schemeClr val="dk1"/>
                </a:solidFill>
              </a:rPr>
              <a:t> Independent variables should not have strong linear correlations with each other</a:t>
            </a:r>
            <a:endParaRPr sz="2000">
              <a:solidFill>
                <a:schemeClr val="dk1"/>
              </a:solidFill>
            </a:endParaRPr>
          </a:p>
          <a:p>
            <a:pPr indent="0" lvl="0" marL="0" rtl="0" algn="l">
              <a:lnSpc>
                <a:spcPct val="115000"/>
              </a:lnSpc>
              <a:spcBef>
                <a:spcPts val="2100"/>
              </a:spcBef>
              <a:spcAft>
                <a:spcPts val="0"/>
              </a:spcAft>
              <a:buNone/>
            </a:pPr>
            <a:r>
              <a:rPr b="1" lang="en-US" sz="2300">
                <a:solidFill>
                  <a:schemeClr val="dk1"/>
                </a:solidFill>
              </a:rPr>
              <a:t>Model Evaluation Metrics</a:t>
            </a:r>
            <a:endParaRPr b="1" sz="2300">
              <a:solidFill>
                <a:schemeClr val="dk1"/>
              </a:solidFill>
            </a:endParaRPr>
          </a:p>
          <a:p>
            <a:pPr indent="-355600" lvl="0" marL="457200" rtl="0" algn="l">
              <a:lnSpc>
                <a:spcPct val="115000"/>
              </a:lnSpc>
              <a:spcBef>
                <a:spcPts val="900"/>
              </a:spcBef>
              <a:spcAft>
                <a:spcPts val="0"/>
              </a:spcAft>
              <a:buClr>
                <a:schemeClr val="dk1"/>
              </a:buClr>
              <a:buSzPts val="2000"/>
              <a:buChar char="●"/>
            </a:pPr>
            <a:r>
              <a:rPr b="1" lang="en-US" sz="2000">
                <a:solidFill>
                  <a:schemeClr val="dk1"/>
                </a:solidFill>
              </a:rPr>
              <a:t>MAE (Mean Absolute Error):</a:t>
            </a:r>
            <a:r>
              <a:rPr lang="en-US" sz="2000">
                <a:solidFill>
                  <a:schemeClr val="dk1"/>
                </a:solidFill>
              </a:rPr>
              <a:t> Measures the average magnitude of absolute errors.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MSE (Mean Squared Error):</a:t>
            </a:r>
            <a:r>
              <a:rPr lang="en-US" sz="2000">
                <a:solidFill>
                  <a:schemeClr val="dk1"/>
                </a:solidFill>
              </a:rPr>
              <a:t> Penalizes larger errors more heavily by squaring them.</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R-squared (R²):</a:t>
            </a:r>
            <a:r>
              <a:rPr lang="en-US" sz="2000">
                <a:solidFill>
                  <a:schemeClr val="dk1"/>
                </a:solidFill>
              </a:rPr>
              <a:t> Represents the proportion of variance in the dependent variable explained by your predictors. </a:t>
            </a:r>
            <a:endParaRPr sz="25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nvSpPr>
        <p:spPr>
          <a:xfrm>
            <a:off x="502920" y="228600"/>
            <a:ext cx="11155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76" name="Google Shape;176;p10"/>
          <p:cNvSpPr txBox="1"/>
          <p:nvPr/>
        </p:nvSpPr>
        <p:spPr>
          <a:xfrm>
            <a:off x="685800" y="1051560"/>
            <a:ext cx="10789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1000"/>
              </a:spcBef>
              <a:spcAft>
                <a:spcPts val="0"/>
              </a:spcAft>
              <a:buNone/>
            </a:pPr>
            <a:r>
              <a:t/>
            </a:r>
            <a:endParaRPr/>
          </a:p>
        </p:txBody>
      </p:sp>
      <p:sp>
        <p:nvSpPr>
          <p:cNvPr id="177" name="Google Shape;177;p10"/>
          <p:cNvSpPr txBox="1"/>
          <p:nvPr/>
        </p:nvSpPr>
        <p:spPr>
          <a:xfrm>
            <a:off x="316850" y="316850"/>
            <a:ext cx="7649100" cy="294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3500">
                <a:solidFill>
                  <a:schemeClr val="dk1"/>
                </a:solidFill>
              </a:rPr>
              <a:t>What is Model Diagnostics? Ask - </a:t>
            </a:r>
            <a:r>
              <a:rPr lang="en-US" sz="2300">
                <a:solidFill>
                  <a:schemeClr val="dk1"/>
                </a:solidFill>
              </a:rPr>
              <a:t>   </a:t>
            </a:r>
            <a:r>
              <a:rPr b="1" lang="en-US" sz="2300">
                <a:solidFill>
                  <a:schemeClr val="dk1"/>
                </a:solidFill>
              </a:rPr>
              <a:t>"Is my model behaving properly?"</a:t>
            </a:r>
            <a:endParaRPr b="1" sz="3500">
              <a:solidFill>
                <a:schemeClr val="dk1"/>
              </a:solidFill>
            </a:endParaRPr>
          </a:p>
          <a:p>
            <a:pPr indent="0" lvl="0" marL="0" rtl="0" algn="l">
              <a:lnSpc>
                <a:spcPct val="115000"/>
              </a:lnSpc>
              <a:spcBef>
                <a:spcPts val="1200"/>
              </a:spcBef>
              <a:spcAft>
                <a:spcPts val="1200"/>
              </a:spcAft>
              <a:buNone/>
            </a:pPr>
            <a:r>
              <a:rPr lang="en-US" sz="2300">
                <a:solidFill>
                  <a:schemeClr val="dk1"/>
                </a:solidFill>
              </a:rPr>
              <a:t>    </a:t>
            </a:r>
            <a:r>
              <a:rPr lang="en-US" sz="2300">
                <a:solidFill>
                  <a:schemeClr val="dk1"/>
                </a:solidFill>
              </a:rPr>
              <a:t>Model diagnostics is the process of checking whether a fitted regression model is appropriate, reliable, and satisfies the assumptions required for valid interpretation and inference.</a:t>
            </a:r>
            <a:endParaRPr sz="1100">
              <a:solidFill>
                <a:schemeClr val="dk1"/>
              </a:solidFill>
            </a:endParaRPr>
          </a:p>
        </p:txBody>
      </p:sp>
      <p:pic>
        <p:nvPicPr>
          <p:cNvPr id="178" name="Google Shape;178;p10"/>
          <p:cNvPicPr preferRelativeResize="0"/>
          <p:nvPr/>
        </p:nvPicPr>
        <p:blipFill>
          <a:blip r:embed="rId3">
            <a:alphaModFix/>
          </a:blip>
          <a:stretch>
            <a:fillRect/>
          </a:stretch>
        </p:blipFill>
        <p:spPr>
          <a:xfrm>
            <a:off x="8333851" y="536402"/>
            <a:ext cx="3141750" cy="61987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nvSpPr>
        <p:spPr>
          <a:xfrm>
            <a:off x="502920" y="228600"/>
            <a:ext cx="11155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84" name="Google Shape;184;p11"/>
          <p:cNvSpPr txBox="1"/>
          <p:nvPr/>
        </p:nvSpPr>
        <p:spPr>
          <a:xfrm>
            <a:off x="630400" y="536399"/>
            <a:ext cx="10845300" cy="4807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Model Building: A Practical Workflow:</a:t>
            </a:r>
            <a:endParaRPr b="1" sz="28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1. Define the prediction/problem objective</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2. Collect and understand the data</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3. Clean and prepare variables</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4. Explore relationships and visualize</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5. Select/build the regression model</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6. Estimate coefficients</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7. Diagnose and evaluate the model</a:t>
            </a:r>
            <a:endParaRPr sz="2400"/>
          </a:p>
          <a:p>
            <a:pPr indent="0" lvl="0" marL="0" marR="0" rtl="0" algn="l">
              <a:spcBef>
                <a:spcPts val="1000"/>
              </a:spcBef>
              <a:spcAft>
                <a:spcPts val="0"/>
              </a:spcAft>
              <a:buNone/>
            </a:pPr>
            <a:r>
              <a:rPr b="0" i="0" lang="en-US" sz="2400" u="none" cap="none" strike="noStrike">
                <a:solidFill>
                  <a:schemeClr val="dk1"/>
                </a:solidFill>
                <a:latin typeface="Calibri"/>
                <a:ea typeface="Calibri"/>
                <a:cs typeface="Calibri"/>
                <a:sym typeface="Calibri"/>
              </a:rPr>
              <a:t>8. Interpret results and make predictions</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h609d645b367ca6be_0_2"/>
          <p:cNvSpPr txBox="1"/>
          <p:nvPr/>
        </p:nvSpPr>
        <p:spPr>
          <a:xfrm>
            <a:off x="0" y="0"/>
            <a:ext cx="11795100" cy="33816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Interpretation of Regression Results for Management Decision</a:t>
            </a:r>
            <a:endParaRPr b="1" sz="1900">
              <a:solidFill>
                <a:schemeClr val="dk1"/>
              </a:solidFill>
            </a:endParaRPr>
          </a:p>
          <a:p>
            <a:pPr indent="0" lvl="0" marL="0" rtl="0" algn="l">
              <a:lnSpc>
                <a:spcPct val="115000"/>
              </a:lnSpc>
              <a:spcBef>
                <a:spcPts val="1200"/>
              </a:spcBef>
              <a:spcAft>
                <a:spcPts val="0"/>
              </a:spcAft>
              <a:buNone/>
            </a:pPr>
            <a:r>
              <a:rPr lang="en-US" sz="2000">
                <a:solidFill>
                  <a:schemeClr val="dk1"/>
                </a:solidFill>
              </a:rPr>
              <a:t>Regression analysis helps managers look at data to predict future results and make smart choices</a:t>
            </a:r>
            <a:r>
              <a:rPr lang="en-US" sz="1900">
                <a:solidFill>
                  <a:schemeClr val="dk1"/>
                </a:solidFill>
              </a:rPr>
              <a:t>. When you run a regression model in predictive analysis, </a:t>
            </a:r>
            <a:r>
              <a:rPr lang="en-US" sz="2000">
                <a:solidFill>
                  <a:schemeClr val="dk1"/>
                </a:solidFill>
              </a:rPr>
              <a:t>the numbers tell a story about how different factors affect your business goal</a:t>
            </a:r>
            <a:r>
              <a:rPr lang="en-US" sz="1900">
                <a:solidFill>
                  <a:schemeClr val="dk1"/>
                </a:solidFill>
              </a:rPr>
              <a:t> </a:t>
            </a:r>
            <a:endParaRPr sz="1900">
              <a:solidFill>
                <a:schemeClr val="dk1"/>
              </a:solidFill>
            </a:endParaRPr>
          </a:p>
          <a:p>
            <a:pPr indent="0" lvl="0" marL="0" rtl="0" algn="l">
              <a:lnSpc>
                <a:spcPct val="115000"/>
              </a:lnSpc>
              <a:spcBef>
                <a:spcPts val="1200"/>
              </a:spcBef>
              <a:spcAft>
                <a:spcPts val="0"/>
              </a:spcAft>
              <a:buNone/>
            </a:pPr>
            <a:r>
              <a:rPr lang="en-US" sz="1900">
                <a:solidFill>
                  <a:schemeClr val="dk1"/>
                </a:solidFill>
              </a:rPr>
              <a:t>  </a:t>
            </a:r>
            <a:r>
              <a:rPr b="1" lang="en-US" sz="2100">
                <a:solidFill>
                  <a:schemeClr val="dk1"/>
                </a:solidFill>
              </a:rPr>
              <a:t>Example: Predicting Final Examination Marks: </a:t>
            </a:r>
            <a:r>
              <a:rPr lang="en-US" sz="1900">
                <a:solidFill>
                  <a:schemeClr val="dk1"/>
                </a:solidFill>
              </a:rPr>
              <a:t> </a:t>
            </a:r>
            <a:r>
              <a:rPr b="1" lang="en-US" sz="1900">
                <a:solidFill>
                  <a:schemeClr val="dk1"/>
                </a:solidFill>
              </a:rPr>
              <a:t>Study Hours, Attendance (%), Internal Assessment Marks</a:t>
            </a:r>
            <a:endParaRPr b="1" sz="1900">
              <a:solidFill>
                <a:schemeClr val="dk1"/>
              </a:solidFill>
            </a:endParaRPr>
          </a:p>
          <a:p>
            <a:pPr indent="0" lvl="0" marL="0" rtl="0" algn="l">
              <a:lnSpc>
                <a:spcPct val="115000"/>
              </a:lnSpc>
              <a:spcBef>
                <a:spcPts val="1200"/>
              </a:spcBef>
              <a:spcAft>
                <a:spcPts val="1200"/>
              </a:spcAft>
              <a:buNone/>
            </a:pPr>
            <a:r>
              <a:rPr lang="en-US" sz="1900">
                <a:solidFill>
                  <a:schemeClr val="dk1"/>
                </a:solidFill>
              </a:rPr>
              <a:t>Suppose the fitted regression model is: Final Marks=20+5(Study Hours)+0.3(Attendance)+0.6(Internal Marks) </a:t>
            </a:r>
            <a:endParaRPr sz="1900">
              <a:solidFill>
                <a:schemeClr val="dk1"/>
              </a:solidFill>
            </a:endParaRPr>
          </a:p>
        </p:txBody>
      </p:sp>
      <p:graphicFrame>
        <p:nvGraphicFramePr>
          <p:cNvPr id="190" name="Google Shape;190;h609d645b367ca6be_0_2"/>
          <p:cNvGraphicFramePr/>
          <p:nvPr/>
        </p:nvGraphicFramePr>
        <p:xfrm>
          <a:off x="227963" y="3381575"/>
          <a:ext cx="3000000" cy="3000000"/>
        </p:xfrm>
        <a:graphic>
          <a:graphicData uri="http://schemas.openxmlformats.org/drawingml/2006/table">
            <a:tbl>
              <a:tblPr>
                <a:noFill/>
                <a:tableStyleId>{AABB5EDB-FB31-46EC-9822-BB6EADF0BBC1}</a:tableStyleId>
              </a:tblPr>
              <a:tblGrid>
                <a:gridCol w="2093400"/>
                <a:gridCol w="1698350"/>
                <a:gridCol w="7849375"/>
              </a:tblGrid>
              <a:tr h="526075">
                <a:tc>
                  <a:txBody>
                    <a:bodyPr/>
                    <a:lstStyle/>
                    <a:p>
                      <a:pPr indent="0" lvl="0" marL="0" rtl="0" algn="l">
                        <a:spcBef>
                          <a:spcPts val="0"/>
                        </a:spcBef>
                        <a:spcAft>
                          <a:spcPts val="0"/>
                        </a:spcAft>
                        <a:buNone/>
                      </a:pPr>
                      <a:r>
                        <a:rPr b="1" lang="en-US" sz="1800"/>
                        <a:t>Variable </a:t>
                      </a:r>
                      <a:endParaRPr b="1"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800"/>
                        <a:t>Coefficient</a:t>
                      </a:r>
                      <a:endParaRPr b="1"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800"/>
                        <a:t>Interpretation</a:t>
                      </a:r>
                      <a:endParaRPr b="1"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1825">
                <a:tc>
                  <a:txBody>
                    <a:bodyPr/>
                    <a:lstStyle/>
                    <a:p>
                      <a:pPr indent="0" lvl="0" marL="0" rtl="0" algn="l">
                        <a:spcBef>
                          <a:spcPts val="0"/>
                        </a:spcBef>
                        <a:spcAft>
                          <a:spcPts val="0"/>
                        </a:spcAft>
                        <a:buNone/>
                      </a:pPr>
                      <a:r>
                        <a:rPr lang="en-US" sz="1800"/>
                        <a:t>Intercept</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20</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Predicted marks when all predictors are zero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6375">
                <a:tc>
                  <a:txBody>
                    <a:bodyPr/>
                    <a:lstStyle/>
                    <a:p>
                      <a:pPr indent="0" lvl="0" marL="0" rtl="0" algn="l">
                        <a:spcBef>
                          <a:spcPts val="0"/>
                        </a:spcBef>
                        <a:spcAft>
                          <a:spcPts val="0"/>
                        </a:spcAft>
                        <a:buNone/>
                      </a:pPr>
                      <a:r>
                        <a:rPr lang="en-US" sz="1800"/>
                        <a:t>Study Hours</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+5</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solidFill>
                            <a:schemeClr val="dk1"/>
                          </a:solidFill>
                        </a:rPr>
                        <a:t>For every additional hour of study, predicted marks increase by </a:t>
                      </a:r>
                      <a:r>
                        <a:rPr b="1" lang="en-US" sz="1800">
                          <a:solidFill>
                            <a:schemeClr val="dk1"/>
                          </a:solidFill>
                        </a:rPr>
                        <a:t>5 marks</a:t>
                      </a:r>
                      <a:r>
                        <a:rPr lang="en-US" sz="1800">
                          <a:solidFill>
                            <a:schemeClr val="dk1"/>
                          </a:solidFill>
                        </a:rPr>
                        <a:t>, keeping other variables constant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90100">
                <a:tc>
                  <a:txBody>
                    <a:bodyPr/>
                    <a:lstStyle/>
                    <a:p>
                      <a:pPr indent="0" lvl="0" marL="0" rtl="0" algn="l">
                        <a:spcBef>
                          <a:spcPts val="0"/>
                        </a:spcBef>
                        <a:spcAft>
                          <a:spcPts val="0"/>
                        </a:spcAft>
                        <a:buNone/>
                      </a:pPr>
                      <a:r>
                        <a:rPr lang="en-US" sz="1800"/>
                        <a:t>Attendance</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+0.3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solidFill>
                            <a:schemeClr val="dk1"/>
                          </a:solidFill>
                        </a:rPr>
                        <a:t>A 1% increase in attendance is associated with </a:t>
                      </a:r>
                      <a:r>
                        <a:rPr b="1" lang="en-US" sz="1800">
                          <a:solidFill>
                            <a:schemeClr val="dk1"/>
                          </a:solidFill>
                        </a:rPr>
                        <a:t>0.3 additional predicted marks</a:t>
                      </a:r>
                      <a:r>
                        <a:rPr lang="en-US" sz="1800">
                          <a:solidFill>
                            <a:schemeClr val="dk1"/>
                          </a:solidFill>
                        </a:rPr>
                        <a:t>, keeping other variables constant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73250">
                <a:tc>
                  <a:txBody>
                    <a:bodyPr/>
                    <a:lstStyle/>
                    <a:p>
                      <a:pPr indent="0" lvl="0" marL="0" rtl="0" algn="l">
                        <a:spcBef>
                          <a:spcPts val="0"/>
                        </a:spcBef>
                        <a:spcAft>
                          <a:spcPts val="0"/>
                        </a:spcAft>
                        <a:buNone/>
                      </a:pPr>
                      <a:r>
                        <a:rPr lang="en-US" sz="1800"/>
                        <a:t>Internal marks</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+0.6</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solidFill>
                            <a:schemeClr val="dk1"/>
                          </a:solidFill>
                        </a:rPr>
                        <a:t>Each additional internal mark is associated with </a:t>
                      </a:r>
                      <a:r>
                        <a:rPr b="1" lang="en-US" sz="1800">
                          <a:solidFill>
                            <a:schemeClr val="dk1"/>
                          </a:solidFill>
                        </a:rPr>
                        <a:t>0.6 additional predicted final marks</a:t>
                      </a:r>
                      <a:r>
                        <a:rPr lang="en-US" sz="1800">
                          <a:solidFill>
                            <a:schemeClr val="dk1"/>
                          </a:solidFill>
                        </a:rPr>
                        <a:t>, keeping other variables constant </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h609d645b367ca6be_0_33"/>
          <p:cNvSpPr txBox="1"/>
          <p:nvPr/>
        </p:nvSpPr>
        <p:spPr>
          <a:xfrm>
            <a:off x="0" y="0"/>
            <a:ext cx="11525400" cy="402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100">
                <a:solidFill>
                  <a:schemeClr val="dk1"/>
                </a:solidFill>
              </a:rPr>
              <a:t>Example Prediction</a:t>
            </a:r>
            <a:endParaRPr b="1" sz="2100">
              <a:solidFill>
                <a:schemeClr val="dk1"/>
              </a:solidFill>
            </a:endParaRPr>
          </a:p>
          <a:p>
            <a:pPr indent="0" lvl="0" marL="0" rtl="0" algn="l">
              <a:lnSpc>
                <a:spcPct val="115000"/>
              </a:lnSpc>
              <a:spcBef>
                <a:spcPts val="1200"/>
              </a:spcBef>
              <a:spcAft>
                <a:spcPts val="0"/>
              </a:spcAft>
              <a:buNone/>
            </a:pPr>
            <a:r>
              <a:rPr lang="en-US" sz="1900">
                <a:solidFill>
                  <a:schemeClr val="dk1"/>
                </a:solidFill>
              </a:rPr>
              <a:t>For a student with: Study Hours = </a:t>
            </a:r>
            <a:r>
              <a:rPr b="1" lang="en-US" sz="1900">
                <a:solidFill>
                  <a:schemeClr val="dk1"/>
                </a:solidFill>
              </a:rPr>
              <a:t>6, </a:t>
            </a:r>
            <a:r>
              <a:rPr lang="en-US" sz="1900">
                <a:solidFill>
                  <a:schemeClr val="dk1"/>
                </a:solidFill>
              </a:rPr>
              <a:t>Attendance = </a:t>
            </a:r>
            <a:r>
              <a:rPr b="1" lang="en-US" sz="1900">
                <a:solidFill>
                  <a:schemeClr val="dk1"/>
                </a:solidFill>
              </a:rPr>
              <a:t>80%,   </a:t>
            </a:r>
            <a:r>
              <a:rPr lang="en-US" sz="1900">
                <a:solidFill>
                  <a:schemeClr val="dk1"/>
                </a:solidFill>
              </a:rPr>
              <a:t>Internal Marks = </a:t>
            </a:r>
            <a:r>
              <a:rPr b="1" lang="en-US" sz="1900">
                <a:solidFill>
                  <a:schemeClr val="dk1"/>
                </a:solidFill>
              </a:rPr>
              <a:t>25</a:t>
            </a:r>
            <a:endParaRPr b="1" sz="1900">
              <a:solidFill>
                <a:schemeClr val="dk1"/>
              </a:solidFill>
            </a:endParaRPr>
          </a:p>
          <a:p>
            <a:pPr indent="0" lvl="0" marL="0" rtl="0" algn="l">
              <a:lnSpc>
                <a:spcPct val="115000"/>
              </a:lnSpc>
              <a:spcBef>
                <a:spcPts val="1200"/>
              </a:spcBef>
              <a:spcAft>
                <a:spcPts val="0"/>
              </a:spcAft>
              <a:buNone/>
            </a:pPr>
            <a:r>
              <a:rPr b="1" lang="en-US" sz="1900">
                <a:solidFill>
                  <a:schemeClr val="dk1"/>
                </a:solidFill>
              </a:rPr>
              <a:t>Final Marks=20+5(6)+0.3(80)+0.6(25) =20+30+24+15 = 89 Marks.</a:t>
            </a:r>
            <a:endParaRPr sz="1900">
              <a:solidFill>
                <a:schemeClr val="dk1"/>
              </a:solidFill>
            </a:endParaRPr>
          </a:p>
          <a:p>
            <a:pPr indent="0" lvl="0" marL="0" rtl="0" algn="l">
              <a:lnSpc>
                <a:spcPct val="115000"/>
              </a:lnSpc>
              <a:spcBef>
                <a:spcPts val="1200"/>
              </a:spcBef>
              <a:spcAft>
                <a:spcPts val="0"/>
              </a:spcAft>
              <a:buNone/>
            </a:pPr>
            <a:r>
              <a:rPr b="1" lang="en-US" sz="1900">
                <a:solidFill>
                  <a:schemeClr val="dk1"/>
                </a:solidFill>
              </a:rPr>
              <a:t>Interpretation:</a:t>
            </a:r>
            <a:r>
              <a:rPr lang="en-US" sz="1900">
                <a:solidFill>
                  <a:schemeClr val="dk1"/>
                </a:solidFill>
              </a:rPr>
              <a:t> The model predicts approximately </a:t>
            </a:r>
            <a:r>
              <a:rPr b="1" lang="en-US" sz="1900">
                <a:solidFill>
                  <a:schemeClr val="dk1"/>
                </a:solidFill>
              </a:rPr>
              <a:t>89 marks</a:t>
            </a:r>
            <a:r>
              <a:rPr lang="en-US" sz="1900">
                <a:solidFill>
                  <a:schemeClr val="dk1"/>
                </a:solidFill>
              </a:rPr>
              <a:t> for this student.</a:t>
            </a:r>
            <a:endParaRPr sz="1900">
              <a:solidFill>
                <a:schemeClr val="dk1"/>
              </a:solidFill>
            </a:endParaRPr>
          </a:p>
          <a:p>
            <a:pPr indent="0" lvl="0" marL="0" rtl="0" algn="l">
              <a:lnSpc>
                <a:spcPct val="115000"/>
              </a:lnSpc>
              <a:spcBef>
                <a:spcPts val="1200"/>
              </a:spcBef>
              <a:spcAft>
                <a:spcPts val="0"/>
              </a:spcAft>
              <a:buNone/>
            </a:pPr>
            <a:r>
              <a:rPr lang="en-US" sz="1900">
                <a:solidFill>
                  <a:schemeClr val="dk1"/>
                </a:solidFill>
              </a:rPr>
              <a:t>"Regression converts student-related information into a predicted academic outcome. The coefficients tell us how each predictor is associated with the predicted marks." </a:t>
            </a:r>
            <a:endParaRPr sz="1900">
              <a:solidFill>
                <a:schemeClr val="dk1"/>
              </a:solidFill>
            </a:endParaRPr>
          </a:p>
          <a:p>
            <a:pPr indent="0" lvl="0" marL="0" rtl="0" algn="l">
              <a:lnSpc>
                <a:spcPct val="115000"/>
              </a:lnSpc>
              <a:spcBef>
                <a:spcPts val="1800"/>
              </a:spcBef>
              <a:spcAft>
                <a:spcPts val="0"/>
              </a:spcAft>
              <a:buNone/>
            </a:pPr>
            <a:r>
              <a:rPr b="1" lang="en-US" sz="2500">
                <a:solidFill>
                  <a:schemeClr val="dk1"/>
                </a:solidFill>
              </a:rPr>
              <a:t>From Regression Results to Academic Decision</a:t>
            </a:r>
            <a:endParaRPr b="1" sz="2500">
              <a:solidFill>
                <a:schemeClr val="dk1"/>
              </a:solidFill>
            </a:endParaRPr>
          </a:p>
          <a:p>
            <a:pPr indent="0" lvl="0" marL="0" rtl="0" algn="l">
              <a:lnSpc>
                <a:spcPct val="115000"/>
              </a:lnSpc>
              <a:spcBef>
                <a:spcPts val="1400"/>
              </a:spcBef>
              <a:spcAft>
                <a:spcPts val="400"/>
              </a:spcAft>
              <a:buNone/>
            </a:pPr>
            <a:r>
              <a:rPr b="1" lang="en-US" sz="2100">
                <a:solidFill>
                  <a:schemeClr val="dk1"/>
                </a:solidFill>
              </a:rPr>
              <a:t>How can the institution use the results?</a:t>
            </a:r>
            <a:endParaRPr sz="1900">
              <a:solidFill>
                <a:schemeClr val="dk1"/>
              </a:solidFill>
            </a:endParaRPr>
          </a:p>
        </p:txBody>
      </p:sp>
      <p:graphicFrame>
        <p:nvGraphicFramePr>
          <p:cNvPr id="196" name="Google Shape;196;h609d645b367ca6be_0_33"/>
          <p:cNvGraphicFramePr/>
          <p:nvPr/>
        </p:nvGraphicFramePr>
        <p:xfrm>
          <a:off x="750288" y="4029899"/>
          <a:ext cx="3000000" cy="3000000"/>
        </p:xfrm>
        <a:graphic>
          <a:graphicData uri="http://schemas.openxmlformats.org/drawingml/2006/table">
            <a:tbl>
              <a:tblPr>
                <a:noFill/>
                <a:tableStyleId>{AABB5EDB-FB31-46EC-9822-BB6EADF0BBC1}</a:tableStyleId>
              </a:tblPr>
              <a:tblGrid>
                <a:gridCol w="2940250"/>
                <a:gridCol w="1895550"/>
                <a:gridCol w="5450900"/>
              </a:tblGrid>
              <a:tr h="381000">
                <a:tc>
                  <a:txBody>
                    <a:bodyPr/>
                    <a:lstStyle/>
                    <a:p>
                      <a:pPr indent="0" lvl="0" marL="0" rtl="0" algn="l">
                        <a:spcBef>
                          <a:spcPts val="0"/>
                        </a:spcBef>
                        <a:spcAft>
                          <a:spcPts val="0"/>
                        </a:spcAft>
                        <a:buNone/>
                      </a:pPr>
                      <a:r>
                        <a:rPr b="1" lang="en-US" sz="2000"/>
                        <a:t>Model Measure</a:t>
                      </a:r>
                      <a:endParaRPr b="1" sz="2000"/>
                    </a:p>
                  </a:txBody>
                  <a:tcPr marT="91425" marB="91425" marR="91425" marL="91425"/>
                </a:tc>
                <a:tc>
                  <a:txBody>
                    <a:bodyPr/>
                    <a:lstStyle/>
                    <a:p>
                      <a:pPr indent="0" lvl="0" marL="0" rtl="0" algn="l">
                        <a:spcBef>
                          <a:spcPts val="0"/>
                        </a:spcBef>
                        <a:spcAft>
                          <a:spcPts val="0"/>
                        </a:spcAft>
                        <a:buNone/>
                      </a:pPr>
                      <a:r>
                        <a:rPr b="1" lang="en-US" sz="2000"/>
                        <a:t>Result</a:t>
                      </a:r>
                      <a:endParaRPr b="1" sz="2000"/>
                    </a:p>
                  </a:txBody>
                  <a:tcPr marT="91425" marB="91425" marR="91425" marL="91425"/>
                </a:tc>
                <a:tc>
                  <a:txBody>
                    <a:bodyPr/>
                    <a:lstStyle/>
                    <a:p>
                      <a:pPr indent="0" lvl="0" marL="0" rtl="0" algn="l">
                        <a:spcBef>
                          <a:spcPts val="0"/>
                        </a:spcBef>
                        <a:spcAft>
                          <a:spcPts val="0"/>
                        </a:spcAft>
                        <a:buNone/>
                      </a:pPr>
                      <a:r>
                        <a:rPr b="1" lang="en-US" sz="2000"/>
                        <a:t>Interpretation</a:t>
                      </a:r>
                      <a:endParaRPr b="1" sz="2000"/>
                    </a:p>
                  </a:txBody>
                  <a:tcPr marT="91425" marB="91425" marR="91425" marL="91425"/>
                </a:tc>
              </a:tr>
              <a:tr h="381000">
                <a:tc>
                  <a:txBody>
                    <a:bodyPr/>
                    <a:lstStyle/>
                    <a:p>
                      <a:pPr indent="0" lvl="0" marL="0" rtl="0" algn="l">
                        <a:spcBef>
                          <a:spcPts val="0"/>
                        </a:spcBef>
                        <a:spcAft>
                          <a:spcPts val="0"/>
                        </a:spcAft>
                        <a:buNone/>
                      </a:pPr>
                      <a:r>
                        <a:rPr lang="en-US" sz="2000"/>
                        <a:t>R</a:t>
                      </a:r>
                      <a:r>
                        <a:rPr baseline="30000" lang="en-US" sz="2000"/>
                        <a:t>2</a:t>
                      </a:r>
                      <a:endParaRPr baseline="30000" sz="2000"/>
                    </a:p>
                  </a:txBody>
                  <a:tcPr marT="91425" marB="91425" marR="91425" marL="91425"/>
                </a:tc>
                <a:tc>
                  <a:txBody>
                    <a:bodyPr/>
                    <a:lstStyle/>
                    <a:p>
                      <a:pPr indent="0" lvl="0" marL="0" rtl="0" algn="l">
                        <a:spcBef>
                          <a:spcPts val="0"/>
                        </a:spcBef>
                        <a:spcAft>
                          <a:spcPts val="0"/>
                        </a:spcAft>
                        <a:buNone/>
                      </a:pPr>
                      <a:r>
                        <a:rPr lang="en-US" sz="2000"/>
                        <a:t>0.78</a:t>
                      </a:r>
                      <a:endParaRPr sz="2000"/>
                    </a:p>
                  </a:txBody>
                  <a:tcPr marT="91425" marB="91425" marR="91425" marL="91425"/>
                </a:tc>
                <a:tc>
                  <a:txBody>
                    <a:bodyPr/>
                    <a:lstStyle/>
                    <a:p>
                      <a:pPr indent="0" lvl="0" marL="0" rtl="0" algn="l">
                        <a:spcBef>
                          <a:spcPts val="0"/>
                        </a:spcBef>
                        <a:spcAft>
                          <a:spcPts val="0"/>
                        </a:spcAft>
                        <a:buNone/>
                      </a:pPr>
                      <a:r>
                        <a:rPr lang="en-US" sz="2000"/>
                        <a:t>78% of the variation in observed final marks is explained by the predictors in this fitted model </a:t>
                      </a:r>
                      <a:endParaRPr sz="2000"/>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sz="2000">
                          <a:solidFill>
                            <a:schemeClr val="dk1"/>
                          </a:solidFill>
                        </a:rPr>
                        <a:t>Adjusted </a:t>
                      </a:r>
                      <a:r>
                        <a:rPr lang="en-US" sz="2000">
                          <a:solidFill>
                            <a:schemeClr val="dk1"/>
                          </a:solidFill>
                        </a:rPr>
                        <a:t>R</a:t>
                      </a:r>
                      <a:r>
                        <a:rPr baseline="30000" lang="en-US" sz="2000">
                          <a:solidFill>
                            <a:schemeClr val="dk1"/>
                          </a:solidFill>
                        </a:rPr>
                        <a:t>2</a:t>
                      </a:r>
                      <a:endParaRPr sz="2000"/>
                    </a:p>
                  </a:txBody>
                  <a:tcPr marT="91425" marB="91425" marR="91425" marL="91425"/>
                </a:tc>
                <a:tc>
                  <a:txBody>
                    <a:bodyPr/>
                    <a:lstStyle/>
                    <a:p>
                      <a:pPr indent="0" lvl="0" marL="0" rtl="0" algn="l">
                        <a:spcBef>
                          <a:spcPts val="0"/>
                        </a:spcBef>
                        <a:spcAft>
                          <a:spcPts val="0"/>
                        </a:spcAft>
                        <a:buNone/>
                      </a:pPr>
                      <a:r>
                        <a:rPr lang="en-US" sz="2000"/>
                        <a:t>0.75</a:t>
                      </a:r>
                      <a:endParaRPr sz="2000"/>
                    </a:p>
                  </a:txBody>
                  <a:tcPr marT="91425" marB="91425" marR="91425" marL="91425"/>
                </a:tc>
                <a:tc>
                  <a:txBody>
                    <a:bodyPr/>
                    <a:lstStyle/>
                    <a:p>
                      <a:pPr indent="0" lvl="0" marL="0" rtl="0" algn="l">
                        <a:spcBef>
                          <a:spcPts val="0"/>
                        </a:spcBef>
                        <a:spcAft>
                          <a:spcPts val="0"/>
                        </a:spcAft>
                        <a:buNone/>
                      </a:pPr>
                      <a:r>
                        <a:rPr lang="en-US" sz="2000"/>
                        <a:t>Model fit after accounting for the number of predictors </a:t>
                      </a:r>
                      <a:endParaRPr sz="2000"/>
                    </a:p>
                  </a:txBody>
                  <a:tcPr marT="91425" marB="91425" marR="91425" marL="91425"/>
                </a:tc>
              </a:tr>
              <a:tr h="381000">
                <a:tc>
                  <a:txBody>
                    <a:bodyPr/>
                    <a:lstStyle/>
                    <a:p>
                      <a:pPr indent="0" lvl="0" marL="0" rtl="0" algn="l">
                        <a:spcBef>
                          <a:spcPts val="0"/>
                        </a:spcBef>
                        <a:spcAft>
                          <a:spcPts val="0"/>
                        </a:spcAft>
                        <a:buNone/>
                      </a:pPr>
                      <a:r>
                        <a:rPr lang="en-US" sz="2000"/>
                        <a:t>RMSE</a:t>
                      </a:r>
                      <a:endParaRPr sz="2000"/>
                    </a:p>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rPr lang="en-US" sz="2000"/>
                        <a:t>5.2 Marks</a:t>
                      </a:r>
                      <a:endParaRPr sz="2000"/>
                    </a:p>
                  </a:txBody>
                  <a:tcPr marT="91425" marB="91425" marR="91425" marL="91425"/>
                </a:tc>
                <a:tc>
                  <a:txBody>
                    <a:bodyPr/>
                    <a:lstStyle/>
                    <a:p>
                      <a:pPr indent="0" lvl="0" marL="0" rtl="0" algn="l">
                        <a:spcBef>
                          <a:spcPts val="0"/>
                        </a:spcBef>
                        <a:spcAft>
                          <a:spcPts val="0"/>
                        </a:spcAft>
                        <a:buNone/>
                      </a:pPr>
                      <a:r>
                        <a:rPr lang="en-US" sz="2000"/>
                        <a:t>Typical prediction error summarized in marks </a:t>
                      </a:r>
                      <a:endParaRPr sz="2000"/>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graphicFrame>
        <p:nvGraphicFramePr>
          <p:cNvPr id="201" name="Google Shape;201;h609d645b367ca6be_0_50"/>
          <p:cNvGraphicFramePr/>
          <p:nvPr/>
        </p:nvGraphicFramePr>
        <p:xfrm>
          <a:off x="690713" y="408923"/>
          <a:ext cx="3000000" cy="3000000"/>
        </p:xfrm>
        <a:graphic>
          <a:graphicData uri="http://schemas.openxmlformats.org/drawingml/2006/table">
            <a:tbl>
              <a:tblPr>
                <a:noFill/>
                <a:tableStyleId>{AABB5EDB-FB31-46EC-9822-BB6EADF0BBC1}</a:tableStyleId>
              </a:tblPr>
              <a:tblGrid>
                <a:gridCol w="2940250"/>
                <a:gridCol w="1895550"/>
                <a:gridCol w="5450900"/>
              </a:tblGrid>
              <a:tr h="381000">
                <a:tc>
                  <a:txBody>
                    <a:bodyPr/>
                    <a:lstStyle/>
                    <a:p>
                      <a:pPr indent="0" lvl="0" marL="0" rtl="0" algn="l">
                        <a:spcBef>
                          <a:spcPts val="0"/>
                        </a:spcBef>
                        <a:spcAft>
                          <a:spcPts val="0"/>
                        </a:spcAft>
                        <a:buNone/>
                      </a:pPr>
                      <a:r>
                        <a:rPr b="1" lang="en-US" sz="2000"/>
                        <a:t>Model Measure</a:t>
                      </a:r>
                      <a:endParaRPr b="1" sz="2000"/>
                    </a:p>
                  </a:txBody>
                  <a:tcPr marT="91425" marB="91425" marR="91425" marL="91425"/>
                </a:tc>
                <a:tc>
                  <a:txBody>
                    <a:bodyPr/>
                    <a:lstStyle/>
                    <a:p>
                      <a:pPr indent="0" lvl="0" marL="0" rtl="0" algn="l">
                        <a:spcBef>
                          <a:spcPts val="0"/>
                        </a:spcBef>
                        <a:spcAft>
                          <a:spcPts val="0"/>
                        </a:spcAft>
                        <a:buNone/>
                      </a:pPr>
                      <a:r>
                        <a:rPr b="1" lang="en-US" sz="2000"/>
                        <a:t>Result</a:t>
                      </a:r>
                      <a:endParaRPr b="1" sz="2000"/>
                    </a:p>
                  </a:txBody>
                  <a:tcPr marT="91425" marB="91425" marR="91425" marL="91425"/>
                </a:tc>
                <a:tc>
                  <a:txBody>
                    <a:bodyPr/>
                    <a:lstStyle/>
                    <a:p>
                      <a:pPr indent="0" lvl="0" marL="0" rtl="0" algn="l">
                        <a:spcBef>
                          <a:spcPts val="0"/>
                        </a:spcBef>
                        <a:spcAft>
                          <a:spcPts val="0"/>
                        </a:spcAft>
                        <a:buNone/>
                      </a:pPr>
                      <a:r>
                        <a:rPr b="1" lang="en-US" sz="2000"/>
                        <a:t>Interpretation</a:t>
                      </a:r>
                      <a:endParaRPr b="1" sz="2000"/>
                    </a:p>
                  </a:txBody>
                  <a:tcPr marT="91425" marB="91425" marR="91425" marL="91425"/>
                </a:tc>
              </a:tr>
              <a:tr h="381000">
                <a:tc>
                  <a:txBody>
                    <a:bodyPr/>
                    <a:lstStyle/>
                    <a:p>
                      <a:pPr indent="0" lvl="0" marL="0" rtl="0" algn="l">
                        <a:spcBef>
                          <a:spcPts val="0"/>
                        </a:spcBef>
                        <a:spcAft>
                          <a:spcPts val="0"/>
                        </a:spcAft>
                        <a:buNone/>
                      </a:pPr>
                      <a:r>
                        <a:rPr lang="en-US" sz="2000">
                          <a:solidFill>
                            <a:schemeClr val="dk1"/>
                          </a:solidFill>
                        </a:rPr>
                        <a:t>Study Hour P-value</a:t>
                      </a:r>
                      <a:endParaRPr sz="2000"/>
                    </a:p>
                  </a:txBody>
                  <a:tcPr marT="91425" marB="91425" marR="91425" marL="91425"/>
                </a:tc>
                <a:tc>
                  <a:txBody>
                    <a:bodyPr/>
                    <a:lstStyle/>
                    <a:p>
                      <a:pPr indent="0" lvl="0" marL="0" rtl="0" algn="l">
                        <a:spcBef>
                          <a:spcPts val="0"/>
                        </a:spcBef>
                        <a:spcAft>
                          <a:spcPts val="0"/>
                        </a:spcAft>
                        <a:buNone/>
                      </a:pPr>
                      <a:r>
                        <a:rPr lang="en-US" sz="2000"/>
                        <a:t>0.002</a:t>
                      </a:r>
                      <a:endParaRPr sz="2000"/>
                    </a:p>
                  </a:txBody>
                  <a:tcPr marT="91425" marB="91425" marR="91425" marL="91425"/>
                </a:tc>
                <a:tc>
                  <a:txBody>
                    <a:bodyPr/>
                    <a:lstStyle/>
                    <a:p>
                      <a:pPr indent="0" lvl="0" marL="0" rtl="0" algn="l">
                        <a:spcBef>
                          <a:spcPts val="0"/>
                        </a:spcBef>
                        <a:spcAft>
                          <a:spcPts val="0"/>
                        </a:spcAft>
                        <a:buNone/>
                      </a:pPr>
                      <a:r>
                        <a:rPr lang="en-US" sz="2000"/>
                        <a:t>Statistically significant at 5% level </a:t>
                      </a:r>
                      <a:endParaRPr sz="2000"/>
                    </a:p>
                  </a:txBody>
                  <a:tcPr marT="91425" marB="91425" marR="91425" marL="91425"/>
                </a:tc>
              </a:tr>
              <a:tr h="381000">
                <a:tc>
                  <a:txBody>
                    <a:bodyPr/>
                    <a:lstStyle/>
                    <a:p>
                      <a:pPr indent="0" lvl="0" marL="0" rtl="0" algn="l">
                        <a:spcBef>
                          <a:spcPts val="0"/>
                        </a:spcBef>
                        <a:spcAft>
                          <a:spcPts val="0"/>
                        </a:spcAft>
                        <a:buNone/>
                      </a:pPr>
                      <a:r>
                        <a:rPr lang="en-US" sz="2000">
                          <a:solidFill>
                            <a:schemeClr val="dk1"/>
                          </a:solidFill>
                        </a:rPr>
                        <a:t>Attendance P-value</a:t>
                      </a:r>
                      <a:endParaRPr sz="2000"/>
                    </a:p>
                  </a:txBody>
                  <a:tcPr marT="91425" marB="91425" marR="91425" marL="91425"/>
                </a:tc>
                <a:tc>
                  <a:txBody>
                    <a:bodyPr/>
                    <a:lstStyle/>
                    <a:p>
                      <a:pPr indent="0" lvl="0" marL="0" rtl="0" algn="l">
                        <a:spcBef>
                          <a:spcPts val="0"/>
                        </a:spcBef>
                        <a:spcAft>
                          <a:spcPts val="0"/>
                        </a:spcAft>
                        <a:buNone/>
                      </a:pPr>
                      <a:r>
                        <a:rPr lang="en-US" sz="2000"/>
                        <a:t>0.018</a:t>
                      </a:r>
                      <a:endParaRPr sz="2000"/>
                    </a:p>
                  </a:txBody>
                  <a:tcPr marT="91425" marB="91425" marR="91425" marL="91425"/>
                </a:tc>
                <a:tc>
                  <a:txBody>
                    <a:bodyPr/>
                    <a:lstStyle/>
                    <a:p>
                      <a:pPr indent="0" lvl="0" marL="0" rtl="0" algn="l">
                        <a:spcBef>
                          <a:spcPts val="0"/>
                        </a:spcBef>
                        <a:spcAft>
                          <a:spcPts val="0"/>
                        </a:spcAft>
                        <a:buNone/>
                      </a:pPr>
                      <a:r>
                        <a:rPr lang="en-US" sz="2000"/>
                        <a:t>Statistically significant at 5% level </a:t>
                      </a:r>
                      <a:endParaRPr sz="2000"/>
                    </a:p>
                  </a:txBody>
                  <a:tcPr marT="91425" marB="91425" marR="91425" marL="91425"/>
                </a:tc>
              </a:tr>
              <a:tr h="381000">
                <a:tc>
                  <a:txBody>
                    <a:bodyPr/>
                    <a:lstStyle/>
                    <a:p>
                      <a:pPr indent="0" lvl="0" marL="0" rtl="0" algn="l">
                        <a:spcBef>
                          <a:spcPts val="0"/>
                        </a:spcBef>
                        <a:spcAft>
                          <a:spcPts val="0"/>
                        </a:spcAft>
                        <a:buNone/>
                      </a:pPr>
                      <a:r>
                        <a:rPr lang="en-US" sz="2000">
                          <a:solidFill>
                            <a:schemeClr val="dk1"/>
                          </a:solidFill>
                        </a:rPr>
                        <a:t>Internal Marks P-value</a:t>
                      </a:r>
                      <a:endParaRPr sz="2000">
                        <a:solidFill>
                          <a:schemeClr val="dk1"/>
                        </a:solidFill>
                      </a:endParaRPr>
                    </a:p>
                    <a:p>
                      <a:pPr indent="0" lvl="0" marL="0" rtl="0" algn="l">
                        <a:spcBef>
                          <a:spcPts val="0"/>
                        </a:spcBef>
                        <a:spcAft>
                          <a:spcPts val="0"/>
                        </a:spcAft>
                        <a:buNone/>
                      </a:pPr>
                      <a:r>
                        <a:t/>
                      </a:r>
                      <a:endParaRPr sz="2000"/>
                    </a:p>
                  </a:txBody>
                  <a:tcPr marT="91425" marB="91425" marR="91425" marL="91425"/>
                </a:tc>
                <a:tc>
                  <a:txBody>
                    <a:bodyPr/>
                    <a:lstStyle/>
                    <a:p>
                      <a:pPr indent="0" lvl="0" marL="0" rtl="0" algn="l">
                        <a:spcBef>
                          <a:spcPts val="0"/>
                        </a:spcBef>
                        <a:spcAft>
                          <a:spcPts val="0"/>
                        </a:spcAft>
                        <a:buNone/>
                      </a:pPr>
                      <a:r>
                        <a:rPr lang="en-US" sz="2000"/>
                        <a:t>0.001</a:t>
                      </a:r>
                      <a:endParaRPr sz="2000"/>
                    </a:p>
                  </a:txBody>
                  <a:tcPr marT="91425" marB="91425" marR="91425" marL="91425"/>
                </a:tc>
                <a:tc>
                  <a:txBody>
                    <a:bodyPr/>
                    <a:lstStyle/>
                    <a:p>
                      <a:pPr indent="0" lvl="0" marL="0" rtl="0" algn="l">
                        <a:spcBef>
                          <a:spcPts val="0"/>
                        </a:spcBef>
                        <a:spcAft>
                          <a:spcPts val="0"/>
                        </a:spcAft>
                        <a:buNone/>
                      </a:pPr>
                      <a:r>
                        <a:rPr lang="en-US" sz="2000"/>
                        <a:t>Statistically significant at 5% level </a:t>
                      </a:r>
                      <a:endParaRPr sz="2000"/>
                    </a:p>
                  </a:txBody>
                  <a:tcPr marT="91425" marB="91425" marR="91425" marL="91425"/>
                </a:tc>
              </a:tr>
            </a:tbl>
          </a:graphicData>
        </a:graphic>
      </p:graphicFrame>
      <p:sp>
        <p:nvSpPr>
          <p:cNvPr id="202" name="Google Shape;202;h609d645b367ca6be_0_50"/>
          <p:cNvSpPr txBox="1"/>
          <p:nvPr/>
        </p:nvSpPr>
        <p:spPr>
          <a:xfrm>
            <a:off x="505500" y="2965625"/>
            <a:ext cx="11609700" cy="354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300">
                <a:solidFill>
                  <a:schemeClr val="dk1"/>
                </a:solidFill>
              </a:rPr>
              <a:t>Interpretation for Management / Academic Decision</a:t>
            </a:r>
            <a:endParaRPr b="1" sz="2300">
              <a:solidFill>
                <a:schemeClr val="dk1"/>
              </a:solidFill>
            </a:endParaRPr>
          </a:p>
          <a:p>
            <a:pPr indent="0" lvl="0" marL="0" rtl="0" algn="l">
              <a:lnSpc>
                <a:spcPct val="115000"/>
              </a:lnSpc>
              <a:spcBef>
                <a:spcPts val="1200"/>
              </a:spcBef>
              <a:spcAft>
                <a:spcPts val="0"/>
              </a:spcAft>
              <a:buNone/>
            </a:pPr>
            <a:r>
              <a:rPr b="1" lang="en-US" sz="2100">
                <a:solidFill>
                  <a:schemeClr val="dk1"/>
                </a:solidFill>
              </a:rPr>
              <a:t>1. Identify students who may need support</a:t>
            </a:r>
            <a:endParaRPr b="1" sz="2100">
              <a:solidFill>
                <a:schemeClr val="dk1"/>
              </a:solidFill>
            </a:endParaRPr>
          </a:p>
          <a:p>
            <a:pPr indent="0" lvl="0" marL="0" rtl="0" algn="l">
              <a:lnSpc>
                <a:spcPct val="115000"/>
              </a:lnSpc>
              <a:spcBef>
                <a:spcPts val="1200"/>
              </a:spcBef>
              <a:spcAft>
                <a:spcPts val="0"/>
              </a:spcAft>
              <a:buNone/>
            </a:pPr>
            <a:r>
              <a:rPr lang="en-US" sz="2100">
                <a:solidFill>
                  <a:schemeClr val="dk1"/>
                </a:solidFill>
              </a:rPr>
              <a:t>The model can be used to identify students whose predicted marks are low.</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2. Plan academic interventions</a:t>
            </a:r>
            <a:endParaRPr b="1" sz="2100">
              <a:solidFill>
                <a:schemeClr val="dk1"/>
              </a:solidFill>
            </a:endParaRPr>
          </a:p>
          <a:p>
            <a:pPr indent="0" lvl="0" marL="0" rtl="0" algn="l">
              <a:lnSpc>
                <a:spcPct val="115000"/>
              </a:lnSpc>
              <a:spcBef>
                <a:spcPts val="1200"/>
              </a:spcBef>
              <a:spcAft>
                <a:spcPts val="0"/>
              </a:spcAft>
              <a:buNone/>
            </a:pPr>
            <a:r>
              <a:rPr lang="en-US" sz="2100">
                <a:solidFill>
                  <a:schemeClr val="dk1"/>
                </a:solidFill>
              </a:rPr>
              <a:t>The institution may consider:</a:t>
            </a:r>
            <a:endParaRPr sz="2100">
              <a:solidFill>
                <a:schemeClr val="dk1"/>
              </a:solidFill>
            </a:endParaRPr>
          </a:p>
          <a:p>
            <a:pPr indent="-361950" lvl="0" marL="457200" rtl="0" algn="l">
              <a:lnSpc>
                <a:spcPct val="115000"/>
              </a:lnSpc>
              <a:spcBef>
                <a:spcPts val="1200"/>
              </a:spcBef>
              <a:spcAft>
                <a:spcPts val="0"/>
              </a:spcAft>
              <a:buClr>
                <a:schemeClr val="dk1"/>
              </a:buClr>
              <a:buSzPts val="2100"/>
              <a:buChar char="●"/>
            </a:pPr>
            <a:r>
              <a:rPr lang="en-US" sz="2100">
                <a:solidFill>
                  <a:schemeClr val="dk1"/>
                </a:solidFill>
              </a:rPr>
              <a:t>Additional tutorials, Remedial classes, Mentoring, Attendance monitoring, Additional practice sessions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h609d645b367ca6be_0_54"/>
          <p:cNvSpPr txBox="1"/>
          <p:nvPr/>
        </p:nvSpPr>
        <p:spPr>
          <a:xfrm>
            <a:off x="496675" y="579151"/>
            <a:ext cx="10583100" cy="577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400">
                <a:solidFill>
                  <a:schemeClr val="dk1"/>
                </a:solidFill>
              </a:rPr>
              <a:t>3. Use predictors as evidence</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study hours, attendance and internal marks show statistically significant associations with final marks, these variables may be useful for identifying students who need attention.</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4. Don't treat prediction as certainty</a:t>
            </a:r>
            <a:endParaRPr b="1"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A predicted mark is an </a:t>
            </a:r>
            <a:r>
              <a:rPr b="1" lang="en-US" sz="2400">
                <a:solidFill>
                  <a:schemeClr val="dk1"/>
                </a:solidFill>
              </a:rPr>
              <a:t>estimate</a:t>
            </a:r>
            <a:r>
              <a:rPr lang="en-US" sz="2400">
                <a:solidFill>
                  <a:schemeClr val="dk1"/>
                </a:solidFill>
              </a:rPr>
              <a:t>, not the student's guaranteed final mark.</a:t>
            </a:r>
            <a:endParaRPr sz="2400">
              <a:solidFill>
                <a:schemeClr val="dk1"/>
              </a:solidFill>
            </a:endParaRPr>
          </a:p>
          <a:p>
            <a:pPr indent="0" lvl="0" marL="0" rtl="0" algn="l">
              <a:lnSpc>
                <a:spcPct val="115000"/>
              </a:lnSpc>
              <a:spcBef>
                <a:spcPts val="1400"/>
              </a:spcBef>
              <a:spcAft>
                <a:spcPts val="0"/>
              </a:spcAft>
              <a:buNone/>
            </a:pPr>
            <a:r>
              <a:rPr b="1" lang="en-US" sz="2600">
                <a:solidFill>
                  <a:schemeClr val="dk1"/>
                </a:solidFill>
              </a:rPr>
              <a:t>Key Message</a:t>
            </a:r>
            <a:endParaRPr b="1" sz="2400">
              <a:solidFill>
                <a:schemeClr val="dk1"/>
              </a:solidFill>
            </a:endParaRPr>
          </a:p>
          <a:p>
            <a:pPr indent="0" lvl="0" marL="0" rtl="0" algn="l">
              <a:lnSpc>
                <a:spcPct val="115000"/>
              </a:lnSpc>
              <a:spcBef>
                <a:spcPts val="1400"/>
              </a:spcBef>
              <a:spcAft>
                <a:spcPts val="0"/>
              </a:spcAft>
              <a:buNone/>
            </a:pPr>
            <a:r>
              <a:rPr lang="en-US" sz="2200">
                <a:solidFill>
                  <a:schemeClr val="dk1"/>
                </a:solidFill>
              </a:rPr>
              <a:t>Regression Output→Interpretation→Academic Insight→Decision </a:t>
            </a:r>
            <a:endParaRPr sz="2400">
              <a:solidFill>
                <a:schemeClr val="dk1"/>
              </a:solidFill>
            </a:endParaRPr>
          </a:p>
          <a:p>
            <a:pPr indent="0" lvl="0" marL="0" rtl="0" algn="l">
              <a:lnSpc>
                <a:spcPct val="115000"/>
              </a:lnSpc>
              <a:spcBef>
                <a:spcPts val="1200"/>
              </a:spcBef>
              <a:spcAft>
                <a:spcPts val="1200"/>
              </a:spcAft>
              <a:buNone/>
            </a:pPr>
            <a:r>
              <a:rPr b="1" lang="en-US" sz="2400">
                <a:solidFill>
                  <a:schemeClr val="dk1"/>
                </a:solidFill>
              </a:rPr>
              <a:t>Important:</a:t>
            </a:r>
            <a:r>
              <a:rPr lang="en-US" sz="2400">
                <a:solidFill>
                  <a:schemeClr val="dk1"/>
                </a:solidFill>
              </a:rPr>
              <a:t> The regression results can </a:t>
            </a:r>
            <a:r>
              <a:rPr b="1" lang="en-US" sz="2400">
                <a:solidFill>
                  <a:schemeClr val="dk1"/>
                </a:solidFill>
              </a:rPr>
              <a:t>support</a:t>
            </a:r>
            <a:r>
              <a:rPr lang="en-US" sz="2400">
                <a:solidFill>
                  <a:schemeClr val="dk1"/>
                </a:solidFill>
              </a:rPr>
              <a:t> academic decisions; they should not be the sole basis for decisions about individual students.</a:t>
            </a:r>
            <a:endParaRPr sz="24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h609d645b367ca6be_0_63"/>
          <p:cNvSpPr txBox="1"/>
          <p:nvPr/>
        </p:nvSpPr>
        <p:spPr>
          <a:xfrm>
            <a:off x="443375" y="363900"/>
            <a:ext cx="11748300" cy="634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600">
                <a:solidFill>
                  <a:schemeClr val="dk1"/>
                </a:solidFill>
              </a:rPr>
              <a:t>What is Multiple Regression?</a:t>
            </a:r>
            <a:endParaRPr b="1" sz="2600">
              <a:solidFill>
                <a:schemeClr val="dk1"/>
              </a:solidFill>
            </a:endParaRPr>
          </a:p>
          <a:p>
            <a:pPr indent="0" lvl="0" marL="0" rtl="0" algn="l">
              <a:lnSpc>
                <a:spcPct val="115000"/>
              </a:lnSpc>
              <a:spcBef>
                <a:spcPts val="1200"/>
              </a:spcBef>
              <a:spcAft>
                <a:spcPts val="0"/>
              </a:spcAft>
              <a:buNone/>
            </a:pPr>
            <a:r>
              <a:rPr b="1" lang="en-US" sz="2400">
                <a:solidFill>
                  <a:schemeClr val="dk1"/>
                </a:solidFill>
              </a:rPr>
              <a:t>Multiple Regression</a:t>
            </a:r>
            <a:r>
              <a:rPr lang="en-US" sz="2400">
                <a:solidFill>
                  <a:schemeClr val="dk1"/>
                </a:solidFill>
              </a:rPr>
              <a:t> is an extension of simple linear regression in which </a:t>
            </a:r>
            <a:r>
              <a:rPr b="1" lang="en-US" sz="2400">
                <a:solidFill>
                  <a:schemeClr val="dk1"/>
                </a:solidFill>
              </a:rPr>
              <a:t>two or more </a:t>
            </a:r>
            <a:r>
              <a:rPr lang="en-US" sz="2400">
                <a:solidFill>
                  <a:schemeClr val="dk1"/>
                </a:solidFill>
              </a:rPr>
              <a:t>independent variables (predictors) are used to predict or explain a dependent variable. The purpose is to  examine how multiple factors together are associated with the dependent variable and to generate predictions. Multiple predictors allow the model to incorporate several relevant factors simultaneously.</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Y=β0​+β1​X1​+β2​X2​+⋯+βk​Xk​+ϵ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Final Marks=β0 ​+ β1​(StudyHours) + β2​(Attendance) + β3​(InternalMarks) + ϵ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Final Marks = Dependent variable (Y)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Study Hours = Independent variable X1​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Attendance = Independent variable X2</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Internal Marks = Independent variable X3</a:t>
            </a:r>
            <a:endParaRPr sz="24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h609d645b367ca6be_0_66"/>
          <p:cNvSpPr txBox="1"/>
          <p:nvPr/>
        </p:nvSpPr>
        <p:spPr>
          <a:xfrm>
            <a:off x="401175" y="343850"/>
            <a:ext cx="10697700" cy="641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300">
                <a:solidFill>
                  <a:schemeClr val="dk1"/>
                </a:solidFill>
              </a:rPr>
              <a:t>Interpretation of coefficients</a:t>
            </a:r>
            <a:endParaRPr b="1" sz="2300">
              <a:solidFill>
                <a:schemeClr val="dk1"/>
              </a:solidFill>
            </a:endParaRPr>
          </a:p>
          <a:p>
            <a:pPr indent="0" lvl="0" marL="0" rtl="0" algn="l">
              <a:lnSpc>
                <a:spcPct val="115000"/>
              </a:lnSpc>
              <a:spcBef>
                <a:spcPts val="1200"/>
              </a:spcBef>
              <a:spcAft>
                <a:spcPts val="0"/>
              </a:spcAft>
              <a:buNone/>
            </a:pPr>
            <a:r>
              <a:rPr b="1" lang="en-US" sz="2100">
                <a:solidFill>
                  <a:schemeClr val="dk1"/>
                </a:solidFill>
              </a:rPr>
              <a:t>Study Hours = 5</a:t>
            </a:r>
            <a:endParaRPr b="1" sz="2100">
              <a:solidFill>
                <a:schemeClr val="dk1"/>
              </a:solidFill>
            </a:endParaRPr>
          </a:p>
          <a:p>
            <a:pPr indent="0" lvl="0" marL="381000" marR="381000" rtl="0" algn="l">
              <a:lnSpc>
                <a:spcPct val="115000"/>
              </a:lnSpc>
              <a:spcBef>
                <a:spcPts val="1200"/>
              </a:spcBef>
              <a:spcAft>
                <a:spcPts val="0"/>
              </a:spcAft>
              <a:buNone/>
            </a:pPr>
            <a:r>
              <a:rPr lang="en-US" sz="2100">
                <a:solidFill>
                  <a:schemeClr val="dk1"/>
                </a:solidFill>
              </a:rPr>
              <a:t>One additional hour of study is associated with an estimated </a:t>
            </a:r>
            <a:r>
              <a:rPr b="1" lang="en-US" sz="2100">
                <a:solidFill>
                  <a:schemeClr val="dk1"/>
                </a:solidFill>
              </a:rPr>
              <a:t>5-mark increase</a:t>
            </a:r>
            <a:r>
              <a:rPr lang="en-US" sz="2100">
                <a:solidFill>
                  <a:schemeClr val="dk1"/>
                </a:solidFill>
              </a:rPr>
              <a:t> in final marks, </a:t>
            </a:r>
            <a:r>
              <a:rPr b="1" lang="en-US" sz="2100">
                <a:solidFill>
                  <a:schemeClr val="dk1"/>
                </a:solidFill>
              </a:rPr>
              <a:t>holding attendance and internal marks constant</a:t>
            </a:r>
            <a:r>
              <a:rPr lang="en-US" sz="2100">
                <a:solidFill>
                  <a:schemeClr val="dk1"/>
                </a:solidFill>
              </a:rPr>
              <a:t>.</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Attendance = 0.3</a:t>
            </a:r>
            <a:endParaRPr b="1" sz="2100">
              <a:solidFill>
                <a:schemeClr val="dk1"/>
              </a:solidFill>
            </a:endParaRPr>
          </a:p>
          <a:p>
            <a:pPr indent="0" lvl="0" marL="381000" marR="381000" rtl="0" algn="l">
              <a:lnSpc>
                <a:spcPct val="115000"/>
              </a:lnSpc>
              <a:spcBef>
                <a:spcPts val="1200"/>
              </a:spcBef>
              <a:spcAft>
                <a:spcPts val="0"/>
              </a:spcAft>
              <a:buNone/>
            </a:pPr>
            <a:r>
              <a:rPr lang="en-US" sz="2100">
                <a:solidFill>
                  <a:schemeClr val="dk1"/>
                </a:solidFill>
              </a:rPr>
              <a:t>A 1% increase in attendance is associated with an estimated </a:t>
            </a:r>
            <a:r>
              <a:rPr b="1" lang="en-US" sz="2100">
                <a:solidFill>
                  <a:schemeClr val="dk1"/>
                </a:solidFill>
              </a:rPr>
              <a:t>0.3-mark increase</a:t>
            </a:r>
            <a:r>
              <a:rPr lang="en-US" sz="2100">
                <a:solidFill>
                  <a:schemeClr val="dk1"/>
                </a:solidFill>
              </a:rPr>
              <a:t> in final marks, holding the other predictors constant.</a:t>
            </a:r>
            <a:endParaRPr sz="2100">
              <a:solidFill>
                <a:schemeClr val="dk1"/>
              </a:solidFill>
            </a:endParaRPr>
          </a:p>
          <a:p>
            <a:pPr indent="0" lvl="0" marL="0" rtl="0" algn="l">
              <a:lnSpc>
                <a:spcPct val="115000"/>
              </a:lnSpc>
              <a:spcBef>
                <a:spcPts val="1200"/>
              </a:spcBef>
              <a:spcAft>
                <a:spcPts val="0"/>
              </a:spcAft>
              <a:buNone/>
            </a:pPr>
            <a:r>
              <a:rPr b="1" lang="en-US" sz="2100">
                <a:solidFill>
                  <a:schemeClr val="dk1"/>
                </a:solidFill>
              </a:rPr>
              <a:t>Internal Marks = 0.6</a:t>
            </a:r>
            <a:endParaRPr b="1" sz="2100">
              <a:solidFill>
                <a:schemeClr val="dk1"/>
              </a:solidFill>
            </a:endParaRPr>
          </a:p>
          <a:p>
            <a:pPr indent="0" lvl="0" marL="381000" marR="381000" rtl="0" algn="l">
              <a:lnSpc>
                <a:spcPct val="115000"/>
              </a:lnSpc>
              <a:spcBef>
                <a:spcPts val="1200"/>
              </a:spcBef>
              <a:spcAft>
                <a:spcPts val="0"/>
              </a:spcAft>
              <a:buNone/>
            </a:pPr>
            <a:r>
              <a:rPr lang="en-US" sz="2100">
                <a:solidFill>
                  <a:schemeClr val="dk1"/>
                </a:solidFill>
              </a:rPr>
              <a:t>One additional internal mark is associated with an estimated </a:t>
            </a:r>
            <a:r>
              <a:rPr b="1" lang="en-US" sz="2100">
                <a:solidFill>
                  <a:schemeClr val="dk1"/>
                </a:solidFill>
              </a:rPr>
              <a:t>0.6-mark increase</a:t>
            </a:r>
            <a:r>
              <a:rPr lang="en-US" sz="2100">
                <a:solidFill>
                  <a:schemeClr val="dk1"/>
                </a:solidFill>
              </a:rPr>
              <a:t> in final marks, holding the other predictors constant.</a:t>
            </a:r>
            <a:endParaRPr sz="2100">
              <a:solidFill>
                <a:schemeClr val="dk1"/>
              </a:solidFill>
            </a:endParaRPr>
          </a:p>
          <a:p>
            <a:pPr indent="0" lvl="0" marL="0" rtl="0" algn="l">
              <a:lnSpc>
                <a:spcPct val="115000"/>
              </a:lnSpc>
              <a:spcBef>
                <a:spcPts val="1400"/>
              </a:spcBef>
              <a:spcAft>
                <a:spcPts val="0"/>
              </a:spcAft>
              <a:buNone/>
            </a:pPr>
            <a:r>
              <a:rPr b="1" lang="en-US" sz="2300">
                <a:solidFill>
                  <a:schemeClr val="dk1"/>
                </a:solidFill>
              </a:rPr>
              <a:t>Key phrase:</a:t>
            </a:r>
            <a:endParaRPr b="1" sz="2300">
              <a:solidFill>
                <a:schemeClr val="dk1"/>
              </a:solidFill>
            </a:endParaRPr>
          </a:p>
          <a:p>
            <a:pPr indent="0" lvl="0" marL="381000" marR="381000" rtl="0" algn="l">
              <a:lnSpc>
                <a:spcPct val="115000"/>
              </a:lnSpc>
              <a:spcBef>
                <a:spcPts val="1200"/>
              </a:spcBef>
              <a:spcAft>
                <a:spcPts val="0"/>
              </a:spcAft>
              <a:buNone/>
            </a:pPr>
            <a:r>
              <a:rPr b="1" lang="en-US" sz="2100">
                <a:solidFill>
                  <a:schemeClr val="dk1"/>
                </a:solidFill>
              </a:rPr>
              <a:t>"Holding other variables constant"</a:t>
            </a:r>
            <a:endParaRPr b="1" sz="2100">
              <a:solidFill>
                <a:schemeClr val="dk1"/>
              </a:solidFill>
            </a:endParaRPr>
          </a:p>
          <a:p>
            <a:pPr indent="0" lvl="0" marL="381000" marR="381000" rtl="0" algn="l">
              <a:lnSpc>
                <a:spcPct val="115000"/>
              </a:lnSpc>
              <a:spcBef>
                <a:spcPts val="1200"/>
              </a:spcBef>
              <a:spcAft>
                <a:spcPts val="1200"/>
              </a:spcAft>
              <a:buNone/>
            </a:pPr>
            <a:r>
              <a:rPr lang="en-US" sz="1900">
                <a:solidFill>
                  <a:schemeClr val="dk1"/>
                </a:solidFill>
              </a:rPr>
              <a:t>Based on the fitted regression model, the student's predicted final mark is </a:t>
            </a:r>
            <a:r>
              <a:rPr b="1" lang="en-US" sz="1900">
                <a:solidFill>
                  <a:schemeClr val="dk1"/>
                </a:solidFill>
              </a:rPr>
              <a:t>89</a:t>
            </a:r>
            <a:r>
              <a:rPr lang="en-US" sz="1900">
                <a:solidFill>
                  <a:schemeClr val="dk1"/>
                </a:solidFill>
              </a:rPr>
              <a:t>. </a:t>
            </a:r>
            <a:endParaRPr b="1" sz="27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h609d645b367ca6be_0_69"/>
          <p:cNvSpPr txBox="1"/>
          <p:nvPr/>
        </p:nvSpPr>
        <p:spPr>
          <a:xfrm>
            <a:off x="412638" y="496675"/>
            <a:ext cx="11366400" cy="651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3100">
                <a:solidFill>
                  <a:schemeClr val="dk1"/>
                </a:solidFill>
              </a:rPr>
              <a:t>Significance of Multiple Regression Analysis</a:t>
            </a:r>
            <a:endParaRPr b="1" sz="3100">
              <a:solidFill>
                <a:schemeClr val="dk1"/>
              </a:solidFill>
            </a:endParaRPr>
          </a:p>
          <a:p>
            <a:pPr indent="0" lvl="0" marL="0" rtl="0" algn="l">
              <a:lnSpc>
                <a:spcPct val="115000"/>
              </a:lnSpc>
              <a:spcBef>
                <a:spcPts val="1400"/>
              </a:spcBef>
              <a:spcAft>
                <a:spcPts val="0"/>
              </a:spcAft>
              <a:buNone/>
            </a:pPr>
            <a:r>
              <a:rPr b="1" lang="en-US" sz="2100">
                <a:solidFill>
                  <a:schemeClr val="dk1"/>
                </a:solidFill>
              </a:rPr>
              <a:t>How do we know whether the predictors/model are statistically useful?</a:t>
            </a:r>
            <a:endParaRPr b="1" sz="2100">
              <a:solidFill>
                <a:schemeClr val="dk1"/>
              </a:solidFill>
            </a:endParaRPr>
          </a:p>
          <a:p>
            <a:pPr indent="0" lvl="0" marL="0" rtl="0" algn="l">
              <a:lnSpc>
                <a:spcPct val="115000"/>
              </a:lnSpc>
              <a:spcBef>
                <a:spcPts val="1200"/>
              </a:spcBef>
              <a:spcAft>
                <a:spcPts val="0"/>
              </a:spcAft>
              <a:buNone/>
            </a:pPr>
            <a:r>
              <a:rPr lang="en-US" sz="1900">
                <a:solidFill>
                  <a:schemeClr val="dk1"/>
                </a:solidFill>
              </a:rPr>
              <a:t>Regression output commonly provides:</a:t>
            </a:r>
            <a:endParaRPr sz="1900">
              <a:solidFill>
                <a:schemeClr val="dk1"/>
              </a:solidFill>
            </a:endParaRPr>
          </a:p>
          <a:p>
            <a:pPr indent="-349250" lvl="0" marL="457200" rtl="0" algn="l">
              <a:lnSpc>
                <a:spcPct val="115000"/>
              </a:lnSpc>
              <a:spcBef>
                <a:spcPts val="1200"/>
              </a:spcBef>
              <a:spcAft>
                <a:spcPts val="0"/>
              </a:spcAft>
              <a:buClr>
                <a:schemeClr val="dk1"/>
              </a:buClr>
              <a:buSzPts val="1900"/>
              <a:buChar char="●"/>
            </a:pPr>
            <a:r>
              <a:rPr b="1" lang="en-US" sz="1900">
                <a:solidFill>
                  <a:schemeClr val="dk1"/>
                </a:solidFill>
              </a:rPr>
              <a:t>Coefficient</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Standard Error</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t-statistic</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p-value</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R²</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Adjusted R²</a:t>
            </a:r>
            <a:endParaRPr b="1" sz="1900">
              <a:solidFill>
                <a:schemeClr val="dk1"/>
              </a:solidFill>
            </a:endParaRPr>
          </a:p>
          <a:p>
            <a:pPr indent="-349250" lvl="0" marL="457200" rtl="0" algn="l">
              <a:lnSpc>
                <a:spcPct val="115000"/>
              </a:lnSpc>
              <a:spcBef>
                <a:spcPts val="0"/>
              </a:spcBef>
              <a:spcAft>
                <a:spcPts val="0"/>
              </a:spcAft>
              <a:buClr>
                <a:schemeClr val="dk1"/>
              </a:buClr>
              <a:buSzPts val="1900"/>
              <a:buChar char="●"/>
            </a:pPr>
            <a:r>
              <a:rPr b="1" lang="en-US" sz="1900">
                <a:solidFill>
                  <a:schemeClr val="dk1"/>
                </a:solidFill>
              </a:rPr>
              <a:t>F-statistic / F-test</a:t>
            </a:r>
            <a:endParaRPr b="1" sz="1900">
              <a:solidFill>
                <a:schemeClr val="dk1"/>
              </a:solidFill>
            </a:endParaRPr>
          </a:p>
          <a:p>
            <a:pPr indent="0" lvl="0" marL="0" rtl="0" algn="l">
              <a:lnSpc>
                <a:spcPct val="115000"/>
              </a:lnSpc>
              <a:spcBef>
                <a:spcPts val="1400"/>
              </a:spcBef>
              <a:spcAft>
                <a:spcPts val="0"/>
              </a:spcAft>
              <a:buNone/>
            </a:pPr>
            <a:r>
              <a:rPr b="1" lang="en-US" sz="2100">
                <a:solidFill>
                  <a:schemeClr val="dk1"/>
                </a:solidFill>
              </a:rPr>
              <a:t>Individual Predictor</a:t>
            </a:r>
            <a:endParaRPr b="1" sz="2100">
              <a:solidFill>
                <a:schemeClr val="dk1"/>
              </a:solidFill>
            </a:endParaRPr>
          </a:p>
          <a:p>
            <a:pPr indent="0" lvl="0" marL="0" rtl="0" algn="l">
              <a:lnSpc>
                <a:spcPct val="115000"/>
              </a:lnSpc>
              <a:spcBef>
                <a:spcPts val="1200"/>
              </a:spcBef>
              <a:spcAft>
                <a:spcPts val="0"/>
              </a:spcAft>
              <a:buNone/>
            </a:pPr>
            <a:r>
              <a:rPr lang="en-US" sz="1900">
                <a:solidFill>
                  <a:schemeClr val="dk1"/>
                </a:solidFill>
              </a:rPr>
              <a:t>For a coefficient β</a:t>
            </a:r>
            <a:r>
              <a:rPr lang="en-US" sz="1900">
                <a:solidFill>
                  <a:schemeClr val="dk1"/>
                </a:solidFill>
              </a:rPr>
              <a:t>j</a:t>
            </a:r>
            <a:endParaRPr sz="1900">
              <a:solidFill>
                <a:schemeClr val="dk1"/>
              </a:solidFill>
            </a:endParaRPr>
          </a:p>
          <a:p>
            <a:pPr indent="0" lvl="0" marL="0" rtl="0" algn="l">
              <a:spcBef>
                <a:spcPts val="1200"/>
              </a:spcBef>
              <a:spcAft>
                <a:spcPts val="0"/>
              </a:spcAft>
              <a:buNone/>
            </a:pPr>
            <a:r>
              <a:rPr lang="en-US" sz="1900">
                <a:solidFill>
                  <a:schemeClr val="dk1"/>
                </a:solidFill>
              </a:rPr>
              <a:t>H0​:βj​=0  </a:t>
            </a:r>
            <a:endParaRPr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H1​:βj​ &lt;&gt;0</a:t>
            </a:r>
            <a:endParaRPr sz="1900">
              <a:solidFill>
                <a:schemeClr val="dk1"/>
              </a:solidFill>
            </a:endParaRPr>
          </a:p>
          <a:p>
            <a:pPr indent="0" lvl="0" marL="0" rtl="0" algn="l">
              <a:lnSpc>
                <a:spcPct val="115000"/>
              </a:lnSpc>
              <a:spcBef>
                <a:spcPts val="1200"/>
              </a:spcBef>
              <a:spcAft>
                <a:spcPts val="1200"/>
              </a:spcAft>
              <a:buNone/>
            </a:pPr>
            <a:r>
              <a:rPr lang="en-US" sz="1900">
                <a:solidFill>
                  <a:schemeClr val="dk1"/>
                </a:solidFill>
              </a:rPr>
              <a:t>If: p&lt;0.05, the coefficient is considered </a:t>
            </a:r>
            <a:r>
              <a:rPr b="1" lang="en-US" sz="1900">
                <a:solidFill>
                  <a:schemeClr val="dk1"/>
                </a:solidFill>
              </a:rPr>
              <a:t>statistically significant at the 5% level</a:t>
            </a:r>
            <a:r>
              <a:rPr lang="en-US" sz="1900">
                <a:solidFill>
                  <a:schemeClr val="dk1"/>
                </a:solidFill>
              </a:rPr>
              <a:t>.</a:t>
            </a:r>
            <a:endParaRPr sz="19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aphicFrame>
        <p:nvGraphicFramePr>
          <p:cNvPr id="227" name="Google Shape;227;h609d645b367ca6be_0_92"/>
          <p:cNvGraphicFramePr/>
          <p:nvPr/>
        </p:nvGraphicFramePr>
        <p:xfrm>
          <a:off x="1154688" y="498475"/>
          <a:ext cx="3000000" cy="3000000"/>
        </p:xfrm>
        <a:graphic>
          <a:graphicData uri="http://schemas.openxmlformats.org/drawingml/2006/table">
            <a:tbl>
              <a:tblPr>
                <a:noFill/>
                <a:tableStyleId>{AABB5EDB-FB31-46EC-9822-BB6EADF0BBC1}</a:tableStyleId>
              </a:tblPr>
              <a:tblGrid>
                <a:gridCol w="3428900"/>
                <a:gridCol w="3428900"/>
                <a:gridCol w="3428900"/>
              </a:tblGrid>
              <a:tr h="381000">
                <a:tc>
                  <a:txBody>
                    <a:bodyPr/>
                    <a:lstStyle/>
                    <a:p>
                      <a:pPr indent="0" lvl="0" marL="0" rtl="0" algn="l">
                        <a:spcBef>
                          <a:spcPts val="0"/>
                        </a:spcBef>
                        <a:spcAft>
                          <a:spcPts val="0"/>
                        </a:spcAft>
                        <a:buNone/>
                      </a:pPr>
                      <a:r>
                        <a:rPr lang="en-US" sz="1800"/>
                        <a:t>Predictor</a:t>
                      </a:r>
                      <a:endParaRPr sz="1800"/>
                    </a:p>
                  </a:txBody>
                  <a:tcPr marT="91425" marB="91425" marR="91425" marL="91425"/>
                </a:tc>
                <a:tc>
                  <a:txBody>
                    <a:bodyPr/>
                    <a:lstStyle/>
                    <a:p>
                      <a:pPr indent="0" lvl="0" marL="0" rtl="0" algn="l">
                        <a:spcBef>
                          <a:spcPts val="0"/>
                        </a:spcBef>
                        <a:spcAft>
                          <a:spcPts val="0"/>
                        </a:spcAft>
                        <a:buNone/>
                      </a:pPr>
                      <a:r>
                        <a:rPr lang="en-US" sz="1800"/>
                        <a:t>Coefficient</a:t>
                      </a:r>
                      <a:endParaRPr sz="1800"/>
                    </a:p>
                  </a:txBody>
                  <a:tcPr marT="91425" marB="91425" marR="91425" marL="91425"/>
                </a:tc>
                <a:tc>
                  <a:txBody>
                    <a:bodyPr/>
                    <a:lstStyle/>
                    <a:p>
                      <a:pPr indent="0" lvl="0" marL="0" rtl="0" algn="l">
                        <a:spcBef>
                          <a:spcPts val="0"/>
                        </a:spcBef>
                        <a:spcAft>
                          <a:spcPts val="0"/>
                        </a:spcAft>
                        <a:buNone/>
                      </a:pPr>
                      <a:r>
                        <a:rPr lang="en-US" sz="1800"/>
                        <a:t>P-value</a:t>
                      </a:r>
                      <a:endParaRPr sz="1800"/>
                    </a:p>
                  </a:txBody>
                  <a:tcPr marT="91425" marB="91425" marR="91425" marL="91425"/>
                </a:tc>
              </a:tr>
              <a:tr h="381000">
                <a:tc>
                  <a:txBody>
                    <a:bodyPr/>
                    <a:lstStyle/>
                    <a:p>
                      <a:pPr indent="0" lvl="0" marL="0" rtl="0" algn="l">
                        <a:spcBef>
                          <a:spcPts val="0"/>
                        </a:spcBef>
                        <a:spcAft>
                          <a:spcPts val="0"/>
                        </a:spcAft>
                        <a:buNone/>
                      </a:pPr>
                      <a:r>
                        <a:rPr lang="en-US" sz="1800"/>
                        <a:t>Study Hours </a:t>
                      </a:r>
                      <a:endParaRPr sz="1800"/>
                    </a:p>
                  </a:txBody>
                  <a:tcPr marT="91425" marB="91425" marR="91425" marL="91425"/>
                </a:tc>
                <a:tc>
                  <a:txBody>
                    <a:bodyPr/>
                    <a:lstStyle/>
                    <a:p>
                      <a:pPr indent="0" lvl="0" marL="0" rtl="0" algn="l">
                        <a:spcBef>
                          <a:spcPts val="0"/>
                        </a:spcBef>
                        <a:spcAft>
                          <a:spcPts val="0"/>
                        </a:spcAft>
                        <a:buNone/>
                      </a:pPr>
                      <a:r>
                        <a:rPr lang="en-US" sz="1800"/>
                        <a:t>5.0</a:t>
                      </a:r>
                      <a:endParaRPr sz="1800"/>
                    </a:p>
                  </a:txBody>
                  <a:tcPr marT="91425" marB="91425" marR="91425" marL="91425"/>
                </a:tc>
                <a:tc>
                  <a:txBody>
                    <a:bodyPr/>
                    <a:lstStyle/>
                    <a:p>
                      <a:pPr indent="0" lvl="0" marL="0" rtl="0" algn="l">
                        <a:spcBef>
                          <a:spcPts val="0"/>
                        </a:spcBef>
                        <a:spcAft>
                          <a:spcPts val="0"/>
                        </a:spcAft>
                        <a:buNone/>
                      </a:pPr>
                      <a:r>
                        <a:rPr lang="en-US" sz="1800"/>
                        <a:t>0.002</a:t>
                      </a:r>
                      <a:endParaRPr sz="1800"/>
                    </a:p>
                  </a:txBody>
                  <a:tcPr marT="91425" marB="91425" marR="91425" marL="91425"/>
                </a:tc>
              </a:tr>
              <a:tr h="381000">
                <a:tc>
                  <a:txBody>
                    <a:bodyPr/>
                    <a:lstStyle/>
                    <a:p>
                      <a:pPr indent="0" lvl="0" marL="0" rtl="0" algn="l">
                        <a:spcBef>
                          <a:spcPts val="0"/>
                        </a:spcBef>
                        <a:spcAft>
                          <a:spcPts val="0"/>
                        </a:spcAft>
                        <a:buNone/>
                      </a:pPr>
                      <a:r>
                        <a:rPr lang="en-US" sz="1800"/>
                        <a:t>Attendance </a:t>
                      </a:r>
                      <a:endParaRPr sz="1800"/>
                    </a:p>
                  </a:txBody>
                  <a:tcPr marT="91425" marB="91425" marR="91425" marL="91425"/>
                </a:tc>
                <a:tc>
                  <a:txBody>
                    <a:bodyPr/>
                    <a:lstStyle/>
                    <a:p>
                      <a:pPr indent="0" lvl="0" marL="0" rtl="0" algn="l">
                        <a:spcBef>
                          <a:spcPts val="0"/>
                        </a:spcBef>
                        <a:spcAft>
                          <a:spcPts val="0"/>
                        </a:spcAft>
                        <a:buNone/>
                      </a:pPr>
                      <a:r>
                        <a:rPr lang="en-US" sz="1800"/>
                        <a:t>0.3.</a:t>
                      </a:r>
                      <a:endParaRPr sz="1800"/>
                    </a:p>
                  </a:txBody>
                  <a:tcPr marT="91425" marB="91425" marR="91425" marL="91425"/>
                </a:tc>
                <a:tc>
                  <a:txBody>
                    <a:bodyPr/>
                    <a:lstStyle/>
                    <a:p>
                      <a:pPr indent="0" lvl="0" marL="0" rtl="0" algn="l">
                        <a:spcBef>
                          <a:spcPts val="0"/>
                        </a:spcBef>
                        <a:spcAft>
                          <a:spcPts val="0"/>
                        </a:spcAft>
                        <a:buNone/>
                      </a:pPr>
                      <a:r>
                        <a:rPr lang="en-US" sz="1800"/>
                        <a:t>0.018</a:t>
                      </a:r>
                      <a:endParaRPr sz="1800"/>
                    </a:p>
                  </a:txBody>
                  <a:tcPr marT="91425" marB="91425" marR="91425" marL="91425"/>
                </a:tc>
              </a:tr>
              <a:tr h="381000">
                <a:tc>
                  <a:txBody>
                    <a:bodyPr/>
                    <a:lstStyle/>
                    <a:p>
                      <a:pPr indent="0" lvl="0" marL="0" rtl="0" algn="l">
                        <a:spcBef>
                          <a:spcPts val="0"/>
                        </a:spcBef>
                        <a:spcAft>
                          <a:spcPts val="0"/>
                        </a:spcAft>
                        <a:buNone/>
                      </a:pPr>
                      <a:r>
                        <a:rPr lang="en-US" sz="1800"/>
                        <a:t>Internal marks</a:t>
                      </a:r>
                      <a:endParaRPr sz="1800"/>
                    </a:p>
                  </a:txBody>
                  <a:tcPr marT="91425" marB="91425" marR="91425" marL="91425"/>
                </a:tc>
                <a:tc>
                  <a:txBody>
                    <a:bodyPr/>
                    <a:lstStyle/>
                    <a:p>
                      <a:pPr indent="0" lvl="0" marL="0" rtl="0" algn="l">
                        <a:spcBef>
                          <a:spcPts val="0"/>
                        </a:spcBef>
                        <a:spcAft>
                          <a:spcPts val="0"/>
                        </a:spcAft>
                        <a:buNone/>
                      </a:pPr>
                      <a:r>
                        <a:rPr lang="en-US" sz="1800"/>
                        <a:t>0.6</a:t>
                      </a:r>
                      <a:endParaRPr sz="1800"/>
                    </a:p>
                  </a:txBody>
                  <a:tcPr marT="91425" marB="91425" marR="91425" marL="91425"/>
                </a:tc>
                <a:tc>
                  <a:txBody>
                    <a:bodyPr/>
                    <a:lstStyle/>
                    <a:p>
                      <a:pPr indent="0" lvl="0" marL="0" rtl="0" algn="l">
                        <a:spcBef>
                          <a:spcPts val="0"/>
                        </a:spcBef>
                        <a:spcAft>
                          <a:spcPts val="0"/>
                        </a:spcAft>
                        <a:buNone/>
                      </a:pPr>
                      <a:r>
                        <a:rPr lang="en-US" sz="1800"/>
                        <a:t>0.001 </a:t>
                      </a:r>
                      <a:endParaRPr sz="1800"/>
                    </a:p>
                  </a:txBody>
                  <a:tcPr marT="91425" marB="91425" marR="91425" marL="91425"/>
                </a:tc>
              </a:tr>
            </a:tbl>
          </a:graphicData>
        </a:graphic>
      </p:graphicFrame>
      <p:sp>
        <p:nvSpPr>
          <p:cNvPr id="228" name="Google Shape;228;h609d645b367ca6be_0_92"/>
          <p:cNvSpPr txBox="1"/>
          <p:nvPr/>
        </p:nvSpPr>
        <p:spPr>
          <a:xfrm>
            <a:off x="568938" y="2896000"/>
            <a:ext cx="11053800" cy="373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200">
                <a:latin typeface="Times New Roman"/>
                <a:ea typeface="Times New Roman"/>
                <a:cs typeface="Times New Roman"/>
                <a:sym typeface="Times New Roman"/>
              </a:rPr>
              <a:t>All three predictors have:          p&lt;0.05 </a:t>
            </a:r>
            <a:endParaRPr sz="2200">
              <a:latin typeface="Times New Roman"/>
              <a:ea typeface="Times New Roman"/>
              <a:cs typeface="Times New Roman"/>
              <a:sym typeface="Times New Roman"/>
            </a:endParaRPr>
          </a:p>
          <a:p>
            <a:pPr indent="0" lvl="0" marL="0" rtl="0" algn="l">
              <a:spcBef>
                <a:spcPts val="1200"/>
              </a:spcBef>
              <a:spcAft>
                <a:spcPts val="0"/>
              </a:spcAft>
              <a:buNone/>
            </a:pPr>
            <a:r>
              <a:rPr lang="en-US" sz="1900">
                <a:solidFill>
                  <a:schemeClr val="dk1"/>
                </a:solidFill>
                <a:latin typeface="Times New Roman"/>
                <a:ea typeface="Times New Roman"/>
                <a:cs typeface="Times New Roman"/>
                <a:sym typeface="Times New Roman"/>
              </a:rPr>
              <a:t>Therefore, each has </a:t>
            </a:r>
            <a:r>
              <a:rPr b="1" lang="en-US" sz="1900">
                <a:solidFill>
                  <a:schemeClr val="dk1"/>
                </a:solidFill>
                <a:latin typeface="Times New Roman"/>
                <a:ea typeface="Times New Roman"/>
                <a:cs typeface="Times New Roman"/>
                <a:sym typeface="Times New Roman"/>
              </a:rPr>
              <a:t>statistical evidence of an association with final marks within this fitted model</a:t>
            </a:r>
            <a:r>
              <a:rPr lang="en-US"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US" sz="2500">
                <a:solidFill>
                  <a:schemeClr val="dk1"/>
                </a:solidFill>
                <a:latin typeface="Times New Roman"/>
                <a:ea typeface="Times New Roman"/>
                <a:cs typeface="Times New Roman"/>
                <a:sym typeface="Times New Roman"/>
              </a:rPr>
              <a:t>One important distinction:</a:t>
            </a:r>
            <a:endParaRPr b="1" sz="25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latin typeface="Times New Roman"/>
                <a:ea typeface="Times New Roman"/>
                <a:cs typeface="Times New Roman"/>
                <a:sym typeface="Times New Roman"/>
              </a:rPr>
              <a:t>Individual significance:  </a:t>
            </a:r>
            <a:r>
              <a:rPr b="1" lang="en-US" sz="1900">
                <a:solidFill>
                  <a:schemeClr val="dk1"/>
                </a:solidFill>
                <a:latin typeface="Times New Roman"/>
                <a:ea typeface="Times New Roman"/>
                <a:cs typeface="Times New Roman"/>
                <a:sym typeface="Times New Roman"/>
              </a:rPr>
              <a:t>t-test → individual coefficient</a:t>
            </a:r>
            <a:endParaRPr b="1" sz="19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"Is there evidence that Study Hours is associated with Marks, given the model?"</a:t>
            </a:r>
            <a:endParaRPr sz="19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100">
                <a:solidFill>
                  <a:schemeClr val="dk1"/>
                </a:solidFill>
                <a:latin typeface="Times New Roman"/>
                <a:ea typeface="Times New Roman"/>
                <a:cs typeface="Times New Roman"/>
                <a:sym typeface="Times New Roman"/>
              </a:rPr>
              <a:t>Overall significance  : </a:t>
            </a:r>
            <a:r>
              <a:rPr b="1" lang="en-US" sz="1900">
                <a:solidFill>
                  <a:schemeClr val="dk1"/>
                </a:solidFill>
                <a:latin typeface="Times New Roman"/>
                <a:ea typeface="Times New Roman"/>
                <a:cs typeface="Times New Roman"/>
                <a:sym typeface="Times New Roman"/>
              </a:rPr>
              <a:t>F-test → regression model as a whole</a:t>
            </a:r>
            <a:endParaRPr b="1" sz="19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1200"/>
              </a:spcAft>
              <a:buNone/>
            </a:pPr>
            <a:r>
              <a:rPr lang="en-US" sz="1900">
                <a:solidFill>
                  <a:schemeClr val="dk1"/>
                </a:solidFill>
                <a:latin typeface="Times New Roman"/>
                <a:ea typeface="Times New Roman"/>
                <a:cs typeface="Times New Roman"/>
                <a:sym typeface="Times New Roman"/>
              </a:rPr>
              <a:t>"Does the model provide evidence that at least one of the slope coefficients is non-zero?"</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h609d645b367ca6be_0_95"/>
          <p:cNvSpPr txBox="1"/>
          <p:nvPr/>
        </p:nvSpPr>
        <p:spPr>
          <a:xfrm>
            <a:off x="515775" y="420275"/>
            <a:ext cx="10975800" cy="5563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US" sz="2400"/>
              <a:t>Some Important Definition:</a:t>
            </a:r>
            <a:endParaRPr b="1" sz="2400"/>
          </a:p>
          <a:p>
            <a:pPr indent="0" lvl="0" marL="0" rtl="0" algn="l">
              <a:lnSpc>
                <a:spcPct val="115000"/>
              </a:lnSpc>
              <a:spcBef>
                <a:spcPts val="1400"/>
              </a:spcBef>
              <a:spcAft>
                <a:spcPts val="0"/>
              </a:spcAft>
              <a:buNone/>
            </a:pPr>
            <a:r>
              <a:rPr b="1" lang="en-US" sz="2400"/>
              <a:t>Coefficient : </a:t>
            </a:r>
            <a:r>
              <a:rPr lang="en-US" sz="2200"/>
              <a:t>What is the effect/association?</a:t>
            </a:r>
            <a:endParaRPr sz="2200"/>
          </a:p>
          <a:p>
            <a:pPr indent="0" lvl="0" marL="0" rtl="0" algn="l">
              <a:lnSpc>
                <a:spcPct val="115000"/>
              </a:lnSpc>
              <a:spcBef>
                <a:spcPts val="1400"/>
              </a:spcBef>
              <a:spcAft>
                <a:spcPts val="0"/>
              </a:spcAft>
              <a:buNone/>
            </a:pPr>
            <a:r>
              <a:rPr b="1" lang="en-US" sz="2400"/>
              <a:t>Standard Error : </a:t>
            </a:r>
            <a:r>
              <a:rPr lang="en-US" sz="2200"/>
              <a:t>How uncertain is the estimate?</a:t>
            </a:r>
            <a:endParaRPr sz="2200"/>
          </a:p>
          <a:p>
            <a:pPr indent="0" lvl="0" marL="0" rtl="0" algn="l">
              <a:lnSpc>
                <a:spcPct val="115000"/>
              </a:lnSpc>
              <a:spcBef>
                <a:spcPts val="1400"/>
              </a:spcBef>
              <a:spcAft>
                <a:spcPts val="0"/>
              </a:spcAft>
              <a:buNone/>
            </a:pPr>
            <a:r>
              <a:rPr b="1" lang="en-US" sz="2400"/>
              <a:t>t-statistic: </a:t>
            </a:r>
            <a:r>
              <a:rPr lang="en-US" sz="2200"/>
              <a:t>How large is the coefficient relative to its uncertainty?</a:t>
            </a:r>
            <a:endParaRPr sz="2200"/>
          </a:p>
          <a:p>
            <a:pPr indent="0" lvl="0" marL="0" rtl="0" algn="l">
              <a:lnSpc>
                <a:spcPct val="115000"/>
              </a:lnSpc>
              <a:spcBef>
                <a:spcPts val="1400"/>
              </a:spcBef>
              <a:spcAft>
                <a:spcPts val="0"/>
              </a:spcAft>
              <a:buNone/>
            </a:pPr>
            <a:r>
              <a:rPr b="1" lang="en-US" sz="2400"/>
              <a:t>p-value :</a:t>
            </a:r>
            <a:r>
              <a:rPr lang="en-US" sz="2200"/>
              <a:t>How strong is the evidence against the null hypothesis?</a:t>
            </a:r>
            <a:endParaRPr sz="2200"/>
          </a:p>
          <a:p>
            <a:pPr indent="0" lvl="0" marL="0" rtl="0" algn="l">
              <a:lnSpc>
                <a:spcPct val="115000"/>
              </a:lnSpc>
              <a:spcBef>
                <a:spcPts val="1400"/>
              </a:spcBef>
              <a:spcAft>
                <a:spcPts val="0"/>
              </a:spcAft>
              <a:buNone/>
            </a:pPr>
            <a:r>
              <a:rPr b="1" lang="en-US" sz="2400"/>
              <a:t>R²: </a:t>
            </a:r>
            <a:r>
              <a:rPr lang="en-US" sz="2200"/>
              <a:t>How much variation does the model explain?</a:t>
            </a:r>
            <a:endParaRPr sz="2200"/>
          </a:p>
          <a:p>
            <a:pPr indent="0" lvl="0" marL="0" rtl="0" algn="l">
              <a:lnSpc>
                <a:spcPct val="115000"/>
              </a:lnSpc>
              <a:spcBef>
                <a:spcPts val="1400"/>
              </a:spcBef>
              <a:spcAft>
                <a:spcPts val="0"/>
              </a:spcAft>
              <a:buNone/>
            </a:pPr>
            <a:r>
              <a:rPr b="1" lang="en-US" sz="2400"/>
              <a:t>Adjusted R² :</a:t>
            </a:r>
            <a:r>
              <a:rPr lang="en-US" sz="2200"/>
              <a:t>Does the model still look good after considering the number of predictors?</a:t>
            </a:r>
            <a:endParaRPr sz="2200"/>
          </a:p>
          <a:p>
            <a:pPr indent="0" lvl="0" marL="0" rtl="0" algn="l">
              <a:lnSpc>
                <a:spcPct val="115000"/>
              </a:lnSpc>
              <a:spcBef>
                <a:spcPts val="1400"/>
              </a:spcBef>
              <a:spcAft>
                <a:spcPts val="400"/>
              </a:spcAft>
              <a:buNone/>
            </a:pPr>
            <a:r>
              <a:rPr b="1" lang="en-US" sz="2400"/>
              <a:t>F-test :</a:t>
            </a:r>
            <a:r>
              <a:rPr lang="en-US" sz="2400"/>
              <a:t> </a:t>
            </a:r>
            <a:r>
              <a:rPr lang="en-US" sz="2200"/>
              <a:t>Does the regression model have overall statistical evidence of explanatory power?</a:t>
            </a: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40a1e6f4fc2_0_0"/>
          <p:cNvSpPr txBox="1"/>
          <p:nvPr/>
        </p:nvSpPr>
        <p:spPr>
          <a:xfrm>
            <a:off x="387550" y="442050"/>
            <a:ext cx="10716600" cy="61332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Structure of Model Estimation</a:t>
            </a:r>
            <a:endParaRPr b="1"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For multiple regression, we begin with the population model:</a:t>
            </a:r>
            <a:endParaRPr b="1"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Y=β0​+β1​X1​+β2​X2​+⋯+βk​Xk​+ϵ </a:t>
            </a:r>
            <a:endParaRPr b="1" sz="2000">
              <a:solidFill>
                <a:schemeClr val="dk1"/>
              </a:solidFill>
            </a:endParaRPr>
          </a:p>
          <a:p>
            <a:pPr indent="0" lvl="0" marL="457200" rtl="0" algn="l">
              <a:lnSpc>
                <a:spcPct val="115000"/>
              </a:lnSpc>
              <a:spcBef>
                <a:spcPts val="1200"/>
              </a:spcBef>
              <a:spcAft>
                <a:spcPts val="0"/>
              </a:spcAft>
              <a:buNone/>
            </a:pPr>
            <a:r>
              <a:rPr lang="en-US" sz="2000">
                <a:solidFill>
                  <a:schemeClr val="dk1"/>
                </a:solidFill>
              </a:rPr>
              <a:t>        FinalMarks=β0​+β1​(StudyHours)+β2​(Attendance)+β3​(InternalMarks)+ϵ</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The problem is:</a:t>
            </a:r>
            <a:endParaRPr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We don't know the values of the β coefficients.</a:t>
            </a:r>
            <a:endParaRPr b="1" sz="2000">
              <a:solidFill>
                <a:schemeClr val="dk1"/>
              </a:solidFill>
            </a:endParaRPr>
          </a:p>
          <a:p>
            <a:pPr indent="0" lvl="0" marL="0" rtl="0" algn="l">
              <a:lnSpc>
                <a:spcPct val="115000"/>
              </a:lnSpc>
              <a:spcBef>
                <a:spcPts val="1200"/>
              </a:spcBef>
              <a:spcAft>
                <a:spcPts val="0"/>
              </a:spcAft>
              <a:buNone/>
            </a:pPr>
            <a:r>
              <a:rPr lang="en-US" sz="2000">
                <a:solidFill>
                  <a:schemeClr val="dk1"/>
                </a:solidFill>
              </a:rPr>
              <a:t>We have to estimate them from our sample data.</a:t>
            </a:r>
            <a:endParaRPr sz="2000">
              <a:solidFill>
                <a:schemeClr val="dk1"/>
              </a:solidFill>
            </a:endParaRPr>
          </a:p>
          <a:p>
            <a:pPr indent="0" lvl="0" marL="0" rtl="0" algn="l">
              <a:lnSpc>
                <a:spcPct val="115000"/>
              </a:lnSpc>
              <a:spcBef>
                <a:spcPts val="2400"/>
              </a:spcBef>
              <a:spcAft>
                <a:spcPts val="0"/>
              </a:spcAft>
              <a:buNone/>
            </a:pPr>
            <a:r>
              <a:rPr b="1" lang="en-US" sz="2300">
                <a:solidFill>
                  <a:schemeClr val="dk1"/>
                </a:solidFill>
              </a:rPr>
              <a:t>Why do we need estimation?</a:t>
            </a:r>
            <a:endParaRPr b="1" sz="2300">
              <a:solidFill>
                <a:schemeClr val="dk1"/>
              </a:solidFill>
            </a:endParaRPr>
          </a:p>
          <a:p>
            <a:pPr indent="0" lvl="0" marL="0" rtl="0" algn="l">
              <a:lnSpc>
                <a:spcPct val="115000"/>
              </a:lnSpc>
              <a:spcBef>
                <a:spcPts val="1200"/>
              </a:spcBef>
              <a:spcAft>
                <a:spcPts val="0"/>
              </a:spcAft>
              <a:buNone/>
            </a:pPr>
            <a:r>
              <a:rPr lang="en-US" sz="2000">
                <a:solidFill>
                  <a:schemeClr val="dk1"/>
                </a:solidFill>
              </a:rPr>
              <a:t>Suppose we have data for 100 students:</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We want to estimate:   β0,β1,β2,β3</a:t>
            </a:r>
            <a:endParaRPr sz="2000">
              <a:solidFill>
                <a:schemeClr val="dk1"/>
              </a:solidFill>
            </a:endParaRPr>
          </a:p>
          <a:p>
            <a:pPr indent="0" lvl="0" marL="0" rtl="0" algn="l">
              <a:lnSpc>
                <a:spcPct val="115000"/>
              </a:lnSpc>
              <a:spcBef>
                <a:spcPts val="1200"/>
              </a:spcBef>
              <a:spcAft>
                <a:spcPts val="1200"/>
              </a:spcAft>
              <a:buNone/>
            </a:pPr>
            <a:r>
              <a:rPr lang="en-US" sz="2000">
                <a:solidFill>
                  <a:schemeClr val="dk1"/>
                </a:solidFill>
              </a:rPr>
              <a:t>so that our model gives predicted marks as close as reasonably possible to the observed marks.</a:t>
            </a:r>
            <a:endParaRPr b="1" sz="2000">
              <a:solidFill>
                <a:schemeClr val="dk1"/>
              </a:solidFill>
            </a:endParaRPr>
          </a:p>
        </p:txBody>
      </p:sp>
      <p:graphicFrame>
        <p:nvGraphicFramePr>
          <p:cNvPr id="239" name="Google Shape;239;g40a1e6f4fc2_0_0"/>
          <p:cNvGraphicFramePr/>
          <p:nvPr/>
        </p:nvGraphicFramePr>
        <p:xfrm>
          <a:off x="7288163" y="2849725"/>
          <a:ext cx="3000000" cy="3000000"/>
        </p:xfrm>
        <a:graphic>
          <a:graphicData uri="http://schemas.openxmlformats.org/drawingml/2006/table">
            <a:tbl>
              <a:tblPr>
                <a:noFill/>
                <a:tableStyleId>{AABB5EDB-FB31-46EC-9822-BB6EADF0BBC1}</a:tableStyleId>
              </a:tblPr>
              <a:tblGrid>
                <a:gridCol w="798475"/>
                <a:gridCol w="685100"/>
                <a:gridCol w="1080275"/>
                <a:gridCol w="748625"/>
              </a:tblGrid>
              <a:tr h="381000">
                <a:tc>
                  <a:txBody>
                    <a:bodyPr/>
                    <a:lstStyle/>
                    <a:p>
                      <a:pPr indent="0" lvl="0" marL="0" rtl="0" algn="l">
                        <a:spcBef>
                          <a:spcPts val="0"/>
                        </a:spcBef>
                        <a:spcAft>
                          <a:spcPts val="0"/>
                        </a:spcAft>
                        <a:buNone/>
                      </a:pPr>
                      <a:r>
                        <a:rPr lang="en-US"/>
                        <a:t>Study Hours</a:t>
                      </a:r>
                      <a:endParaRPr/>
                    </a:p>
                  </a:txBody>
                  <a:tcPr marT="91425" marB="91425" marR="91425" marL="91425"/>
                </a:tc>
                <a:tc>
                  <a:txBody>
                    <a:bodyPr/>
                    <a:lstStyle/>
                    <a:p>
                      <a:pPr indent="0" lvl="0" marL="0" rtl="0" algn="l">
                        <a:spcBef>
                          <a:spcPts val="0"/>
                        </a:spcBef>
                        <a:spcAft>
                          <a:spcPts val="0"/>
                        </a:spcAft>
                        <a:buNone/>
                      </a:pPr>
                      <a:r>
                        <a:rPr lang="en-US"/>
                        <a:t>Attenadnce</a:t>
                      </a:r>
                      <a:endParaRPr/>
                    </a:p>
                  </a:txBody>
                  <a:tcPr marT="91425" marB="91425" marR="91425" marL="91425"/>
                </a:tc>
                <a:tc>
                  <a:txBody>
                    <a:bodyPr/>
                    <a:lstStyle/>
                    <a:p>
                      <a:pPr indent="0" lvl="0" marL="0" rtl="0" algn="l">
                        <a:spcBef>
                          <a:spcPts val="0"/>
                        </a:spcBef>
                        <a:spcAft>
                          <a:spcPts val="0"/>
                        </a:spcAft>
                        <a:buNone/>
                      </a:pPr>
                      <a:r>
                        <a:rPr lang="en-US"/>
                        <a:t>Internal marks</a:t>
                      </a:r>
                      <a:endParaRPr/>
                    </a:p>
                  </a:txBody>
                  <a:tcPr marT="91425" marB="91425" marR="91425" marL="91425"/>
                </a:tc>
                <a:tc>
                  <a:txBody>
                    <a:bodyPr/>
                    <a:lstStyle/>
                    <a:p>
                      <a:pPr indent="0" lvl="0" marL="0" rtl="0" algn="l">
                        <a:spcBef>
                          <a:spcPts val="0"/>
                        </a:spcBef>
                        <a:spcAft>
                          <a:spcPts val="0"/>
                        </a:spcAft>
                        <a:buNone/>
                      </a:pPr>
                      <a:r>
                        <a:rPr lang="en-US"/>
                        <a:t>Final Marks</a:t>
                      </a:r>
                      <a:endParaRPr/>
                    </a:p>
                  </a:txBody>
                  <a:tcPr marT="91425" marB="91425" marR="91425" marL="91425"/>
                </a:tc>
              </a:tr>
              <a:tr h="381000">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65</a:t>
                      </a:r>
                      <a:endParaRPr/>
                    </a:p>
                  </a:txBody>
                  <a:tcPr marT="91425" marB="91425" marR="91425" marL="91425"/>
                </a:tc>
                <a:tc>
                  <a:txBody>
                    <a:bodyPr/>
                    <a:lstStyle/>
                    <a:p>
                      <a:pPr indent="0" lvl="0" marL="0" rtl="0" algn="l">
                        <a:spcBef>
                          <a:spcPts val="0"/>
                        </a:spcBef>
                        <a:spcAft>
                          <a:spcPts val="0"/>
                        </a:spcAft>
                        <a:buNone/>
                      </a:pPr>
                      <a:r>
                        <a:rPr lang="en-US"/>
                        <a:t>14</a:t>
                      </a:r>
                      <a:endParaRPr/>
                    </a:p>
                  </a:txBody>
                  <a:tcPr marT="91425" marB="91425" marR="91425" marL="91425"/>
                </a:tc>
                <a:tc>
                  <a:txBody>
                    <a:bodyPr/>
                    <a:lstStyle/>
                    <a:p>
                      <a:pPr indent="0" lvl="0" marL="0" rtl="0" algn="l">
                        <a:spcBef>
                          <a:spcPts val="0"/>
                        </a:spcBef>
                        <a:spcAft>
                          <a:spcPts val="0"/>
                        </a:spcAft>
                        <a:buNone/>
                      </a:pPr>
                      <a:r>
                        <a:rPr lang="en-US"/>
                        <a:t>55</a:t>
                      </a:r>
                      <a:endParaRPr/>
                    </a:p>
                  </a:txBody>
                  <a:tcPr marT="91425" marB="91425" marR="91425" marL="91425"/>
                </a:tc>
              </a:tr>
              <a:tr h="381000">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70</a:t>
                      </a:r>
                      <a:endParaRPr/>
                    </a:p>
                  </a:txBody>
                  <a:tcPr marT="91425" marB="91425" marR="91425" marL="91425"/>
                </a:tc>
                <a:tc>
                  <a:txBody>
                    <a:bodyPr/>
                    <a:lstStyle/>
                    <a:p>
                      <a:pPr indent="0" lvl="0" marL="0" rtl="0" algn="l">
                        <a:spcBef>
                          <a:spcPts val="0"/>
                        </a:spcBef>
                        <a:spcAft>
                          <a:spcPts val="0"/>
                        </a:spcAft>
                        <a:buNone/>
                      </a:pPr>
                      <a:r>
                        <a:rPr lang="en-US"/>
                        <a:t>18</a:t>
                      </a:r>
                      <a:endParaRPr/>
                    </a:p>
                  </a:txBody>
                  <a:tcPr marT="91425" marB="91425" marR="91425" marL="91425"/>
                </a:tc>
                <a:tc>
                  <a:txBody>
                    <a:bodyPr/>
                    <a:lstStyle/>
                    <a:p>
                      <a:pPr indent="0" lvl="0" marL="0" rtl="0" algn="l">
                        <a:spcBef>
                          <a:spcPts val="0"/>
                        </a:spcBef>
                        <a:spcAft>
                          <a:spcPts val="0"/>
                        </a:spcAft>
                        <a:buNone/>
                      </a:pPr>
                      <a:r>
                        <a:rPr lang="en-US"/>
                        <a:t>55</a:t>
                      </a:r>
                      <a:endParaRPr/>
                    </a:p>
                  </a:txBody>
                  <a:tcPr marT="91425" marB="91425" marR="91425" marL="91425"/>
                </a:tc>
              </a:tr>
              <a:tr h="381000">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c>
                  <a:txBody>
                    <a:bodyPr/>
                    <a:lstStyle/>
                    <a:p>
                      <a:pPr indent="0" lvl="0" marL="0" rtl="0" algn="l">
                        <a:spcBef>
                          <a:spcPts val="0"/>
                        </a:spcBef>
                        <a:spcAft>
                          <a:spcPts val="0"/>
                        </a:spcAft>
                        <a:buNone/>
                      </a:pPr>
                      <a:r>
                        <a:rPr lang="en-US"/>
                        <a:t>….</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40a1e6f4fc2_0_3"/>
          <p:cNvSpPr txBox="1"/>
          <p:nvPr/>
        </p:nvSpPr>
        <p:spPr>
          <a:xfrm>
            <a:off x="298038" y="362950"/>
            <a:ext cx="11595600" cy="559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The fitted model</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Suppose estimation gives: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Marks=20+5(StudyHours)+0.3(Attendance)+0.6(InternalMarks)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These numbers:   20,5,0.3,0.6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are </a:t>
            </a:r>
            <a:r>
              <a:rPr b="1" lang="en-US" sz="2400">
                <a:solidFill>
                  <a:schemeClr val="dk1"/>
                </a:solidFill>
                <a:latin typeface="Times New Roman"/>
                <a:ea typeface="Times New Roman"/>
                <a:cs typeface="Times New Roman"/>
                <a:sym typeface="Times New Roman"/>
              </a:rPr>
              <a:t>estimated coefficients</a:t>
            </a:r>
            <a:r>
              <a:rPr lang="en-US" sz="2400">
                <a:solidFill>
                  <a:schemeClr val="dk1"/>
                </a:solidFill>
                <a:latin typeface="Times New Roman"/>
                <a:ea typeface="Times New Roman"/>
                <a:cs typeface="Times New Roman"/>
                <a:sym typeface="Times New Roman"/>
              </a:rPr>
              <a:t>. They were obtained from the sample data.</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2400"/>
              </a:spcBef>
              <a:spcAft>
                <a:spcPts val="0"/>
              </a:spcAft>
              <a:buNone/>
            </a:pPr>
            <a:r>
              <a:rPr b="1" lang="en-US" sz="2000">
                <a:solidFill>
                  <a:schemeClr val="dk1"/>
                </a:solidFill>
              </a:rPr>
              <a:t>How are the coefficients estimated? </a:t>
            </a:r>
            <a:r>
              <a:rPr lang="en-US" sz="2000">
                <a:solidFill>
                  <a:schemeClr val="dk1"/>
                </a:solidFill>
              </a:rPr>
              <a:t>This is where </a:t>
            </a:r>
            <a:r>
              <a:rPr b="1" lang="en-US" sz="2000">
                <a:solidFill>
                  <a:schemeClr val="dk1"/>
                </a:solidFill>
              </a:rPr>
              <a:t>Ordinary Least Squares (OLS)</a:t>
            </a:r>
            <a:r>
              <a:rPr lang="en-US" sz="2000">
                <a:solidFill>
                  <a:schemeClr val="dk1"/>
                </a:solidFill>
              </a:rPr>
              <a:t> comes in.</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For every observation:  Residual=Actual−Predicted  or:  ei=Yi−Y</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chooses coefficient estimates that minimize:</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This is called the:</a:t>
            </a:r>
            <a:endParaRPr sz="2000">
              <a:solidFill>
                <a:schemeClr val="dk1"/>
              </a:solidFill>
            </a:endParaRPr>
          </a:p>
          <a:p>
            <a:pPr indent="0" lvl="0" marL="0" rtl="0" algn="l">
              <a:lnSpc>
                <a:spcPct val="115000"/>
              </a:lnSpc>
              <a:spcBef>
                <a:spcPts val="1400"/>
              </a:spcBef>
              <a:spcAft>
                <a:spcPts val="400"/>
              </a:spcAft>
              <a:buNone/>
            </a:pPr>
            <a:r>
              <a:rPr b="1" lang="en-US" sz="2000">
                <a:solidFill>
                  <a:schemeClr val="dk1"/>
                </a:solidFill>
              </a:rPr>
              <a:t>Residual Sum of Squares (RSS)  </a:t>
            </a:r>
            <a:r>
              <a:rPr lang="en-US" sz="2000">
                <a:solidFill>
                  <a:schemeClr val="dk1"/>
                </a:solidFill>
              </a:rPr>
              <a:t>or  </a:t>
            </a:r>
            <a:r>
              <a:rPr b="1" lang="en-US" sz="2000">
                <a:solidFill>
                  <a:schemeClr val="dk1"/>
                </a:solidFill>
              </a:rPr>
              <a:t>Sum of Squared Errors (SSE)   </a:t>
            </a:r>
            <a:r>
              <a:rPr lang="en-US" sz="2000">
                <a:solidFill>
                  <a:schemeClr val="dk1"/>
                </a:solidFill>
              </a:rPr>
              <a:t>depending on notation.</a:t>
            </a:r>
            <a:endParaRPr sz="2000">
              <a:solidFill>
                <a:schemeClr val="dk1"/>
              </a:solidFill>
              <a:latin typeface="Times New Roman"/>
              <a:ea typeface="Times New Roman"/>
              <a:cs typeface="Times New Roman"/>
              <a:sym typeface="Times New Roman"/>
            </a:endParaRPr>
          </a:p>
        </p:txBody>
      </p:sp>
      <p:pic>
        <p:nvPicPr>
          <p:cNvPr id="245" name="Google Shape;245;g40a1e6f4fc2_0_3"/>
          <p:cNvPicPr preferRelativeResize="0"/>
          <p:nvPr/>
        </p:nvPicPr>
        <p:blipFill>
          <a:blip r:embed="rId3">
            <a:alphaModFix/>
          </a:blip>
          <a:stretch>
            <a:fillRect/>
          </a:stretch>
        </p:blipFill>
        <p:spPr>
          <a:xfrm>
            <a:off x="8542760" y="4159325"/>
            <a:ext cx="2154975" cy="1245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40a1e6f4fc2_0_6"/>
          <p:cNvSpPr txBox="1"/>
          <p:nvPr/>
        </p:nvSpPr>
        <p:spPr>
          <a:xfrm>
            <a:off x="668600" y="766950"/>
            <a:ext cx="107742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Times New Roman"/>
                <a:ea typeface="Times New Roman"/>
                <a:cs typeface="Times New Roman"/>
                <a:sym typeface="Times New Roman"/>
              </a:rPr>
              <a:t>Why do we square the errors? </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Suppose our model makes these errors: +5, -3, +2,  -4</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If we simply add them: 5−3+2−4=0.It might appear that there is no error!</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latin typeface="Times New Roman"/>
                <a:ea typeface="Times New Roman"/>
                <a:cs typeface="Times New Roman"/>
                <a:sym typeface="Times New Roman"/>
              </a:rPr>
              <a:t>So we square them: 5</a:t>
            </a:r>
            <a:r>
              <a:rPr baseline="30000" lang="en-US" sz="2400">
                <a:latin typeface="Times New Roman"/>
                <a:ea typeface="Times New Roman"/>
                <a:cs typeface="Times New Roman"/>
                <a:sym typeface="Times New Roman"/>
              </a:rPr>
              <a:t>2 </a:t>
            </a:r>
            <a:r>
              <a:rPr lang="en-US" sz="2400">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(-3)</a:t>
            </a:r>
            <a:r>
              <a:rPr baseline="30000" lang="en-US" sz="2400">
                <a:solidFill>
                  <a:schemeClr val="dk1"/>
                </a:solidFill>
                <a:latin typeface="Times New Roman"/>
                <a:ea typeface="Times New Roman"/>
                <a:cs typeface="Times New Roman"/>
                <a:sym typeface="Times New Roman"/>
              </a:rPr>
              <a:t>2 </a:t>
            </a:r>
            <a:r>
              <a:rPr lang="en-US" sz="2400">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2</a:t>
            </a:r>
            <a:r>
              <a:rPr baseline="30000" lang="en-US" sz="2400">
                <a:solidFill>
                  <a:schemeClr val="dk1"/>
                </a:solidFill>
                <a:latin typeface="Times New Roman"/>
                <a:ea typeface="Times New Roman"/>
                <a:cs typeface="Times New Roman"/>
                <a:sym typeface="Times New Roman"/>
              </a:rPr>
              <a:t>2 </a:t>
            </a:r>
            <a:r>
              <a:rPr lang="en-US" sz="2400">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-4)</a:t>
            </a:r>
            <a:r>
              <a:rPr baseline="30000" lang="en-US" sz="2400">
                <a:solidFill>
                  <a:schemeClr val="dk1"/>
                </a:solidFill>
                <a:latin typeface="Times New Roman"/>
                <a:ea typeface="Times New Roman"/>
                <a:cs typeface="Times New Roman"/>
                <a:sym typeface="Times New Roman"/>
              </a:rPr>
              <a:t>2</a:t>
            </a:r>
            <a:r>
              <a:rPr lang="en-US" sz="2400">
                <a:latin typeface="Times New Roman"/>
                <a:ea typeface="Times New Roman"/>
                <a:cs typeface="Times New Roman"/>
                <a:sym typeface="Times New Roman"/>
              </a:rPr>
              <a:t>  = 25 + 9 + 4 + 16 = 25 + 9 + 4 + 16 = 54 </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Now the magnitude of the errors is captured.Therefore OLS tries to find the coefficients that give the </a:t>
            </a:r>
            <a:r>
              <a:rPr b="1" lang="en-US" sz="2400">
                <a:solidFill>
                  <a:schemeClr val="dk1"/>
                </a:solidFill>
                <a:latin typeface="Times New Roman"/>
                <a:ea typeface="Times New Roman"/>
                <a:cs typeface="Times New Roman"/>
                <a:sym typeface="Times New Roman"/>
              </a:rPr>
              <a:t>smallest possible sum of squared residuals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US" sz="2400">
                <a:solidFill>
                  <a:schemeClr val="dk1"/>
                </a:solidFill>
                <a:latin typeface="Times New Roman"/>
                <a:ea typeface="Times New Roman"/>
                <a:cs typeface="Times New Roman"/>
                <a:sym typeface="Times New Roman"/>
              </a:rPr>
              <a:t>Summary: Diagnostics </a:t>
            </a:r>
            <a:r>
              <a:rPr lang="en-US" sz="2400">
                <a:solidFill>
                  <a:schemeClr val="dk1"/>
                </a:solidFill>
                <a:latin typeface="Times New Roman"/>
                <a:ea typeface="Times New Roman"/>
                <a:cs typeface="Times New Roman"/>
                <a:sym typeface="Times New Roman"/>
              </a:rPr>
              <a:t>Check whether the fitted model is appropriate and whether important problems are present. Examine residuals and residual plots. Check linearity, unusual observations and error behaviour. For multiple regression, examine multicollinearity. For time-ordered data, autocorrelation may be important.</a:t>
            </a:r>
            <a:endParaRPr sz="24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g40a1e6f4fc2_0_9"/>
          <p:cNvPicPr preferRelativeResize="0"/>
          <p:nvPr/>
        </p:nvPicPr>
        <p:blipFill>
          <a:blip r:embed="rId3">
            <a:alphaModFix/>
          </a:blip>
          <a:stretch>
            <a:fillRect/>
          </a:stretch>
        </p:blipFill>
        <p:spPr>
          <a:xfrm>
            <a:off x="3168550" y="236650"/>
            <a:ext cx="7682926" cy="6621349"/>
          </a:xfrm>
          <a:prstGeom prst="rect">
            <a:avLst/>
          </a:prstGeom>
          <a:noFill/>
          <a:ln>
            <a:noFill/>
          </a:ln>
        </p:spPr>
      </p:pic>
      <p:sp>
        <p:nvSpPr>
          <p:cNvPr id="256" name="Google Shape;256;g40a1e6f4fc2_0_9"/>
          <p:cNvSpPr txBox="1"/>
          <p:nvPr/>
        </p:nvSpPr>
        <p:spPr>
          <a:xfrm>
            <a:off x="152400" y="152400"/>
            <a:ext cx="30000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Structure of the Model Estimation: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2"/>
          <p:cNvSpPr txBox="1"/>
          <p:nvPr/>
        </p:nvSpPr>
        <p:spPr>
          <a:xfrm>
            <a:off x="685800" y="1051560"/>
            <a:ext cx="10789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1000"/>
              </a:spcBef>
              <a:spcAft>
                <a:spcPts val="0"/>
              </a:spcAft>
              <a:buNone/>
            </a:pPr>
            <a:r>
              <a:t/>
            </a:r>
            <a:endParaRPr/>
          </a:p>
        </p:txBody>
      </p:sp>
      <p:sp>
        <p:nvSpPr>
          <p:cNvPr id="262" name="Google Shape;262;p12"/>
          <p:cNvSpPr txBox="1"/>
          <p:nvPr/>
        </p:nvSpPr>
        <p:spPr>
          <a:xfrm>
            <a:off x="573100" y="439500"/>
            <a:ext cx="11475600" cy="63417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1200"/>
              </a:spcBef>
              <a:spcAft>
                <a:spcPts val="0"/>
              </a:spcAft>
              <a:buClr>
                <a:schemeClr val="dk1"/>
              </a:buClr>
              <a:buSzPts val="2400"/>
              <a:buChar char="●"/>
            </a:pPr>
            <a:r>
              <a:rPr b="1" lang="en-US" sz="2400">
                <a:solidFill>
                  <a:schemeClr val="dk1"/>
                </a:solidFill>
              </a:rPr>
              <a:t>Testing Rule of Multiple Regression Analysis</a:t>
            </a:r>
            <a:endParaRPr b="1" sz="2400">
              <a:solidFill>
                <a:schemeClr val="dk1"/>
              </a:solidFill>
            </a:endParaRPr>
          </a:p>
          <a:p>
            <a:pPr indent="0" lvl="0" marL="0" rtl="0" algn="l">
              <a:lnSpc>
                <a:spcPct val="115000"/>
              </a:lnSpc>
              <a:spcBef>
                <a:spcPts val="1800"/>
              </a:spcBef>
              <a:spcAft>
                <a:spcPts val="0"/>
              </a:spcAft>
              <a:buNone/>
            </a:pPr>
            <a:r>
              <a:rPr b="1" lang="en-US" sz="2400">
                <a:solidFill>
                  <a:schemeClr val="dk1"/>
                </a:solidFill>
              </a:rPr>
              <a:t>What does “Testing Rule” mean?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After we estimate a multiple regression model, we need to determine:</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Is each individual predictor statistically significant?   -  t-test</a:t>
            </a:r>
            <a:endParaRPr b="1" sz="2400">
              <a:solidFill>
                <a:schemeClr val="dk1"/>
              </a:solidFill>
            </a:endParaRPr>
          </a:p>
          <a:p>
            <a:pPr indent="-381000" lvl="0" marL="457200" rtl="0" algn="l">
              <a:lnSpc>
                <a:spcPct val="115000"/>
              </a:lnSpc>
              <a:spcBef>
                <a:spcPts val="0"/>
              </a:spcBef>
              <a:spcAft>
                <a:spcPts val="0"/>
              </a:spcAft>
              <a:buClr>
                <a:schemeClr val="dk1"/>
              </a:buClr>
              <a:buSzPts val="2400"/>
              <a:buAutoNum type="arabicPeriod"/>
            </a:pPr>
            <a:r>
              <a:rPr b="1" lang="en-US" sz="2400">
                <a:solidFill>
                  <a:schemeClr val="dk1"/>
                </a:solidFill>
              </a:rPr>
              <a:t>Is the regression model significant as a whole?          - F-test</a:t>
            </a:r>
            <a:endParaRPr b="1" sz="2400">
              <a:solidFill>
                <a:schemeClr val="dk1"/>
              </a:solidFill>
            </a:endParaRPr>
          </a:p>
          <a:p>
            <a:pPr indent="0" lvl="0" marL="0" rtl="0" algn="l">
              <a:lnSpc>
                <a:spcPct val="115000"/>
              </a:lnSpc>
              <a:spcBef>
                <a:spcPts val="1800"/>
              </a:spcBef>
              <a:spcAft>
                <a:spcPts val="0"/>
              </a:spcAft>
              <a:buNone/>
            </a:pPr>
            <a:r>
              <a:rPr b="1" lang="en-US" sz="2400">
                <a:solidFill>
                  <a:schemeClr val="dk1"/>
                </a:solidFill>
              </a:rPr>
              <a:t>Example: Student Marks Prediction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Suppose our model is: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Marks = β0 + β1 (StudyHours) + β2 (Attendance)+ β3 (InternalMarks) + ϵ</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After estimation, we obtain:</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Marks = 20 + 5(StudyHours) + 0.3(Attendance) + 0.6 (InternalMarks)</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Now we want to test whether these relationships are statistically significant.</a:t>
            </a:r>
            <a:endParaRPr b="1" sz="24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ha7d38579d64536_0_38"/>
          <p:cNvSpPr txBox="1"/>
          <p:nvPr/>
        </p:nvSpPr>
        <p:spPr>
          <a:xfrm>
            <a:off x="496675" y="745025"/>
            <a:ext cx="11538300" cy="50814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2400"/>
              </a:spcBef>
              <a:spcAft>
                <a:spcPts val="0"/>
              </a:spcAft>
              <a:buClr>
                <a:schemeClr val="dk1"/>
              </a:buClr>
              <a:buSzPts val="2400"/>
              <a:buAutoNum type="arabicPeriod"/>
            </a:pPr>
            <a:r>
              <a:rPr b="1" lang="en-US" sz="2400">
                <a:solidFill>
                  <a:schemeClr val="dk1"/>
                </a:solidFill>
              </a:rPr>
              <a:t>Testing Individual Coefficients — t-test</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Suppose we want to test whether </a:t>
            </a:r>
            <a:r>
              <a:rPr b="1" lang="en-US" sz="2400">
                <a:solidFill>
                  <a:schemeClr val="dk1"/>
                </a:solidFill>
              </a:rPr>
              <a:t>Study Hours</a:t>
            </a:r>
            <a:r>
              <a:rPr lang="en-US" sz="2400">
                <a:solidFill>
                  <a:schemeClr val="dk1"/>
                </a:solidFill>
              </a:rPr>
              <a:t> significantly affects/predicts marks.</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Hypotheses</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Null hypothesis: </a:t>
            </a:r>
            <a:r>
              <a:rPr lang="en-US" sz="2400">
                <a:solidFill>
                  <a:schemeClr val="dk1"/>
                </a:solidFill>
              </a:rPr>
              <a:t>Study Hours does not have a statistically significant linear contribution to the model, conditional on the other predictors.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H0:        β1=0</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Alternative hypothesis: </a:t>
            </a:r>
            <a:r>
              <a:rPr lang="en-US" sz="2400">
                <a:solidFill>
                  <a:schemeClr val="dk1"/>
                </a:solidFill>
              </a:rPr>
              <a:t>Study Hours has a statistically significant contribution. </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H1​:β1​=0 </a:t>
            </a:r>
            <a:endParaRPr b="1" sz="2400">
              <a:solidFill>
                <a:schemeClr val="dk1"/>
              </a:solidFill>
            </a:endParaRPr>
          </a:p>
          <a:p>
            <a:pPr indent="0" lvl="0" marL="0" rtl="0" algn="l">
              <a:lnSpc>
                <a:spcPct val="115000"/>
              </a:lnSpc>
              <a:spcBef>
                <a:spcPts val="1400"/>
              </a:spcBef>
              <a:spcAft>
                <a:spcPts val="400"/>
              </a:spcAft>
              <a:buNone/>
            </a:pPr>
            <a:r>
              <a:rPr b="1" lang="en-US" sz="2400">
                <a:solidFill>
                  <a:schemeClr val="dk1"/>
                </a:solidFill>
              </a:rPr>
              <a:t>Test statistic:   </a:t>
            </a:r>
            <a:r>
              <a:rPr lang="en-US" sz="2400">
                <a:solidFill>
                  <a:schemeClr val="dk1"/>
                </a:solidFill>
              </a:rPr>
              <a:t>t=B1 / SE(β​1​)</a:t>
            </a:r>
            <a:endParaRPr sz="24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graphicFrame>
        <p:nvGraphicFramePr>
          <p:cNvPr id="272" name="Google Shape;272;ha7d38579d64536_0_41"/>
          <p:cNvGraphicFramePr/>
          <p:nvPr/>
        </p:nvGraphicFramePr>
        <p:xfrm>
          <a:off x="383700" y="2335175"/>
          <a:ext cx="3000000" cy="3000000"/>
        </p:xfrm>
        <a:graphic>
          <a:graphicData uri="http://schemas.openxmlformats.org/drawingml/2006/table">
            <a:tbl>
              <a:tblPr>
                <a:noFill/>
                <a:tableStyleId>{AABB5EDB-FB31-46EC-9822-BB6EADF0BBC1}</a:tableStyleId>
              </a:tblPr>
              <a:tblGrid>
                <a:gridCol w="2057325"/>
                <a:gridCol w="2057325"/>
                <a:gridCol w="2057325"/>
                <a:gridCol w="2057325"/>
                <a:gridCol w="2057325"/>
              </a:tblGrid>
              <a:tr h="381000">
                <a:tc>
                  <a:txBody>
                    <a:bodyPr/>
                    <a:lstStyle/>
                    <a:p>
                      <a:pPr indent="0" lvl="0" marL="0" rtl="0" algn="l">
                        <a:spcBef>
                          <a:spcPts val="0"/>
                        </a:spcBef>
                        <a:spcAft>
                          <a:spcPts val="0"/>
                        </a:spcAft>
                        <a:buNone/>
                      </a:pPr>
                      <a:r>
                        <a:rPr b="1" lang="en-US" sz="2000"/>
                        <a:t>Predictor </a:t>
                      </a:r>
                      <a:endParaRPr b="1" sz="2000"/>
                    </a:p>
                  </a:txBody>
                  <a:tcPr marT="91425" marB="91425" marR="91425" marL="91425"/>
                </a:tc>
                <a:tc>
                  <a:txBody>
                    <a:bodyPr/>
                    <a:lstStyle/>
                    <a:p>
                      <a:pPr indent="0" lvl="0" marL="0" rtl="0" algn="l">
                        <a:spcBef>
                          <a:spcPts val="0"/>
                        </a:spcBef>
                        <a:spcAft>
                          <a:spcPts val="0"/>
                        </a:spcAft>
                        <a:buNone/>
                      </a:pPr>
                      <a:r>
                        <a:rPr b="1" lang="en-US" sz="2000"/>
                        <a:t>Coefficient </a:t>
                      </a:r>
                      <a:endParaRPr b="1" sz="2000"/>
                    </a:p>
                  </a:txBody>
                  <a:tcPr marT="91425" marB="91425" marR="91425" marL="91425"/>
                </a:tc>
                <a:tc>
                  <a:txBody>
                    <a:bodyPr/>
                    <a:lstStyle/>
                    <a:p>
                      <a:pPr indent="0" lvl="0" marL="0" rtl="0" algn="l">
                        <a:spcBef>
                          <a:spcPts val="0"/>
                        </a:spcBef>
                        <a:spcAft>
                          <a:spcPts val="0"/>
                        </a:spcAft>
                        <a:buNone/>
                      </a:pPr>
                      <a:r>
                        <a:rPr b="1" lang="en-US" sz="2000"/>
                        <a:t>SE </a:t>
                      </a:r>
                      <a:endParaRPr b="1" sz="2000"/>
                    </a:p>
                  </a:txBody>
                  <a:tcPr marT="91425" marB="91425" marR="91425" marL="91425"/>
                </a:tc>
                <a:tc>
                  <a:txBody>
                    <a:bodyPr/>
                    <a:lstStyle/>
                    <a:p>
                      <a:pPr indent="0" lvl="0" marL="0" rtl="0" algn="l">
                        <a:spcBef>
                          <a:spcPts val="0"/>
                        </a:spcBef>
                        <a:spcAft>
                          <a:spcPts val="0"/>
                        </a:spcAft>
                        <a:buNone/>
                      </a:pPr>
                      <a:r>
                        <a:rPr b="1" lang="en-US" sz="2000"/>
                        <a:t>t</a:t>
                      </a:r>
                      <a:endParaRPr b="1" sz="2000"/>
                    </a:p>
                  </a:txBody>
                  <a:tcPr marT="91425" marB="91425" marR="91425" marL="91425"/>
                </a:tc>
                <a:tc>
                  <a:txBody>
                    <a:bodyPr/>
                    <a:lstStyle/>
                    <a:p>
                      <a:pPr indent="0" lvl="0" marL="0" rtl="0" algn="l">
                        <a:spcBef>
                          <a:spcPts val="0"/>
                        </a:spcBef>
                        <a:spcAft>
                          <a:spcPts val="0"/>
                        </a:spcAft>
                        <a:buNone/>
                      </a:pPr>
                      <a:r>
                        <a:rPr b="1" lang="en-US" sz="2000"/>
                        <a:t>p-value</a:t>
                      </a:r>
                      <a:endParaRPr b="1" sz="2000"/>
                    </a:p>
                  </a:txBody>
                  <a:tcPr marT="91425" marB="91425" marR="91425" marL="91425"/>
                </a:tc>
              </a:tr>
              <a:tr h="381000">
                <a:tc>
                  <a:txBody>
                    <a:bodyPr/>
                    <a:lstStyle/>
                    <a:p>
                      <a:pPr indent="0" lvl="0" marL="0" rtl="0" algn="l">
                        <a:spcBef>
                          <a:spcPts val="0"/>
                        </a:spcBef>
                        <a:spcAft>
                          <a:spcPts val="0"/>
                        </a:spcAft>
                        <a:buNone/>
                      </a:pPr>
                      <a:r>
                        <a:rPr lang="en-US" sz="2000"/>
                        <a:t>Study Hours </a:t>
                      </a:r>
                      <a:endParaRPr sz="2000"/>
                    </a:p>
                  </a:txBody>
                  <a:tcPr marT="91425" marB="91425" marR="91425" marL="91425"/>
                </a:tc>
                <a:tc>
                  <a:txBody>
                    <a:bodyPr/>
                    <a:lstStyle/>
                    <a:p>
                      <a:pPr indent="0" lvl="0" marL="0" rtl="0" algn="l">
                        <a:spcBef>
                          <a:spcPts val="0"/>
                        </a:spcBef>
                        <a:spcAft>
                          <a:spcPts val="0"/>
                        </a:spcAft>
                        <a:buNone/>
                      </a:pPr>
                      <a:r>
                        <a:rPr lang="en-US" sz="2000"/>
                        <a:t>5.0</a:t>
                      </a:r>
                      <a:endParaRPr sz="2000"/>
                    </a:p>
                  </a:txBody>
                  <a:tcPr marT="91425" marB="91425" marR="91425" marL="91425"/>
                </a:tc>
                <a:tc>
                  <a:txBody>
                    <a:bodyPr/>
                    <a:lstStyle/>
                    <a:p>
                      <a:pPr indent="0" lvl="0" marL="0" rtl="0" algn="l">
                        <a:spcBef>
                          <a:spcPts val="0"/>
                        </a:spcBef>
                        <a:spcAft>
                          <a:spcPts val="0"/>
                        </a:spcAft>
                        <a:buNone/>
                      </a:pPr>
                      <a:r>
                        <a:rPr lang="en-US" sz="2000"/>
                        <a:t>1.2 </a:t>
                      </a:r>
                      <a:endParaRPr sz="2000"/>
                    </a:p>
                  </a:txBody>
                  <a:tcPr marT="91425" marB="91425" marR="91425" marL="91425"/>
                </a:tc>
                <a:tc>
                  <a:txBody>
                    <a:bodyPr/>
                    <a:lstStyle/>
                    <a:p>
                      <a:pPr indent="0" lvl="0" marL="0" rtl="0" algn="l">
                        <a:spcBef>
                          <a:spcPts val="0"/>
                        </a:spcBef>
                        <a:spcAft>
                          <a:spcPts val="0"/>
                        </a:spcAft>
                        <a:buNone/>
                      </a:pPr>
                      <a:r>
                        <a:rPr lang="en-US" sz="2000"/>
                        <a:t>4.17</a:t>
                      </a:r>
                      <a:endParaRPr sz="2000"/>
                    </a:p>
                  </a:txBody>
                  <a:tcPr marT="91425" marB="91425" marR="91425" marL="91425"/>
                </a:tc>
                <a:tc>
                  <a:txBody>
                    <a:bodyPr/>
                    <a:lstStyle/>
                    <a:p>
                      <a:pPr indent="0" lvl="0" marL="0" rtl="0" algn="l">
                        <a:spcBef>
                          <a:spcPts val="0"/>
                        </a:spcBef>
                        <a:spcAft>
                          <a:spcPts val="0"/>
                        </a:spcAft>
                        <a:buNone/>
                      </a:pPr>
                      <a:r>
                        <a:rPr lang="en-US" sz="2000"/>
                        <a:t>0.002 </a:t>
                      </a:r>
                      <a:endParaRPr sz="2000"/>
                    </a:p>
                  </a:txBody>
                  <a:tcPr marT="91425" marB="91425" marR="91425" marL="91425"/>
                </a:tc>
              </a:tr>
              <a:tr h="381000">
                <a:tc>
                  <a:txBody>
                    <a:bodyPr/>
                    <a:lstStyle/>
                    <a:p>
                      <a:pPr indent="0" lvl="0" marL="0" rtl="0" algn="l">
                        <a:spcBef>
                          <a:spcPts val="0"/>
                        </a:spcBef>
                        <a:spcAft>
                          <a:spcPts val="0"/>
                        </a:spcAft>
                        <a:buNone/>
                      </a:pPr>
                      <a:r>
                        <a:rPr lang="en-US" sz="2000"/>
                        <a:t>Attendance </a:t>
                      </a:r>
                      <a:endParaRPr sz="2000"/>
                    </a:p>
                  </a:txBody>
                  <a:tcPr marT="91425" marB="91425" marR="91425" marL="91425"/>
                </a:tc>
                <a:tc>
                  <a:txBody>
                    <a:bodyPr/>
                    <a:lstStyle/>
                    <a:p>
                      <a:pPr indent="0" lvl="0" marL="0" rtl="0" algn="l">
                        <a:spcBef>
                          <a:spcPts val="0"/>
                        </a:spcBef>
                        <a:spcAft>
                          <a:spcPts val="0"/>
                        </a:spcAft>
                        <a:buNone/>
                      </a:pPr>
                      <a:r>
                        <a:rPr lang="en-US" sz="2000"/>
                        <a:t>0.3</a:t>
                      </a:r>
                      <a:endParaRPr sz="2000"/>
                    </a:p>
                  </a:txBody>
                  <a:tcPr marT="91425" marB="91425" marR="91425" marL="91425"/>
                </a:tc>
                <a:tc>
                  <a:txBody>
                    <a:bodyPr/>
                    <a:lstStyle/>
                    <a:p>
                      <a:pPr indent="0" lvl="0" marL="0" rtl="0" algn="l">
                        <a:spcBef>
                          <a:spcPts val="0"/>
                        </a:spcBef>
                        <a:spcAft>
                          <a:spcPts val="0"/>
                        </a:spcAft>
                        <a:buNone/>
                      </a:pPr>
                      <a:r>
                        <a:rPr lang="en-US" sz="2000"/>
                        <a:t>0.1</a:t>
                      </a:r>
                      <a:endParaRPr sz="2000"/>
                    </a:p>
                  </a:txBody>
                  <a:tcPr marT="91425" marB="91425" marR="91425" marL="91425"/>
                </a:tc>
                <a:tc>
                  <a:txBody>
                    <a:bodyPr/>
                    <a:lstStyle/>
                    <a:p>
                      <a:pPr indent="0" lvl="0" marL="0" rtl="0" algn="l">
                        <a:spcBef>
                          <a:spcPts val="0"/>
                        </a:spcBef>
                        <a:spcAft>
                          <a:spcPts val="0"/>
                        </a:spcAft>
                        <a:buNone/>
                      </a:pPr>
                      <a:r>
                        <a:rPr lang="en-US" sz="2000"/>
                        <a:t>3.00 </a:t>
                      </a:r>
                      <a:endParaRPr sz="2000"/>
                    </a:p>
                  </a:txBody>
                  <a:tcPr marT="91425" marB="91425" marR="91425" marL="91425"/>
                </a:tc>
                <a:tc>
                  <a:txBody>
                    <a:bodyPr/>
                    <a:lstStyle/>
                    <a:p>
                      <a:pPr indent="0" lvl="0" marL="0" rtl="0" algn="l">
                        <a:spcBef>
                          <a:spcPts val="0"/>
                        </a:spcBef>
                        <a:spcAft>
                          <a:spcPts val="0"/>
                        </a:spcAft>
                        <a:buNone/>
                      </a:pPr>
                      <a:r>
                        <a:rPr lang="en-US" sz="2000"/>
                        <a:t>0.018 </a:t>
                      </a:r>
                      <a:endParaRPr sz="2000"/>
                    </a:p>
                  </a:txBody>
                  <a:tcPr marT="91425" marB="91425" marR="91425" marL="91425"/>
                </a:tc>
              </a:tr>
              <a:tr h="381000">
                <a:tc>
                  <a:txBody>
                    <a:bodyPr/>
                    <a:lstStyle/>
                    <a:p>
                      <a:pPr indent="0" lvl="0" marL="0" rtl="0" algn="l">
                        <a:spcBef>
                          <a:spcPts val="0"/>
                        </a:spcBef>
                        <a:spcAft>
                          <a:spcPts val="0"/>
                        </a:spcAft>
                        <a:buNone/>
                      </a:pPr>
                      <a:r>
                        <a:rPr lang="en-US" sz="2000"/>
                        <a:t>Internal Marks </a:t>
                      </a:r>
                      <a:endParaRPr sz="2000"/>
                    </a:p>
                  </a:txBody>
                  <a:tcPr marT="91425" marB="91425" marR="91425" marL="91425"/>
                </a:tc>
                <a:tc>
                  <a:txBody>
                    <a:bodyPr/>
                    <a:lstStyle/>
                    <a:p>
                      <a:pPr indent="0" lvl="0" marL="0" rtl="0" algn="l">
                        <a:spcBef>
                          <a:spcPts val="0"/>
                        </a:spcBef>
                        <a:spcAft>
                          <a:spcPts val="0"/>
                        </a:spcAft>
                        <a:buNone/>
                      </a:pPr>
                      <a:r>
                        <a:rPr lang="en-US" sz="2000"/>
                        <a:t>0.6</a:t>
                      </a:r>
                      <a:endParaRPr sz="2000"/>
                    </a:p>
                  </a:txBody>
                  <a:tcPr marT="91425" marB="91425" marR="91425" marL="91425"/>
                </a:tc>
                <a:tc>
                  <a:txBody>
                    <a:bodyPr/>
                    <a:lstStyle/>
                    <a:p>
                      <a:pPr indent="0" lvl="0" marL="0" rtl="0" algn="l">
                        <a:spcBef>
                          <a:spcPts val="0"/>
                        </a:spcBef>
                        <a:spcAft>
                          <a:spcPts val="0"/>
                        </a:spcAft>
                        <a:buNone/>
                      </a:pPr>
                      <a:r>
                        <a:rPr lang="en-US" sz="2000"/>
                        <a:t>0.015</a:t>
                      </a:r>
                      <a:endParaRPr sz="2000"/>
                    </a:p>
                  </a:txBody>
                  <a:tcPr marT="91425" marB="91425" marR="91425" marL="91425"/>
                </a:tc>
                <a:tc>
                  <a:txBody>
                    <a:bodyPr/>
                    <a:lstStyle/>
                    <a:p>
                      <a:pPr indent="0" lvl="0" marL="0" rtl="0" algn="l">
                        <a:spcBef>
                          <a:spcPts val="0"/>
                        </a:spcBef>
                        <a:spcAft>
                          <a:spcPts val="0"/>
                        </a:spcAft>
                        <a:buNone/>
                      </a:pPr>
                      <a:r>
                        <a:rPr lang="en-US" sz="2000"/>
                        <a:t>4.00 </a:t>
                      </a:r>
                      <a:endParaRPr sz="2000"/>
                    </a:p>
                  </a:txBody>
                  <a:tcPr marT="91425" marB="91425" marR="91425" marL="91425"/>
                </a:tc>
                <a:tc>
                  <a:txBody>
                    <a:bodyPr/>
                    <a:lstStyle/>
                    <a:p>
                      <a:pPr indent="0" lvl="0" marL="0" rtl="0" algn="l">
                        <a:spcBef>
                          <a:spcPts val="0"/>
                        </a:spcBef>
                        <a:spcAft>
                          <a:spcPts val="0"/>
                        </a:spcAft>
                        <a:buNone/>
                      </a:pPr>
                      <a:r>
                        <a:rPr lang="en-US" sz="2000"/>
                        <a:t>0.001</a:t>
                      </a:r>
                      <a:endParaRPr sz="2000"/>
                    </a:p>
                  </a:txBody>
                  <a:tcPr marT="91425" marB="91425" marR="91425" marL="91425"/>
                </a:tc>
              </a:tr>
            </a:tbl>
          </a:graphicData>
        </a:graphic>
      </p:graphicFrame>
      <p:sp>
        <p:nvSpPr>
          <p:cNvPr id="273" name="Google Shape;273;ha7d38579d64536_0_41"/>
          <p:cNvSpPr txBox="1"/>
          <p:nvPr/>
        </p:nvSpPr>
        <p:spPr>
          <a:xfrm>
            <a:off x="383688" y="4549525"/>
            <a:ext cx="11424300" cy="19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rPr>
              <a:t>Since all three p-values are below 0.05, each coefficient has statistically significant evidence in this example.</a:t>
            </a:r>
            <a:endParaRPr sz="2400">
              <a:solidFill>
                <a:schemeClr val="dk1"/>
              </a:solidFill>
            </a:endParaRPr>
          </a:p>
          <a:p>
            <a:pPr indent="0" lvl="0" marL="0" rtl="0" algn="l">
              <a:lnSpc>
                <a:spcPct val="115000"/>
              </a:lnSpc>
              <a:spcBef>
                <a:spcPts val="1200"/>
              </a:spcBef>
              <a:spcAft>
                <a:spcPts val="1200"/>
              </a:spcAft>
              <a:buNone/>
            </a:pPr>
            <a:r>
              <a:rPr b="1" lang="en-US" sz="2400">
                <a:solidFill>
                  <a:schemeClr val="dk1"/>
                </a:solidFill>
              </a:rPr>
              <a:t>Important:</a:t>
            </a:r>
            <a:r>
              <a:rPr lang="en-US" sz="2400">
                <a:solidFill>
                  <a:schemeClr val="dk1"/>
                </a:solidFill>
              </a:rPr>
              <a:t> “statistically significant” does not automatically mean the effect is large or practically important.</a:t>
            </a:r>
            <a:endParaRPr sz="2400">
              <a:solidFill>
                <a:schemeClr val="dk1"/>
              </a:solidFill>
            </a:endParaRPr>
          </a:p>
        </p:txBody>
      </p:sp>
      <p:sp>
        <p:nvSpPr>
          <p:cNvPr id="274" name="Google Shape;274;ha7d38579d64536_0_41"/>
          <p:cNvSpPr txBox="1"/>
          <p:nvPr/>
        </p:nvSpPr>
        <p:spPr>
          <a:xfrm>
            <a:off x="370700" y="238350"/>
            <a:ext cx="10632300" cy="155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400">
                <a:solidFill>
                  <a:schemeClr val="dk1"/>
                </a:solidFill>
              </a:rPr>
              <a:t>Decision rule:  </a:t>
            </a:r>
            <a:r>
              <a:rPr lang="en-US" sz="2400">
                <a:solidFill>
                  <a:schemeClr val="dk1"/>
                </a:solidFill>
              </a:rPr>
              <a:t>At the </a:t>
            </a:r>
            <a:r>
              <a:rPr b="1" lang="en-US" sz="2400">
                <a:solidFill>
                  <a:schemeClr val="dk1"/>
                </a:solidFill>
              </a:rPr>
              <a:t>5% significance level</a:t>
            </a:r>
            <a:r>
              <a:rPr lang="en-US" sz="2400">
                <a:solidFill>
                  <a:schemeClr val="dk1"/>
                </a:solidFill>
              </a:rPr>
              <a:t>:</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b="1" lang="en-US" sz="2400">
                <a:solidFill>
                  <a:schemeClr val="dk1"/>
                </a:solidFill>
              </a:rPr>
              <a:t>p-value &lt; 0.05 → Reject H0H_0</a:t>
            </a:r>
            <a:endParaRPr b="1"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p-value ≥ 0.05 → Do not reject H0</a:t>
            </a:r>
            <a:endParaRPr sz="24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ha7d38579d64536_0_44"/>
          <p:cNvSpPr txBox="1"/>
          <p:nvPr/>
        </p:nvSpPr>
        <p:spPr>
          <a:xfrm>
            <a:off x="267425" y="248350"/>
            <a:ext cx="11844000" cy="63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000">
                <a:solidFill>
                  <a:schemeClr val="dk1"/>
                </a:solidFill>
              </a:rPr>
              <a:t>2.  </a:t>
            </a:r>
            <a:r>
              <a:rPr b="1" lang="en-US" sz="2000">
                <a:solidFill>
                  <a:schemeClr val="dk1"/>
                </a:solidFill>
              </a:rPr>
              <a:t>Testing the Overall Regression Model — F-test</a:t>
            </a:r>
            <a:endParaRPr b="1" sz="2000">
              <a:solidFill>
                <a:schemeClr val="dk1"/>
              </a:solidFill>
            </a:endParaRPr>
          </a:p>
          <a:p>
            <a:pPr indent="0" lvl="0" marL="0" rtl="0" algn="l">
              <a:lnSpc>
                <a:spcPct val="115000"/>
              </a:lnSpc>
              <a:spcBef>
                <a:spcPts val="1200"/>
              </a:spcBef>
              <a:spcAft>
                <a:spcPts val="0"/>
              </a:spcAft>
              <a:buNone/>
            </a:pPr>
            <a:r>
              <a:rPr lang="en-US" sz="2000">
                <a:solidFill>
                  <a:schemeClr val="dk1"/>
                </a:solidFill>
              </a:rPr>
              <a:t>The t-test looks at </a:t>
            </a:r>
            <a:r>
              <a:rPr b="1" lang="en-US" sz="2000">
                <a:solidFill>
                  <a:schemeClr val="dk1"/>
                </a:solidFill>
              </a:rPr>
              <a:t>one predictor at a time</a:t>
            </a:r>
            <a:r>
              <a:rPr lang="en-US" sz="2000">
                <a:solidFill>
                  <a:schemeClr val="dk1"/>
                </a:solidFill>
              </a:rPr>
              <a:t>. The </a:t>
            </a:r>
            <a:r>
              <a:rPr b="1" lang="en-US" sz="2000">
                <a:solidFill>
                  <a:schemeClr val="dk1"/>
                </a:solidFill>
              </a:rPr>
              <a:t>F-test asks a different question:</a:t>
            </a:r>
            <a:endParaRPr b="1" sz="2000">
              <a:solidFill>
                <a:schemeClr val="dk1"/>
              </a:solidFill>
            </a:endParaRPr>
          </a:p>
          <a:p>
            <a:pPr indent="0" lvl="0" marL="381000" marR="381000" rtl="0" algn="l">
              <a:lnSpc>
                <a:spcPct val="115000"/>
              </a:lnSpc>
              <a:spcBef>
                <a:spcPts val="1200"/>
              </a:spcBef>
              <a:spcAft>
                <a:spcPts val="0"/>
              </a:spcAft>
              <a:buNone/>
            </a:pPr>
            <a:r>
              <a:rPr b="1" lang="en-US" sz="2000">
                <a:solidFill>
                  <a:schemeClr val="dk1"/>
                </a:solidFill>
              </a:rPr>
              <a:t>Does the regression model as a whole provide statistically significant explanatory information about the dependent variable?</a:t>
            </a:r>
            <a:endParaRPr b="1" sz="2000">
              <a:solidFill>
                <a:schemeClr val="dk1"/>
              </a:solidFill>
            </a:endParaRPr>
          </a:p>
          <a:p>
            <a:pPr indent="0" lvl="0" marL="0" rtl="0" algn="l">
              <a:lnSpc>
                <a:spcPct val="115000"/>
              </a:lnSpc>
              <a:spcBef>
                <a:spcPts val="1400"/>
              </a:spcBef>
              <a:spcAft>
                <a:spcPts val="0"/>
              </a:spcAft>
              <a:buNone/>
            </a:pPr>
            <a:r>
              <a:rPr b="1" lang="en-US" sz="2000">
                <a:solidFill>
                  <a:schemeClr val="dk1"/>
                </a:solidFill>
              </a:rPr>
              <a:t>Hypotheses       </a:t>
            </a:r>
            <a:r>
              <a:rPr lang="en-US" sz="2000">
                <a:solidFill>
                  <a:schemeClr val="dk1"/>
                </a:solidFill>
              </a:rPr>
              <a:t>For three predictors:   H0​:β1​=β2​=β3​=0 </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None of the predictors contributes linearly to the model. </a:t>
            </a:r>
            <a:endParaRPr sz="2000">
              <a:solidFill>
                <a:schemeClr val="dk1"/>
              </a:solidFill>
            </a:endParaRPr>
          </a:p>
          <a:p>
            <a:pPr indent="0" lvl="0" marL="0" rtl="0" algn="l">
              <a:lnSpc>
                <a:spcPct val="115000"/>
              </a:lnSpc>
              <a:spcBef>
                <a:spcPts val="1200"/>
              </a:spcBef>
              <a:spcAft>
                <a:spcPts val="0"/>
              </a:spcAft>
              <a:buNone/>
            </a:pPr>
            <a:r>
              <a:rPr b="1" lang="en-US" sz="2000">
                <a:solidFill>
                  <a:schemeClr val="dk1"/>
                </a:solidFill>
              </a:rPr>
              <a:t>Alternative:</a:t>
            </a:r>
            <a:r>
              <a:rPr lang="en-US" sz="2000">
                <a:solidFill>
                  <a:schemeClr val="dk1"/>
                </a:solidFill>
              </a:rPr>
              <a:t>   At least one predictor has a non-zero coefficient. </a:t>
            </a:r>
            <a:endParaRPr sz="2000">
              <a:solidFill>
                <a:schemeClr val="dk1"/>
              </a:solidFill>
            </a:endParaRPr>
          </a:p>
          <a:p>
            <a:pPr indent="0" lvl="0" marL="0" rtl="0" algn="l">
              <a:lnSpc>
                <a:spcPct val="115000"/>
              </a:lnSpc>
              <a:spcBef>
                <a:spcPts val="1200"/>
              </a:spcBef>
              <a:spcAft>
                <a:spcPts val="0"/>
              </a:spcAft>
              <a:buNone/>
            </a:pPr>
            <a:r>
              <a:rPr lang="en-US" sz="2000">
                <a:solidFill>
                  <a:schemeClr val="dk1"/>
                </a:solidFill>
              </a:rPr>
              <a:t>H1​:At least one βj​=0 </a:t>
            </a:r>
            <a:endParaRPr sz="2000">
              <a:solidFill>
                <a:schemeClr val="dk1"/>
              </a:solidFill>
            </a:endParaRPr>
          </a:p>
          <a:p>
            <a:pPr indent="0" lvl="0" marL="0" rtl="0" algn="l">
              <a:lnSpc>
                <a:spcPct val="115000"/>
              </a:lnSpc>
              <a:spcBef>
                <a:spcPts val="1400"/>
              </a:spcBef>
              <a:spcAft>
                <a:spcPts val="0"/>
              </a:spcAft>
              <a:buNone/>
            </a:pPr>
            <a:r>
              <a:rPr b="1" lang="en-US" sz="2000">
                <a:solidFill>
                  <a:schemeClr val="dk1"/>
                </a:solidFill>
              </a:rPr>
              <a:t>Decision rule:          </a:t>
            </a:r>
            <a:r>
              <a:rPr lang="en-US" sz="2000">
                <a:solidFill>
                  <a:schemeClr val="dk1"/>
                </a:solidFill>
              </a:rPr>
              <a:t>Again, using a 5% significance level:</a:t>
            </a:r>
            <a:endParaRPr sz="20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F-test p-value &lt; 0.05 → Reject H0</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F-test p-value ≥ 0.05 → Do not reject H0​</a:t>
            </a:r>
            <a:endParaRPr b="1" sz="2000">
              <a:solidFill>
                <a:schemeClr val="dk1"/>
              </a:solidFill>
            </a:endParaRPr>
          </a:p>
          <a:p>
            <a:pPr indent="0" lvl="0" marL="0" rtl="0" algn="l">
              <a:lnSpc>
                <a:spcPct val="115000"/>
              </a:lnSpc>
              <a:spcBef>
                <a:spcPts val="1200"/>
              </a:spcBef>
              <a:spcAft>
                <a:spcPts val="0"/>
              </a:spcAft>
              <a:buNone/>
            </a:pPr>
            <a:r>
              <a:rPr lang="en-US" sz="2000">
                <a:solidFill>
                  <a:schemeClr val="dk1"/>
                </a:solidFill>
              </a:rPr>
              <a:t>For example:    </a:t>
            </a:r>
            <a:r>
              <a:rPr b="1" lang="en-US" sz="2000">
                <a:solidFill>
                  <a:schemeClr val="dk1"/>
                </a:solidFill>
              </a:rPr>
              <a:t>F-statistic = 32.5,    p-value &lt; 0.001</a:t>
            </a:r>
            <a:endParaRPr b="1" sz="2000">
              <a:solidFill>
                <a:schemeClr val="dk1"/>
              </a:solidFill>
            </a:endParaRPr>
          </a:p>
          <a:p>
            <a:pPr indent="0" lvl="0" marL="0" rtl="0" algn="l">
              <a:lnSpc>
                <a:spcPct val="115000"/>
              </a:lnSpc>
              <a:spcBef>
                <a:spcPts val="1200"/>
              </a:spcBef>
              <a:spcAft>
                <a:spcPts val="1200"/>
              </a:spcAft>
              <a:buNone/>
            </a:pPr>
            <a:r>
              <a:rPr lang="en-US" sz="2000">
                <a:solidFill>
                  <a:schemeClr val="dk1"/>
                </a:solidFill>
              </a:rPr>
              <a:t>Therefore, the overall regression model is statistically significant at the 5% level.</a:t>
            </a:r>
            <a:endParaRPr sz="20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ha7d38579d64536_0_83"/>
          <p:cNvSpPr txBox="1"/>
          <p:nvPr/>
        </p:nvSpPr>
        <p:spPr>
          <a:xfrm>
            <a:off x="421250" y="353850"/>
            <a:ext cx="11306400" cy="393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t-test vs F-test</a:t>
            </a:r>
            <a:endParaRPr sz="2400"/>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Think of a </a:t>
            </a:r>
            <a:r>
              <a:rPr b="1" lang="en-US" sz="2400">
                <a:solidFill>
                  <a:schemeClr val="dk1"/>
                </a:solidFill>
              </a:rPr>
              <a:t>cricket team</a:t>
            </a:r>
            <a:r>
              <a:rPr lang="en-US" sz="2400">
                <a:solidFill>
                  <a:schemeClr val="dk1"/>
                </a:solidFill>
              </a:rPr>
              <a:t>:</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b="1" lang="en-US" sz="2400">
                <a:solidFill>
                  <a:schemeClr val="dk1"/>
                </a:solidFill>
              </a:rPr>
              <a:t>t-test:</a:t>
            </a:r>
            <a:r>
              <a:rPr lang="en-US" sz="2400">
                <a:solidFill>
                  <a:schemeClr val="dk1"/>
                </a:solidFill>
              </a:rPr>
              <a:t> How do we test whether </a:t>
            </a:r>
            <a:r>
              <a:rPr b="1" lang="en-US" sz="2400">
                <a:solidFill>
                  <a:schemeClr val="dk1"/>
                </a:solidFill>
              </a:rPr>
              <a:t>one particular player</a:t>
            </a:r>
            <a:r>
              <a:rPr lang="en-US" sz="2400">
                <a:solidFill>
                  <a:schemeClr val="dk1"/>
                </a:solidFill>
              </a:rPr>
              <a:t> is making a statistically detectable contribution?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F-test:</a:t>
            </a:r>
            <a:r>
              <a:rPr lang="en-US" sz="2400">
                <a:solidFill>
                  <a:schemeClr val="dk1"/>
                </a:solidFill>
              </a:rPr>
              <a:t> How do we test whether the </a:t>
            </a:r>
            <a:r>
              <a:rPr b="1" lang="en-US" sz="2400">
                <a:solidFill>
                  <a:schemeClr val="dk1"/>
                </a:solidFill>
              </a:rPr>
              <a:t>team as a whole</a:t>
            </a:r>
            <a:r>
              <a:rPr lang="en-US" sz="2400">
                <a:solidFill>
                  <a:schemeClr val="dk1"/>
                </a:solidFill>
              </a:rPr>
              <a:t> provides evidence of contribution?</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But remember: a significant F-test </a:t>
            </a:r>
            <a:r>
              <a:rPr b="1" lang="en-US" sz="2400">
                <a:solidFill>
                  <a:schemeClr val="dk1"/>
                </a:solidFill>
              </a:rPr>
              <a:t>does not mean every individual predictor is significant</a:t>
            </a:r>
            <a:r>
              <a:rPr lang="en-US" sz="2400">
                <a:solidFill>
                  <a:schemeClr val="dk1"/>
                </a:solidFill>
              </a:rPr>
              <a:t>.</a:t>
            </a:r>
            <a:endParaRPr sz="2400"/>
          </a:p>
        </p:txBody>
      </p:sp>
      <p:graphicFrame>
        <p:nvGraphicFramePr>
          <p:cNvPr id="285" name="Google Shape;285;ha7d38579d64536_0_83"/>
          <p:cNvGraphicFramePr/>
          <p:nvPr/>
        </p:nvGraphicFramePr>
        <p:xfrm>
          <a:off x="616575" y="4372600"/>
          <a:ext cx="3000000" cy="3000000"/>
        </p:xfrm>
        <a:graphic>
          <a:graphicData uri="http://schemas.openxmlformats.org/drawingml/2006/table">
            <a:tbl>
              <a:tblPr>
                <a:noFill/>
                <a:tableStyleId>{AABB5EDB-FB31-46EC-9822-BB6EADF0BBC1}</a:tableStyleId>
              </a:tblPr>
              <a:tblGrid>
                <a:gridCol w="1307775"/>
                <a:gridCol w="3564475"/>
                <a:gridCol w="5564825"/>
              </a:tblGrid>
              <a:tr h="381000">
                <a:tc>
                  <a:txBody>
                    <a:bodyPr/>
                    <a:lstStyle/>
                    <a:p>
                      <a:pPr indent="0" lvl="0" marL="0" rtl="0" algn="l">
                        <a:spcBef>
                          <a:spcPts val="0"/>
                        </a:spcBef>
                        <a:spcAft>
                          <a:spcPts val="0"/>
                        </a:spcAft>
                        <a:buNone/>
                      </a:pPr>
                      <a:r>
                        <a:rPr b="1" lang="en-US" sz="2400"/>
                        <a:t>Test</a:t>
                      </a:r>
                      <a:endParaRPr b="1" sz="2400"/>
                    </a:p>
                  </a:txBody>
                  <a:tcPr marT="91425" marB="91425" marR="91425" marL="91425"/>
                </a:tc>
                <a:tc>
                  <a:txBody>
                    <a:bodyPr/>
                    <a:lstStyle/>
                    <a:p>
                      <a:pPr indent="0" lvl="0" marL="0" rtl="0" algn="l">
                        <a:spcBef>
                          <a:spcPts val="0"/>
                        </a:spcBef>
                        <a:spcAft>
                          <a:spcPts val="0"/>
                        </a:spcAft>
                        <a:buNone/>
                      </a:pPr>
                      <a:r>
                        <a:rPr b="1" lang="en-US" sz="2400"/>
                        <a:t>What does it test? </a:t>
                      </a:r>
                      <a:endParaRPr b="1" sz="2400"/>
                    </a:p>
                  </a:txBody>
                  <a:tcPr marT="91425" marB="91425" marR="91425" marL="91425"/>
                </a:tc>
                <a:tc>
                  <a:txBody>
                    <a:bodyPr/>
                    <a:lstStyle/>
                    <a:p>
                      <a:pPr indent="0" lvl="0" marL="0" rtl="0" algn="l">
                        <a:spcBef>
                          <a:spcPts val="0"/>
                        </a:spcBef>
                        <a:spcAft>
                          <a:spcPts val="0"/>
                        </a:spcAft>
                        <a:buNone/>
                      </a:pPr>
                      <a:r>
                        <a:rPr b="1" lang="en-US" sz="2400"/>
                        <a:t>Example </a:t>
                      </a:r>
                      <a:endParaRPr b="1" sz="2400"/>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sz="2400">
                          <a:solidFill>
                            <a:schemeClr val="dk1"/>
                          </a:solidFill>
                        </a:rPr>
                        <a:t>t-test </a:t>
                      </a:r>
                      <a:endParaRPr sz="2400">
                        <a:solidFill>
                          <a:schemeClr val="dk1"/>
                        </a:solidFill>
                      </a:endParaRPr>
                    </a:p>
                    <a:p>
                      <a:pPr indent="0" lvl="0" marL="0" rtl="0" algn="l">
                        <a:spcBef>
                          <a:spcPts val="0"/>
                        </a:spcBef>
                        <a:spcAft>
                          <a:spcPts val="0"/>
                        </a:spcAft>
                        <a:buNone/>
                      </a:pPr>
                      <a:r>
                        <a:t/>
                      </a:r>
                      <a:endParaRPr sz="2400"/>
                    </a:p>
                  </a:txBody>
                  <a:tcPr marT="91425" marB="91425" marR="91425" marL="91425"/>
                </a:tc>
                <a:tc>
                  <a:txBody>
                    <a:bodyPr/>
                    <a:lstStyle/>
                    <a:p>
                      <a:pPr indent="0" lvl="0" marL="0" rtl="0" algn="l">
                        <a:spcBef>
                          <a:spcPts val="0"/>
                        </a:spcBef>
                        <a:spcAft>
                          <a:spcPts val="0"/>
                        </a:spcAft>
                        <a:buNone/>
                      </a:pPr>
                      <a:r>
                        <a:rPr lang="en-US" sz="2400"/>
                        <a:t>Individual coefficient </a:t>
                      </a:r>
                      <a:endParaRPr sz="2400"/>
                    </a:p>
                  </a:txBody>
                  <a:tcPr marT="91425" marB="91425" marR="91425" marL="91425"/>
                </a:tc>
                <a:tc>
                  <a:txBody>
                    <a:bodyPr/>
                    <a:lstStyle/>
                    <a:p>
                      <a:pPr indent="0" lvl="0" marL="0" rtl="0" algn="l">
                        <a:spcBef>
                          <a:spcPts val="0"/>
                        </a:spcBef>
                        <a:spcAft>
                          <a:spcPts val="0"/>
                        </a:spcAft>
                        <a:buNone/>
                      </a:pPr>
                      <a:r>
                        <a:rPr lang="en-US" sz="2400"/>
                        <a:t>Does Study Hours contribute? </a:t>
                      </a:r>
                      <a:endParaRPr sz="2400"/>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sz="2400">
                          <a:solidFill>
                            <a:schemeClr val="dk1"/>
                          </a:solidFill>
                        </a:rPr>
                        <a:t>F-test</a:t>
                      </a:r>
                      <a:endParaRPr sz="2400">
                        <a:solidFill>
                          <a:schemeClr val="dk1"/>
                        </a:solidFill>
                      </a:endParaRPr>
                    </a:p>
                    <a:p>
                      <a:pPr indent="0" lvl="0" marL="0" rtl="0" algn="l">
                        <a:spcBef>
                          <a:spcPts val="0"/>
                        </a:spcBef>
                        <a:spcAft>
                          <a:spcPts val="0"/>
                        </a:spcAft>
                        <a:buNone/>
                      </a:pPr>
                      <a:r>
                        <a:t/>
                      </a:r>
                      <a:endParaRPr sz="2400"/>
                    </a:p>
                  </a:txBody>
                  <a:tcPr marT="91425" marB="91425" marR="91425" marL="91425"/>
                </a:tc>
                <a:tc>
                  <a:txBody>
                    <a:bodyPr/>
                    <a:lstStyle/>
                    <a:p>
                      <a:pPr indent="0" lvl="0" marL="0" rtl="0" algn="l">
                        <a:spcBef>
                          <a:spcPts val="0"/>
                        </a:spcBef>
                        <a:spcAft>
                          <a:spcPts val="0"/>
                        </a:spcAft>
                        <a:buNone/>
                      </a:pPr>
                      <a:r>
                        <a:rPr lang="en-US" sz="2400"/>
                        <a:t>Overall model / group of coefficients </a:t>
                      </a:r>
                      <a:endParaRPr sz="2400"/>
                    </a:p>
                  </a:txBody>
                  <a:tcPr marT="91425" marB="91425" marR="91425" marL="91425"/>
                </a:tc>
                <a:tc>
                  <a:txBody>
                    <a:bodyPr/>
                    <a:lstStyle/>
                    <a:p>
                      <a:pPr indent="0" lvl="0" marL="0" rtl="0" algn="l">
                        <a:spcBef>
                          <a:spcPts val="0"/>
                        </a:spcBef>
                        <a:spcAft>
                          <a:spcPts val="0"/>
                        </a:spcAft>
                        <a:buNone/>
                      </a:pPr>
                      <a:r>
                        <a:rPr lang="en-US" sz="2400"/>
                        <a:t>Do the predictors collectively contribute? </a:t>
                      </a:r>
                      <a:endParaRPr sz="2400"/>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ha7d38579d64536_0_86"/>
          <p:cNvPicPr preferRelativeResize="0"/>
          <p:nvPr/>
        </p:nvPicPr>
        <p:blipFill>
          <a:blip r:embed="rId3">
            <a:alphaModFix/>
          </a:blip>
          <a:stretch>
            <a:fillRect/>
          </a:stretch>
        </p:blipFill>
        <p:spPr>
          <a:xfrm>
            <a:off x="3134150" y="54537"/>
            <a:ext cx="7582985" cy="67489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ha7d38579d64536_0_89"/>
          <p:cNvSpPr txBox="1"/>
          <p:nvPr/>
        </p:nvSpPr>
        <p:spPr>
          <a:xfrm>
            <a:off x="876025" y="595450"/>
            <a:ext cx="10891500" cy="36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Unit II - Non-Linear Regression Analysis          9Hrs.</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rPr b="1" lang="en-US" sz="3200">
                <a:solidFill>
                  <a:schemeClr val="dk1"/>
                </a:solidFill>
                <a:latin typeface="Calibri"/>
                <a:ea typeface="Calibri"/>
                <a:cs typeface="Calibri"/>
                <a:sym typeface="Calibri"/>
              </a:rPr>
              <a:t>Concept: </a:t>
            </a:r>
            <a:r>
              <a:rPr lang="en-US" sz="3200">
                <a:solidFill>
                  <a:schemeClr val="dk1"/>
                </a:solidFill>
                <a:latin typeface="Calibri"/>
                <a:ea typeface="Calibri"/>
                <a:cs typeface="Calibri"/>
                <a:sym typeface="Calibri"/>
              </a:rPr>
              <a:t>Types of Non-Linear </a:t>
            </a:r>
            <a:r>
              <a:rPr lang="en-US" sz="3200">
                <a:solidFill>
                  <a:schemeClr val="dk1"/>
                </a:solidFill>
                <a:latin typeface="Calibri"/>
                <a:ea typeface="Calibri"/>
                <a:cs typeface="Calibri"/>
                <a:sym typeface="Calibri"/>
              </a:rPr>
              <a:t>Regression</a:t>
            </a:r>
            <a:r>
              <a:rPr lang="en-US" sz="3200">
                <a:solidFill>
                  <a:schemeClr val="dk1"/>
                </a:solidFill>
                <a:latin typeface="Calibri"/>
                <a:ea typeface="Calibri"/>
                <a:cs typeface="Calibri"/>
                <a:sym typeface="Calibri"/>
              </a:rPr>
              <a:t> Models - Model Transformation - Difference between Linear and Non-Linear Regression Models.</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b="1" lang="en-US" sz="3200">
                <a:solidFill>
                  <a:schemeClr val="dk1"/>
                </a:solidFill>
                <a:latin typeface="Calibri"/>
                <a:ea typeface="Calibri"/>
                <a:cs typeface="Calibri"/>
                <a:sym typeface="Calibri"/>
              </a:rPr>
              <a:t>Diagnostics of Regression Modelling</a:t>
            </a:r>
            <a:r>
              <a:rPr lang="en-US" sz="3200">
                <a:solidFill>
                  <a:schemeClr val="dk1"/>
                </a:solidFill>
                <a:latin typeface="Calibri"/>
                <a:ea typeface="Calibri"/>
                <a:cs typeface="Calibri"/>
                <a:sym typeface="Calibri"/>
              </a:rPr>
              <a:t> - Model Diagnostics - Multicollinarty - Auto correlation.</a:t>
            </a:r>
            <a:endParaRPr sz="32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ha7d38579d64536_0_112"/>
          <p:cNvSpPr txBox="1"/>
          <p:nvPr/>
        </p:nvSpPr>
        <p:spPr>
          <a:xfrm>
            <a:off x="611300" y="592200"/>
            <a:ext cx="11289900" cy="59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What is Non-Linear Regression?</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Non-linear regression</a:t>
            </a:r>
            <a:r>
              <a:rPr lang="en-US" sz="2400">
                <a:solidFill>
                  <a:schemeClr val="dk1"/>
                </a:solidFill>
              </a:rPr>
              <a:t> is a regression technique used when the relationship between the </a:t>
            </a:r>
            <a:r>
              <a:rPr b="1" lang="en-US" sz="2400">
                <a:solidFill>
                  <a:schemeClr val="dk1"/>
                </a:solidFill>
              </a:rPr>
              <a:t>dependent variable (Y)</a:t>
            </a:r>
            <a:r>
              <a:rPr lang="en-US" sz="2400">
                <a:solidFill>
                  <a:schemeClr val="dk1"/>
                </a:solidFill>
              </a:rPr>
              <a:t> and one or more </a:t>
            </a:r>
            <a:r>
              <a:rPr b="1" lang="en-US" sz="2400">
                <a:solidFill>
                  <a:schemeClr val="dk1"/>
                </a:solidFill>
              </a:rPr>
              <a:t>independent variables (X)</a:t>
            </a:r>
            <a:r>
              <a:rPr lang="en-US" sz="2400">
                <a:solidFill>
                  <a:schemeClr val="dk1"/>
                </a:solidFill>
              </a:rPr>
              <a:t> cannot be adequately represented by a straight-line relationship.</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Simple linear regression</a:t>
            </a:r>
            <a:endParaRPr b="1" sz="2400">
              <a:solidFill>
                <a:schemeClr val="dk1"/>
              </a:solidFill>
            </a:endParaRPr>
          </a:p>
          <a:p>
            <a:pPr indent="0" lvl="0" marL="0" rtl="0" algn="l">
              <a:lnSpc>
                <a:spcPct val="115000"/>
              </a:lnSpc>
              <a:spcBef>
                <a:spcPts val="400"/>
              </a:spcBef>
              <a:spcAft>
                <a:spcPts val="0"/>
              </a:spcAft>
              <a:buNone/>
            </a:pPr>
            <a:r>
              <a:rPr lang="en-US" sz="2400">
                <a:solidFill>
                  <a:schemeClr val="dk1"/>
                </a:solidFill>
              </a:rPr>
              <a:t>Y = </a:t>
            </a:r>
            <a:r>
              <a:rPr lang="en-US" sz="2400">
                <a:solidFill>
                  <a:schemeClr val="dk1"/>
                </a:solidFill>
              </a:rPr>
              <a:t>β</a:t>
            </a:r>
            <a:r>
              <a:rPr baseline="-25000" lang="en-US" sz="2400">
                <a:solidFill>
                  <a:schemeClr val="dk1"/>
                </a:solidFill>
              </a:rPr>
              <a:t>0</a:t>
            </a:r>
            <a:r>
              <a:rPr lang="en-US" sz="2400">
                <a:solidFill>
                  <a:schemeClr val="dk1"/>
                </a:solidFill>
              </a:rPr>
              <a:t>+</a:t>
            </a:r>
            <a:r>
              <a:rPr lang="en-US" sz="2400">
                <a:solidFill>
                  <a:schemeClr val="dk1"/>
                </a:solidFill>
              </a:rPr>
              <a:t>β</a:t>
            </a:r>
            <a:r>
              <a:rPr baseline="-25000" lang="en-US" sz="2400">
                <a:solidFill>
                  <a:schemeClr val="dk1"/>
                </a:solidFill>
              </a:rPr>
              <a:t>1 </a:t>
            </a:r>
            <a:r>
              <a:rPr lang="en-US" sz="2400">
                <a:solidFill>
                  <a:schemeClr val="dk1"/>
                </a:solidFill>
              </a:rPr>
              <a:t>X + ϵ</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Here, the relationship between X and Y is represented by a </a:t>
            </a:r>
            <a:r>
              <a:rPr b="1" lang="en-US" sz="2400">
                <a:solidFill>
                  <a:schemeClr val="dk1"/>
                </a:solidFill>
              </a:rPr>
              <a:t>straight line</a:t>
            </a:r>
            <a:r>
              <a:rPr lang="en-US" sz="2400">
                <a:solidFill>
                  <a:schemeClr val="dk1"/>
                </a:solidFill>
              </a:rPr>
              <a:t>.</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Non-linear relationship</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Y = β</a:t>
            </a:r>
            <a:r>
              <a:rPr baseline="-25000" lang="en-US" sz="2400">
                <a:solidFill>
                  <a:schemeClr val="dk1"/>
                </a:solidFill>
              </a:rPr>
              <a:t>0</a:t>
            </a:r>
            <a:r>
              <a:rPr lang="en-US" sz="2400">
                <a:solidFill>
                  <a:schemeClr val="dk1"/>
                </a:solidFill>
              </a:rPr>
              <a:t>+ β</a:t>
            </a:r>
            <a:r>
              <a:rPr baseline="-25000" lang="en-US" sz="2400">
                <a:solidFill>
                  <a:schemeClr val="dk1"/>
                </a:solidFill>
              </a:rPr>
              <a:t>1 </a:t>
            </a:r>
            <a:r>
              <a:rPr lang="en-US" sz="2400">
                <a:solidFill>
                  <a:schemeClr val="dk1"/>
                </a:solidFill>
              </a:rPr>
              <a:t>X</a:t>
            </a:r>
            <a:r>
              <a:rPr baseline="30000" lang="en-US" sz="2400">
                <a:solidFill>
                  <a:schemeClr val="dk1"/>
                </a:solidFill>
              </a:rPr>
              <a:t>2 </a:t>
            </a:r>
            <a:r>
              <a:rPr lang="en-US" sz="2400">
                <a:solidFill>
                  <a:schemeClr val="dk1"/>
                </a:solidFill>
              </a:rPr>
              <a:t>+ ϵ             or       Y = β</a:t>
            </a:r>
            <a:r>
              <a:rPr baseline="-25000" lang="en-US" sz="2400">
                <a:solidFill>
                  <a:schemeClr val="dk1"/>
                </a:solidFill>
              </a:rPr>
              <a:t>0</a:t>
            </a:r>
            <a:r>
              <a:rPr lang="en-US" sz="2400">
                <a:solidFill>
                  <a:schemeClr val="dk1"/>
                </a:solidFill>
              </a:rPr>
              <a:t>​e</a:t>
            </a:r>
            <a:r>
              <a:rPr baseline="30000" lang="en-US" sz="2400">
                <a:solidFill>
                  <a:schemeClr val="dk1"/>
                </a:solidFill>
              </a:rPr>
              <a:t>β1​X </a:t>
            </a:r>
            <a:r>
              <a:rPr lang="en-US" sz="2400">
                <a:solidFill>
                  <a:schemeClr val="dk1"/>
                </a:solidFill>
              </a:rPr>
              <a:t>+ ϵ </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These can produce </a:t>
            </a:r>
            <a:r>
              <a:rPr b="1" lang="en-US" sz="2400">
                <a:solidFill>
                  <a:schemeClr val="dk1"/>
                </a:solidFill>
              </a:rPr>
              <a:t>curved relationships</a:t>
            </a:r>
            <a:r>
              <a:rPr lang="en-US" sz="2400">
                <a:solidFill>
                  <a:schemeClr val="dk1"/>
                </a:solidFill>
              </a:rPr>
              <a:t> between X and Y.</a:t>
            </a:r>
            <a:endParaRPr sz="24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ha7d38579d64536_0_115"/>
          <p:cNvSpPr txBox="1"/>
          <p:nvPr/>
        </p:nvSpPr>
        <p:spPr>
          <a:xfrm>
            <a:off x="498588" y="362975"/>
            <a:ext cx="11194500" cy="640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rPr>
              <a:t>Suppose we want to study:</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Study Hours → Exam Marks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a simple linear relationship, we might assume:</a:t>
            </a:r>
            <a:endParaRPr sz="2400">
              <a:solidFill>
                <a:schemeClr val="dk1"/>
              </a:solidFill>
            </a:endParaRPr>
          </a:p>
          <a:p>
            <a:pPr indent="0" lvl="0" marL="0" rtl="0" algn="l">
              <a:spcBef>
                <a:spcPts val="1200"/>
              </a:spcBef>
              <a:spcAft>
                <a:spcPts val="0"/>
              </a:spcAft>
              <a:buNone/>
            </a:pPr>
            <a:r>
              <a:rPr lang="en-US" sz="2400">
                <a:solidFill>
                  <a:schemeClr val="dk1"/>
                </a:solidFill>
              </a:rPr>
              <a:t>Marks=30+5(StudyHours)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assumes that every additional hour of study produces approximately the same increase in marks. But in reality, the relationship might look like this:</a:t>
            </a:r>
            <a:endParaRPr sz="2400">
              <a:solidFill>
                <a:schemeClr val="dk1"/>
              </a:solidFill>
            </a:endParaRPr>
          </a:p>
          <a:p>
            <a:pPr indent="0" lvl="0" marL="0" rtl="0" algn="l">
              <a:spcBef>
                <a:spcPts val="1200"/>
              </a:spcBef>
              <a:spcAft>
                <a:spcPts val="0"/>
              </a:spcAft>
              <a:buClr>
                <a:schemeClr val="dk1"/>
              </a:buClr>
              <a:buSzPts val="1100"/>
              <a:buFont typeface="Arial"/>
              <a:buNone/>
            </a:pPr>
            <a:r>
              <a:rPr lang="en-US" sz="2400">
                <a:solidFill>
                  <a:schemeClr val="dk1"/>
                </a:solidFill>
              </a:rPr>
              <a:t>1 → 40 marks</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2 → 50</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3 → 59</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4 → 67</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5 → 74</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6 → 79</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7 → 83</a:t>
            </a:r>
            <a:endParaRPr sz="2400">
              <a:solidFill>
                <a:schemeClr val="dk1"/>
              </a:solidFill>
            </a:endParaRPr>
          </a:p>
          <a:p>
            <a:pPr indent="0" lvl="0" marL="0" rtl="0" algn="l">
              <a:spcBef>
                <a:spcPts val="0"/>
              </a:spcBef>
              <a:spcAft>
                <a:spcPts val="0"/>
              </a:spcAft>
              <a:buNone/>
            </a:pPr>
            <a:r>
              <a:rPr lang="en-US" sz="2400">
                <a:solidFill>
                  <a:schemeClr val="dk1"/>
                </a:solidFill>
              </a:rPr>
              <a:t>The improvement becomes smaller as study hours increase. </a:t>
            </a:r>
            <a:endParaRPr sz="24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ha7d38579d64536_0_118"/>
          <p:cNvSpPr txBox="1"/>
          <p:nvPr/>
        </p:nvSpPr>
        <p:spPr>
          <a:xfrm>
            <a:off x="611300" y="362975"/>
            <a:ext cx="11003400" cy="560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t>A curved model may represent this better, for example:</a:t>
            </a:r>
            <a:endParaRPr sz="2400"/>
          </a:p>
          <a:p>
            <a:pPr indent="0" lvl="0" marL="0" rtl="0" algn="l">
              <a:lnSpc>
                <a:spcPct val="115000"/>
              </a:lnSpc>
              <a:spcBef>
                <a:spcPts val="1200"/>
              </a:spcBef>
              <a:spcAft>
                <a:spcPts val="0"/>
              </a:spcAft>
              <a:buNone/>
            </a:pPr>
            <a:r>
              <a:rPr lang="en-US" sz="2400"/>
              <a:t>Marks=30+10X-0.5X^2, where X = study hours.</a:t>
            </a:r>
            <a:endParaRPr sz="2400"/>
          </a:p>
          <a:p>
            <a:pPr indent="0" lvl="0" marL="0" rtl="0" algn="l">
              <a:lnSpc>
                <a:spcPct val="115000"/>
              </a:lnSpc>
              <a:spcBef>
                <a:spcPts val="1200"/>
              </a:spcBef>
              <a:spcAft>
                <a:spcPts val="0"/>
              </a:spcAft>
              <a:buNone/>
            </a:pPr>
            <a:r>
              <a:rPr lang="en-US" sz="2400"/>
              <a:t>y=30+5x  ( 0&lt;=x&lt;=10)</a:t>
            </a:r>
            <a:endParaRPr sz="2400"/>
          </a:p>
          <a:p>
            <a:pPr indent="0" lvl="0" marL="0" rtl="0" algn="l">
              <a:lnSpc>
                <a:spcPct val="115000"/>
              </a:lnSpc>
              <a:spcBef>
                <a:spcPts val="1200"/>
              </a:spcBef>
              <a:spcAft>
                <a:spcPts val="0"/>
              </a:spcAft>
              <a:buNone/>
            </a:pPr>
            <a:r>
              <a:rPr lang="en-US" sz="2400"/>
              <a:t>y=30+10x-0.5x^2    </a:t>
            </a:r>
            <a:r>
              <a:rPr lang="en-US" sz="2400">
                <a:solidFill>
                  <a:schemeClr val="dk1"/>
                </a:solidFill>
              </a:rPr>
              <a:t>( 0&lt;=x&lt;=10)</a:t>
            </a:r>
            <a:endParaRPr sz="2400"/>
          </a:p>
          <a:p>
            <a:pPr indent="0" lvl="0" marL="0" rtl="0" algn="l">
              <a:lnSpc>
                <a:spcPct val="115000"/>
              </a:lnSpc>
              <a:spcBef>
                <a:spcPts val="1200"/>
              </a:spcBef>
              <a:spcAft>
                <a:spcPts val="0"/>
              </a:spcAft>
              <a:buNone/>
            </a:pPr>
            <a:r>
              <a:rPr lang="en-US" sz="2400">
                <a:solidFill>
                  <a:schemeClr val="dk1"/>
                </a:solidFill>
              </a:rPr>
              <a:t>The straight line represents a </a:t>
            </a:r>
            <a:r>
              <a:rPr b="1" lang="en-US" sz="2400">
                <a:solidFill>
                  <a:schemeClr val="dk1"/>
                </a:solidFill>
              </a:rPr>
              <a:t>linear relationship</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while the curved line represents a </a:t>
            </a:r>
            <a:r>
              <a:rPr b="1" lang="en-US" sz="2400">
                <a:solidFill>
                  <a:schemeClr val="dk1"/>
                </a:solidFill>
              </a:rPr>
              <a:t>non-linear relationship</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t/>
            </a:r>
            <a:endParaRPr sz="2400"/>
          </a:p>
          <a:p>
            <a:pPr indent="0" lvl="0" marL="0" rtl="0" algn="l">
              <a:lnSpc>
                <a:spcPct val="115000"/>
              </a:lnSpc>
              <a:spcBef>
                <a:spcPts val="1200"/>
              </a:spcBef>
              <a:spcAft>
                <a:spcPts val="0"/>
              </a:spcAft>
              <a:buNone/>
            </a:pPr>
            <a:r>
              <a:rPr lang="en-US" sz="2400"/>
              <a:t>Nonlinear regression models are used when the relationship between variables is better represented by a curve rather than a straight line. </a:t>
            </a:r>
            <a:endParaRPr sz="2400"/>
          </a:p>
          <a:p>
            <a:pPr indent="0" lvl="0" marL="0" rtl="0" algn="l">
              <a:lnSpc>
                <a:spcPct val="115000"/>
              </a:lnSpc>
              <a:spcBef>
                <a:spcPts val="1200"/>
              </a:spcBef>
              <a:spcAft>
                <a:spcPts val="1200"/>
              </a:spcAft>
              <a:buNone/>
            </a:pPr>
            <a:r>
              <a:t/>
            </a:r>
            <a:endParaRPr sz="2400"/>
          </a:p>
        </p:txBody>
      </p:sp>
      <p:pic>
        <p:nvPicPr>
          <p:cNvPr id="311" name="Google Shape;311;ha7d38579d64536_0_118"/>
          <p:cNvPicPr preferRelativeResize="0"/>
          <p:nvPr/>
        </p:nvPicPr>
        <p:blipFill>
          <a:blip r:embed="rId3">
            <a:alphaModFix/>
          </a:blip>
          <a:stretch>
            <a:fillRect/>
          </a:stretch>
        </p:blipFill>
        <p:spPr>
          <a:xfrm>
            <a:off x="7408375" y="925850"/>
            <a:ext cx="3431325" cy="2321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ha7d38579d64536_0_140"/>
          <p:cNvSpPr txBox="1"/>
          <p:nvPr/>
        </p:nvSpPr>
        <p:spPr>
          <a:xfrm>
            <a:off x="592200" y="236700"/>
            <a:ext cx="10831500" cy="63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Why do we need Non-Linear Regression?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A linear model may not adequately capture patterns such as:</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Growth that accelerates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Growth that slows down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Saturation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Diminishing returns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Exponential growth or decay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U-shaped or inverted-U relationships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Example</a:t>
            </a:r>
            <a:endParaRPr b="1"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Study Hours vs Marks</a:t>
            </a:r>
            <a:endParaRPr b="1"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Initially, increasing study hours may substantially improve marks.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But after a certain point, additional study hours may produce smaller improvements.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 curved model can represent this pattern better than a straight line.</a:t>
            </a:r>
            <a:endParaRPr sz="24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ha7d38579d64536_0_143"/>
          <p:cNvSpPr txBox="1"/>
          <p:nvPr/>
        </p:nvSpPr>
        <p:spPr>
          <a:xfrm>
            <a:off x="439350" y="362975"/>
            <a:ext cx="10888800" cy="539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Common Types of Non-Linear Models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your next PPT slide, introduce these:</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1. Polynomial Model</a:t>
            </a:r>
            <a:endParaRPr b="1" sz="2400">
              <a:solidFill>
                <a:schemeClr val="dk1"/>
              </a:solidFill>
            </a:endParaRPr>
          </a:p>
          <a:p>
            <a:pPr indent="0" lvl="0" marL="0" rtl="0" algn="l">
              <a:spcBef>
                <a:spcPts val="400"/>
              </a:spcBef>
              <a:spcAft>
                <a:spcPts val="0"/>
              </a:spcAft>
              <a:buNone/>
            </a:pPr>
            <a:r>
              <a:rPr lang="en-US" sz="2400">
                <a:solidFill>
                  <a:schemeClr val="dk1"/>
                </a:solidFill>
              </a:rPr>
              <a:t>Y=β0​+β1​X+β2​X2+ϵ,           </a:t>
            </a:r>
            <a:r>
              <a:rPr lang="en-US" sz="2400">
                <a:solidFill>
                  <a:schemeClr val="dk1"/>
                </a:solidFill>
              </a:rPr>
              <a:t>Used for curved relationships. </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Exponential Model: </a:t>
            </a:r>
            <a:r>
              <a:rPr lang="en-US" sz="2400">
                <a:solidFill>
                  <a:schemeClr val="dk1"/>
                </a:solidFill>
              </a:rPr>
              <a:t>Y=β0eβ1X+ϵ       Used for rapid growth or decay.</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Logarithmic Model: </a:t>
            </a:r>
            <a:r>
              <a:rPr lang="en-US" sz="2400">
                <a:solidFill>
                  <a:schemeClr val="dk1"/>
                </a:solidFill>
              </a:rPr>
              <a:t>Y=β0​+β1​ln(X)+ϵ      Useful when Y changes rapidly initially and then changes more slowly. </a:t>
            </a:r>
            <a:endParaRPr sz="2400" u="sng">
              <a:solidFill>
                <a:schemeClr val="dk1"/>
              </a:solidFill>
            </a:endParaRPr>
          </a:p>
          <a:p>
            <a:pPr indent="0" lvl="0" marL="0" rtl="0" algn="l">
              <a:lnSpc>
                <a:spcPct val="115000"/>
              </a:lnSpc>
              <a:spcBef>
                <a:spcPts val="1400"/>
              </a:spcBef>
              <a:spcAft>
                <a:spcPts val="0"/>
              </a:spcAft>
              <a:buNone/>
            </a:pPr>
            <a:r>
              <a:rPr b="1" lang="en-US" sz="2400">
                <a:solidFill>
                  <a:schemeClr val="dk1"/>
                </a:solidFill>
              </a:rPr>
              <a:t>Power Model: </a:t>
            </a:r>
            <a:r>
              <a:rPr lang="en-US" sz="2400">
                <a:solidFill>
                  <a:schemeClr val="dk1"/>
                </a:solidFill>
              </a:rPr>
              <a:t>Y=β0​Xβ1​+ϵ        Useful for relationships involving proportional or scaling effects.</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Useful for relationships involving proportional or scaling effects.</a:t>
            </a:r>
            <a:endParaRPr sz="24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ha7d38579d64536_0_146"/>
          <p:cNvSpPr txBox="1"/>
          <p:nvPr/>
        </p:nvSpPr>
        <p:spPr>
          <a:xfrm>
            <a:off x="510013" y="438100"/>
            <a:ext cx="11475000" cy="206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dk1"/>
                </a:solidFill>
              </a:rPr>
              <a:t>Linear vs Non-Linear Regression:</a:t>
            </a:r>
            <a:endParaRPr b="1" sz="2300">
              <a:solidFill>
                <a:schemeClr val="dk1"/>
              </a:solidFill>
            </a:endParaRPr>
          </a:p>
          <a:p>
            <a:pPr indent="0" lvl="0" marL="0" rtl="0" algn="l">
              <a:lnSpc>
                <a:spcPct val="115000"/>
              </a:lnSpc>
              <a:spcBef>
                <a:spcPts val="2400"/>
              </a:spcBef>
              <a:spcAft>
                <a:spcPts val="600"/>
              </a:spcAft>
              <a:buNone/>
            </a:pPr>
            <a:r>
              <a:rPr lang="en-US" sz="2300">
                <a:solidFill>
                  <a:schemeClr val="dk1"/>
                </a:solidFill>
              </a:rPr>
              <a:t>Use </a:t>
            </a:r>
            <a:r>
              <a:rPr b="1" lang="en-US" sz="2300">
                <a:solidFill>
                  <a:schemeClr val="dk1"/>
                </a:solidFill>
              </a:rPr>
              <a:t>linear regression</a:t>
            </a:r>
            <a:r>
              <a:rPr lang="en-US" sz="2300">
                <a:solidFill>
                  <a:schemeClr val="dk1"/>
                </a:solidFill>
              </a:rPr>
              <a:t> when a straight-line relationship is adequate; use a </a:t>
            </a:r>
            <a:r>
              <a:rPr b="1" lang="en-US" sz="2300">
                <a:solidFill>
                  <a:schemeClr val="dk1"/>
                </a:solidFill>
              </a:rPr>
              <a:t>nonlinear form</a:t>
            </a:r>
            <a:r>
              <a:rPr lang="en-US" sz="2300">
                <a:solidFill>
                  <a:schemeClr val="dk1"/>
                </a:solidFill>
              </a:rPr>
              <a:t> when the relationship shows systematic curvature that the linear form does not capture. </a:t>
            </a:r>
            <a:endParaRPr b="1" sz="2300">
              <a:solidFill>
                <a:schemeClr val="dk1"/>
              </a:solidFill>
            </a:endParaRPr>
          </a:p>
        </p:txBody>
      </p:sp>
      <p:graphicFrame>
        <p:nvGraphicFramePr>
          <p:cNvPr id="327" name="Google Shape;327;ha7d38579d64536_0_146"/>
          <p:cNvGraphicFramePr/>
          <p:nvPr/>
        </p:nvGraphicFramePr>
        <p:xfrm>
          <a:off x="952488" y="2857500"/>
          <a:ext cx="3000000" cy="3000000"/>
        </p:xfrm>
        <a:graphic>
          <a:graphicData uri="http://schemas.openxmlformats.org/drawingml/2006/table">
            <a:tbl>
              <a:tblPr>
                <a:noFill/>
                <a:tableStyleId>{AABB5EDB-FB31-46EC-9822-BB6EADF0BBC1}</a:tableStyleId>
              </a:tblPr>
              <a:tblGrid>
                <a:gridCol w="2030350"/>
                <a:gridCol w="4827450"/>
                <a:gridCol w="3428900"/>
              </a:tblGrid>
              <a:tr h="381000">
                <a:tc>
                  <a:txBody>
                    <a:bodyPr/>
                    <a:lstStyle/>
                    <a:p>
                      <a:pPr indent="0" lvl="0" marL="0" rtl="0" algn="l">
                        <a:spcBef>
                          <a:spcPts val="0"/>
                        </a:spcBef>
                        <a:spcAft>
                          <a:spcPts val="0"/>
                        </a:spcAft>
                        <a:buNone/>
                      </a:pPr>
                      <a:r>
                        <a:rPr b="1" lang="en-US" sz="2400"/>
                        <a:t>Feature </a:t>
                      </a:r>
                      <a:endParaRPr b="1" sz="2400"/>
                    </a:p>
                  </a:txBody>
                  <a:tcPr marT="91425" marB="91425" marR="91425" marL="91425"/>
                </a:tc>
                <a:tc>
                  <a:txBody>
                    <a:bodyPr/>
                    <a:lstStyle/>
                    <a:p>
                      <a:pPr indent="0" lvl="0" marL="0" rtl="0" algn="l">
                        <a:spcBef>
                          <a:spcPts val="0"/>
                        </a:spcBef>
                        <a:spcAft>
                          <a:spcPts val="0"/>
                        </a:spcAft>
                        <a:buNone/>
                      </a:pPr>
                      <a:r>
                        <a:rPr b="1" lang="en-US" sz="2400"/>
                        <a:t>Linear Regression </a:t>
                      </a:r>
                      <a:endParaRPr b="1" sz="2400"/>
                    </a:p>
                  </a:txBody>
                  <a:tcPr marT="91425" marB="91425" marR="91425" marL="91425"/>
                </a:tc>
                <a:tc>
                  <a:txBody>
                    <a:bodyPr/>
                    <a:lstStyle/>
                    <a:p>
                      <a:pPr indent="0" lvl="0" marL="0" rtl="0" algn="l">
                        <a:spcBef>
                          <a:spcPts val="0"/>
                        </a:spcBef>
                        <a:spcAft>
                          <a:spcPts val="0"/>
                        </a:spcAft>
                        <a:buNone/>
                      </a:pPr>
                      <a:r>
                        <a:rPr b="1" lang="en-US" sz="2400"/>
                        <a:t>Non-Linear Regression </a:t>
                      </a:r>
                      <a:endParaRPr b="1" sz="2400"/>
                    </a:p>
                  </a:txBody>
                  <a:tcPr marT="91425" marB="91425" marR="91425" marL="91425"/>
                </a:tc>
              </a:tr>
              <a:tr h="381000">
                <a:tc>
                  <a:txBody>
                    <a:bodyPr/>
                    <a:lstStyle/>
                    <a:p>
                      <a:pPr indent="0" lvl="0" marL="0" rtl="0" algn="l">
                        <a:spcBef>
                          <a:spcPts val="0"/>
                        </a:spcBef>
                        <a:spcAft>
                          <a:spcPts val="0"/>
                        </a:spcAft>
                        <a:buNone/>
                      </a:pPr>
                      <a:r>
                        <a:rPr lang="en-US" sz="2400"/>
                        <a:t>Relationship </a:t>
                      </a:r>
                      <a:endParaRPr sz="2400"/>
                    </a:p>
                  </a:txBody>
                  <a:tcPr marT="91425" marB="91425" marR="91425" marL="91425"/>
                </a:tc>
                <a:tc>
                  <a:txBody>
                    <a:bodyPr/>
                    <a:lstStyle/>
                    <a:p>
                      <a:pPr indent="0" lvl="0" marL="0" rtl="0" algn="l">
                        <a:spcBef>
                          <a:spcPts val="0"/>
                        </a:spcBef>
                        <a:spcAft>
                          <a:spcPts val="0"/>
                        </a:spcAft>
                        <a:buNone/>
                      </a:pPr>
                      <a:r>
                        <a:rPr lang="en-US" sz="2400"/>
                        <a:t>Straight-line form </a:t>
                      </a:r>
                      <a:endParaRPr sz="2400"/>
                    </a:p>
                  </a:txBody>
                  <a:tcPr marT="91425" marB="91425" marR="91425" marL="91425"/>
                </a:tc>
                <a:tc>
                  <a:txBody>
                    <a:bodyPr/>
                    <a:lstStyle/>
                    <a:p>
                      <a:pPr indent="0" lvl="0" marL="0" rtl="0" algn="l">
                        <a:spcBef>
                          <a:spcPts val="0"/>
                        </a:spcBef>
                        <a:spcAft>
                          <a:spcPts val="0"/>
                        </a:spcAft>
                        <a:buNone/>
                      </a:pPr>
                      <a:r>
                        <a:rPr lang="en-US" sz="2400"/>
                        <a:t>Curved/nonlinear form </a:t>
                      </a:r>
                      <a:endParaRPr sz="2400"/>
                    </a:p>
                  </a:txBody>
                  <a:tcPr marT="91425" marB="91425" marR="91425" marL="91425"/>
                </a:tc>
              </a:tr>
              <a:tr h="381000">
                <a:tc>
                  <a:txBody>
                    <a:bodyPr/>
                    <a:lstStyle/>
                    <a:p>
                      <a:pPr indent="0" lvl="0" marL="0" rtl="0" algn="l">
                        <a:spcBef>
                          <a:spcPts val="0"/>
                        </a:spcBef>
                        <a:spcAft>
                          <a:spcPts val="0"/>
                        </a:spcAft>
                        <a:buNone/>
                      </a:pPr>
                      <a:r>
                        <a:rPr lang="en-US" sz="2400"/>
                        <a:t>Example </a:t>
                      </a:r>
                      <a:endParaRPr sz="2400"/>
                    </a:p>
                  </a:txBody>
                  <a:tcPr marT="91425" marB="91425" marR="91425" marL="91425"/>
                </a:tc>
                <a:tc>
                  <a:txBody>
                    <a:bodyPr/>
                    <a:lstStyle/>
                    <a:p>
                      <a:pPr indent="0" lvl="0" marL="0" rtl="0" algn="l">
                        <a:spcBef>
                          <a:spcPts val="0"/>
                        </a:spcBef>
                        <a:spcAft>
                          <a:spcPts val="0"/>
                        </a:spcAft>
                        <a:buNone/>
                      </a:pPr>
                      <a:r>
                        <a:rPr lang="en-US" sz="2400"/>
                        <a:t>Y=β0​+β1​X </a:t>
                      </a:r>
                      <a:endParaRPr sz="2400"/>
                    </a:p>
                  </a:txBody>
                  <a:tcPr marT="91425" marB="91425" marR="91425" marL="91425"/>
                </a:tc>
                <a:tc>
                  <a:txBody>
                    <a:bodyPr/>
                    <a:lstStyle/>
                    <a:p>
                      <a:pPr indent="0" lvl="0" marL="0" rtl="0" algn="l">
                        <a:spcBef>
                          <a:spcPts val="0"/>
                        </a:spcBef>
                        <a:spcAft>
                          <a:spcPts val="0"/>
                        </a:spcAft>
                        <a:buNone/>
                      </a:pPr>
                      <a:r>
                        <a:rPr lang="en-US" sz="2400"/>
                        <a:t>Y=β0​+β1​X2 </a:t>
                      </a:r>
                      <a:endParaRPr sz="2400"/>
                    </a:p>
                  </a:txBody>
                  <a:tcPr marT="91425" marB="91425" marR="91425" marL="91425"/>
                </a:tc>
              </a:tr>
              <a:tr h="381000">
                <a:tc>
                  <a:txBody>
                    <a:bodyPr/>
                    <a:lstStyle/>
                    <a:p>
                      <a:pPr indent="0" lvl="0" marL="0" rtl="0" algn="l">
                        <a:spcBef>
                          <a:spcPts val="0"/>
                        </a:spcBef>
                        <a:spcAft>
                          <a:spcPts val="0"/>
                        </a:spcAft>
                        <a:buNone/>
                      </a:pPr>
                      <a:r>
                        <a:rPr lang="en-US" sz="2400"/>
                        <a:t>Pattern </a:t>
                      </a:r>
                      <a:endParaRPr sz="2400"/>
                    </a:p>
                  </a:txBody>
                  <a:tcPr marT="91425" marB="91425" marR="91425" marL="91425"/>
                </a:tc>
                <a:tc>
                  <a:txBody>
                    <a:bodyPr/>
                    <a:lstStyle/>
                    <a:p>
                      <a:pPr indent="0" lvl="0" marL="0" rtl="0" algn="l">
                        <a:spcBef>
                          <a:spcPts val="0"/>
                        </a:spcBef>
                        <a:spcAft>
                          <a:spcPts val="0"/>
                        </a:spcAft>
                        <a:buNone/>
                      </a:pPr>
                      <a:r>
                        <a:rPr lang="en-US" sz="2400"/>
                        <a:t>Constant rate of change in basic linear form </a:t>
                      </a:r>
                      <a:endParaRPr sz="2400"/>
                    </a:p>
                  </a:txBody>
                  <a:tcPr marT="91425" marB="91425" marR="91425" marL="91425"/>
                </a:tc>
                <a:tc>
                  <a:txBody>
                    <a:bodyPr/>
                    <a:lstStyle/>
                    <a:p>
                      <a:pPr indent="0" lvl="0" marL="0" rtl="0" algn="l">
                        <a:spcBef>
                          <a:spcPts val="0"/>
                        </a:spcBef>
                        <a:spcAft>
                          <a:spcPts val="0"/>
                        </a:spcAft>
                        <a:buNone/>
                      </a:pPr>
                      <a:r>
                        <a:rPr lang="en-US" sz="2400"/>
                        <a:t>Rate of change can vary </a:t>
                      </a:r>
                      <a:endParaRPr sz="2400"/>
                    </a:p>
                  </a:txBody>
                  <a:tcPr marT="91425" marB="91425" marR="91425" marL="91425"/>
                </a:tc>
              </a:tr>
              <a:tr h="381000">
                <a:tc>
                  <a:txBody>
                    <a:bodyPr/>
                    <a:lstStyle/>
                    <a:p>
                      <a:pPr indent="0" lvl="0" marL="0" rtl="0" algn="l">
                        <a:spcBef>
                          <a:spcPts val="0"/>
                        </a:spcBef>
                        <a:spcAft>
                          <a:spcPts val="0"/>
                        </a:spcAft>
                        <a:buNone/>
                      </a:pPr>
                      <a:r>
                        <a:rPr lang="en-US" sz="2400"/>
                        <a:t>Graph </a:t>
                      </a:r>
                      <a:endParaRPr sz="2400"/>
                    </a:p>
                  </a:txBody>
                  <a:tcPr marT="91425" marB="91425" marR="91425" marL="91425"/>
                </a:tc>
                <a:tc>
                  <a:txBody>
                    <a:bodyPr/>
                    <a:lstStyle/>
                    <a:p>
                      <a:pPr indent="0" lvl="0" marL="0" rtl="0" algn="l">
                        <a:spcBef>
                          <a:spcPts val="0"/>
                        </a:spcBef>
                        <a:spcAft>
                          <a:spcPts val="0"/>
                        </a:spcAft>
                        <a:buNone/>
                      </a:pPr>
                      <a:r>
                        <a:rPr lang="en-US" sz="2400"/>
                        <a:t>Straight line </a:t>
                      </a:r>
                      <a:endParaRPr sz="2400"/>
                    </a:p>
                  </a:txBody>
                  <a:tcPr marT="91425" marB="91425" marR="91425" marL="91425"/>
                </a:tc>
                <a:tc>
                  <a:txBody>
                    <a:bodyPr/>
                    <a:lstStyle/>
                    <a:p>
                      <a:pPr indent="0" lvl="0" marL="0" rtl="0" algn="l">
                        <a:spcBef>
                          <a:spcPts val="0"/>
                        </a:spcBef>
                        <a:spcAft>
                          <a:spcPts val="0"/>
                        </a:spcAft>
                        <a:buNone/>
                      </a:pPr>
                      <a:r>
                        <a:rPr lang="en-US" sz="2400"/>
                        <a:t>Curve </a:t>
                      </a:r>
                      <a:endParaRPr sz="2400"/>
                    </a:p>
                  </a:txBody>
                  <a:tcPr marT="91425" marB="91425" marR="91425" marL="91425"/>
                </a:tc>
              </a:tr>
              <a:tr h="381000">
                <a:tc>
                  <a:txBody>
                    <a:bodyPr/>
                    <a:lstStyle/>
                    <a:p>
                      <a:pPr indent="0" lvl="0" marL="0" rtl="0" algn="l">
                        <a:spcBef>
                          <a:spcPts val="0"/>
                        </a:spcBef>
                        <a:spcAft>
                          <a:spcPts val="0"/>
                        </a:spcAft>
                        <a:buNone/>
                      </a:pPr>
                      <a:r>
                        <a:rPr lang="en-US" sz="2400"/>
                        <a:t>Use </a:t>
                      </a:r>
                      <a:endParaRPr sz="2400"/>
                    </a:p>
                  </a:txBody>
                  <a:tcPr marT="91425" marB="91425" marR="91425" marL="91425"/>
                </a:tc>
                <a:tc>
                  <a:txBody>
                    <a:bodyPr/>
                    <a:lstStyle/>
                    <a:p>
                      <a:pPr indent="0" lvl="0" marL="0" rtl="0" algn="l">
                        <a:spcBef>
                          <a:spcPts val="0"/>
                        </a:spcBef>
                        <a:spcAft>
                          <a:spcPts val="0"/>
                        </a:spcAft>
                        <a:buNone/>
                      </a:pPr>
                      <a:r>
                        <a:rPr lang="en-US" sz="2400"/>
                        <a:t>Approximately linear relationships </a:t>
                      </a:r>
                      <a:endParaRPr sz="2400"/>
                    </a:p>
                  </a:txBody>
                  <a:tcPr marT="91425" marB="91425" marR="91425" marL="91425"/>
                </a:tc>
                <a:tc>
                  <a:txBody>
                    <a:bodyPr/>
                    <a:lstStyle/>
                    <a:p>
                      <a:pPr indent="0" lvl="0" marL="0" rtl="0" algn="l">
                        <a:spcBef>
                          <a:spcPts val="0"/>
                        </a:spcBef>
                        <a:spcAft>
                          <a:spcPts val="0"/>
                        </a:spcAft>
                        <a:buNone/>
                      </a:pPr>
                      <a:r>
                        <a:rPr lang="en-US" sz="2400"/>
                        <a:t>Curved relationships </a:t>
                      </a:r>
                      <a:endParaRPr sz="2400"/>
                    </a:p>
                  </a:txBody>
                  <a:tcPr marT="91425" marB="91425" marR="91425" marL="914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h62b2205ea301b09f_0_0"/>
          <p:cNvSpPr txBox="1"/>
          <p:nvPr/>
        </p:nvSpPr>
        <p:spPr>
          <a:xfrm>
            <a:off x="0" y="0"/>
            <a:ext cx="11809800" cy="656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Model Diagnostics: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          A</a:t>
            </a:r>
            <a:r>
              <a:rPr lang="en-US" sz="2400">
                <a:solidFill>
                  <a:schemeClr val="dk1"/>
                </a:solidFill>
              </a:rPr>
              <a:t>fter building a model, we must check whether the model is </a:t>
            </a:r>
            <a:r>
              <a:rPr b="1" lang="en-US" sz="2400">
                <a:solidFill>
                  <a:schemeClr val="dk1"/>
                </a:solidFill>
              </a:rPr>
              <a:t>appropriate and reliable</a:t>
            </a:r>
            <a:r>
              <a:rPr lang="en-US" sz="2400">
                <a:solidFill>
                  <a:schemeClr val="dk1"/>
                </a:solidFill>
              </a:rPr>
              <a:t> before using its results for prediction or decision-making.</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Basic definition: </a:t>
            </a:r>
            <a:r>
              <a:rPr lang="en-US" sz="2400">
                <a:solidFill>
                  <a:schemeClr val="dk1"/>
                </a:solidFill>
              </a:rPr>
              <a:t>Model diagnostics is the process of checking whether a fitted regression model satisfies the required assumptions and whether there are problems such as unusual observations, non-constant variance, or correlated errors.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key idea is:</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Build Model → Diagnose Model → Validate Model → Interpret/Use Model</a:t>
            </a:r>
            <a:endParaRPr b="1"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Why do we need Model Diagnostics?</a:t>
            </a:r>
            <a:r>
              <a:rPr lang="en-US" sz="2400">
                <a:solidFill>
                  <a:schemeClr val="dk1"/>
                </a:solidFill>
              </a:rPr>
              <a:t>Suppose we build this model:</a:t>
            </a:r>
            <a:endParaRPr sz="2400">
              <a:solidFill>
                <a:schemeClr val="dk1"/>
              </a:solidFill>
            </a:endParaRPr>
          </a:p>
          <a:p>
            <a:pPr indent="0" lvl="0" marL="0" rtl="0" algn="l">
              <a:lnSpc>
                <a:spcPct val="115000"/>
              </a:lnSpc>
              <a:spcBef>
                <a:spcPts val="600"/>
              </a:spcBef>
              <a:spcAft>
                <a:spcPts val="0"/>
              </a:spcAft>
              <a:buNone/>
            </a:pPr>
            <a:r>
              <a:rPr lang="en-US" sz="2400">
                <a:solidFill>
                  <a:schemeClr val="dk1"/>
                </a:solidFill>
              </a:rPr>
              <a:t>Marks=β0+β1StudyHours+β2Attendance+β3InternalMarks+ϵ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software may give us coefficients, R2R^2, p-values, etc.</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But can we immediately trust the model?     </a:t>
            </a:r>
            <a:r>
              <a:rPr b="1" lang="en-US" sz="2400">
                <a:solidFill>
                  <a:schemeClr val="dk1"/>
                </a:solidFill>
              </a:rPr>
              <a:t>No.</a:t>
            </a:r>
            <a:endParaRPr b="1" sz="24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h62b2205ea301b09f_0_3"/>
          <p:cNvSpPr txBox="1"/>
          <p:nvPr/>
        </p:nvSpPr>
        <p:spPr>
          <a:xfrm>
            <a:off x="98250" y="0"/>
            <a:ext cx="12093300" cy="7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rPr>
              <a:t>W</a:t>
            </a:r>
            <a:r>
              <a:rPr lang="en-US" sz="2400">
                <a:solidFill>
                  <a:schemeClr val="dk1"/>
                </a:solidFill>
              </a:rPr>
              <a:t>e need to check whether the model assumptions are reasonably satisfied.</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Is the relationship approximately linear?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the errors independent?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Is the variance of errors constant?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residuals approximately normally distributed?</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there unusual/outlier observations?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predictors highly correlated with each other?</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These checks are called </a:t>
            </a:r>
            <a:r>
              <a:rPr b="1" lang="en-US" sz="2400">
                <a:solidFill>
                  <a:schemeClr val="dk1"/>
                </a:solidFill>
              </a:rPr>
              <a:t>model diagnostics</a:t>
            </a:r>
            <a:endParaRPr b="1"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The Most Important Role: Residual : </a:t>
            </a:r>
            <a:r>
              <a:rPr lang="en-US" sz="2400">
                <a:solidFill>
                  <a:schemeClr val="dk1"/>
                </a:solidFill>
              </a:rPr>
              <a:t>A residual is the difference between the </a:t>
            </a:r>
            <a:r>
              <a:rPr b="1" lang="en-US" sz="2400">
                <a:solidFill>
                  <a:schemeClr val="dk1"/>
                </a:solidFill>
              </a:rPr>
              <a:t>actual value</a:t>
            </a:r>
            <a:r>
              <a:rPr lang="en-US" sz="2400">
                <a:solidFill>
                  <a:schemeClr val="dk1"/>
                </a:solidFill>
              </a:rPr>
              <a:t> and the </a:t>
            </a:r>
            <a:r>
              <a:rPr b="1" lang="en-US" sz="2400">
                <a:solidFill>
                  <a:schemeClr val="dk1"/>
                </a:solidFill>
              </a:rPr>
              <a:t>predicted value</a:t>
            </a:r>
            <a:r>
              <a:rPr lang="en-US" sz="2400">
                <a:solidFill>
                  <a:schemeClr val="dk1"/>
                </a:solidFill>
              </a:rPr>
              <a:t>.            ei​=Yi​−Y^i​ .              Where:</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YiY_i = actual value        </a:t>
            </a:r>
            <a:r>
              <a:rPr b="1" lang="en-US" sz="2400">
                <a:solidFill>
                  <a:schemeClr val="dk1"/>
                </a:solidFill>
              </a:rPr>
              <a:t>Actual marks = 80</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Y^i\hat{Y}_i = predicted value        </a:t>
            </a:r>
            <a:r>
              <a:rPr b="1" lang="en-US" sz="2400">
                <a:solidFill>
                  <a:schemeClr val="dk1"/>
                </a:solidFill>
              </a:rPr>
              <a:t>Predicted marks = 75</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eie_i = residual/error for observation i           e=80−75=5e=80-75=5</a:t>
            </a:r>
            <a:endParaRPr sz="24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h62b2205ea301b09f_0_6"/>
          <p:cNvSpPr txBox="1"/>
          <p:nvPr/>
        </p:nvSpPr>
        <p:spPr>
          <a:xfrm>
            <a:off x="210588" y="335100"/>
            <a:ext cx="11770500" cy="618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Why are Residuals Important?</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A good regression model should leave behind </a:t>
            </a:r>
            <a:r>
              <a:rPr b="1" lang="en-US" sz="2400">
                <a:solidFill>
                  <a:schemeClr val="dk1"/>
                </a:solidFill>
              </a:rPr>
              <a:t>random-looking residuals</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residuals show a systematic pattern, it indicates that the model may not be capturing something important.</a:t>
            </a:r>
            <a:endParaRPr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Good residual pattern:</a:t>
            </a:r>
            <a:r>
              <a:rPr b="1" lang="en-US" sz="2400">
                <a:solidFill>
                  <a:schemeClr val="dk1"/>
                </a:solidFill>
              </a:rPr>
              <a:t>Residual::Randomly scattered around zero → generally desirable. </a:t>
            </a:r>
            <a:endParaRPr b="1" sz="2400">
              <a:solidFill>
                <a:schemeClr val="dk1"/>
              </a:solidFill>
            </a:endParaRPr>
          </a:p>
          <a:p>
            <a:pPr indent="0" lvl="0" marL="0" rtl="0" algn="l">
              <a:lnSpc>
                <a:spcPct val="115000"/>
              </a:lnSpc>
              <a:spcBef>
                <a:spcPts val="1400"/>
              </a:spcBef>
              <a:spcAft>
                <a:spcPts val="400"/>
              </a:spcAft>
              <a:buNone/>
            </a:pPr>
            <a:r>
              <a:rPr b="1" lang="en-US" sz="2400">
                <a:solidFill>
                  <a:schemeClr val="dk1"/>
                </a:solidFill>
              </a:rPr>
              <a:t>Problematic pattern : A systematic curve/trend → possible model problem. </a:t>
            </a:r>
            <a:endParaRPr b="1" sz="2400">
              <a:solidFill>
                <a:schemeClr val="dk1"/>
              </a:solidFill>
            </a:endParaRPr>
          </a:p>
        </p:txBody>
      </p:sp>
      <p:pic>
        <p:nvPicPr>
          <p:cNvPr id="343" name="Google Shape;343;h62b2205ea301b09f_0_6"/>
          <p:cNvPicPr preferRelativeResize="0"/>
          <p:nvPr/>
        </p:nvPicPr>
        <p:blipFill>
          <a:blip r:embed="rId3">
            <a:alphaModFix/>
          </a:blip>
          <a:stretch>
            <a:fillRect/>
          </a:stretch>
        </p:blipFill>
        <p:spPr>
          <a:xfrm>
            <a:off x="5019225" y="2175103"/>
            <a:ext cx="5847475" cy="2507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h62b2205ea301b09f_0_9"/>
          <p:cNvSpPr txBox="1"/>
          <p:nvPr/>
        </p:nvSpPr>
        <p:spPr>
          <a:xfrm>
            <a:off x="432300" y="526625"/>
            <a:ext cx="11004300" cy="595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900" u="sng"/>
              <a:t>Main Model Diagnostics</a:t>
            </a:r>
            <a:endParaRPr b="1" sz="2900" u="sng"/>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1. Linearity:  </a:t>
            </a:r>
            <a:r>
              <a:rPr lang="en-US" sz="2400">
                <a:solidFill>
                  <a:schemeClr val="dk1"/>
                </a:solidFill>
              </a:rPr>
              <a:t>Is the relationship between predictors and dependent variable appropriately modeled?</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2. Homoscedasticity: </a:t>
            </a:r>
            <a:r>
              <a:rPr lang="en-US" sz="2400">
                <a:solidFill>
                  <a:schemeClr val="dk1"/>
                </a:solidFill>
              </a:rPr>
              <a:t>Is the variance of residuals approximately constant?</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3. Normality of Residuals: </a:t>
            </a:r>
            <a:r>
              <a:rPr lang="en-US" sz="2400">
                <a:solidFill>
                  <a:schemeClr val="dk1"/>
                </a:solidFill>
              </a:rPr>
              <a:t>Are residuals approximately normally distributed?</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4. Autocorrelation: </a:t>
            </a:r>
            <a:r>
              <a:rPr lang="en-US" sz="2400">
                <a:solidFill>
                  <a:schemeClr val="dk1"/>
                </a:solidFill>
              </a:rPr>
              <a:t>Are residuals independent of one another?</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5. Outliers and Influential Observations : </a:t>
            </a:r>
            <a:r>
              <a:rPr lang="en-US" sz="2400">
                <a:solidFill>
                  <a:schemeClr val="dk1"/>
                </a:solidFill>
              </a:rPr>
              <a:t>Are some observations unusually far from the rest or disproportionately affecting the fitted model?</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6. Multicollinearity: </a:t>
            </a:r>
            <a:r>
              <a:rPr lang="en-US" sz="2400">
                <a:solidFill>
                  <a:schemeClr val="dk1"/>
                </a:solidFill>
              </a:rPr>
              <a:t>Are independent variables highly correlated with one another?</a:t>
            </a:r>
            <a:endParaRPr sz="2400">
              <a:solidFill>
                <a:schemeClr val="dk1"/>
              </a:solidFill>
            </a:endParaRPr>
          </a:p>
          <a:p>
            <a:pPr indent="0" lvl="0" marL="0" rtl="0" algn="l">
              <a:spcBef>
                <a:spcPts val="400"/>
              </a:spcBef>
              <a:spcAft>
                <a:spcPts val="0"/>
              </a:spcAft>
              <a:buNone/>
            </a:pPr>
            <a:r>
              <a:rPr lang="en-US" sz="2400"/>
              <a:t> </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h62b2205ea301b09f_0_61"/>
          <p:cNvSpPr txBox="1"/>
          <p:nvPr/>
        </p:nvSpPr>
        <p:spPr>
          <a:xfrm>
            <a:off x="357876" y="249300"/>
            <a:ext cx="11451900" cy="678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1 — Linearity: </a:t>
            </a:r>
            <a:r>
              <a:rPr lang="en-US" sz="2400">
                <a:solidFill>
                  <a:schemeClr val="dk1"/>
                </a:solidFill>
              </a:rPr>
              <a:t>L</a:t>
            </a:r>
            <a:r>
              <a:rPr lang="en-US" sz="2400">
                <a:solidFill>
                  <a:schemeClr val="dk1"/>
                </a:solidFill>
              </a:rPr>
              <a:t>inear regression assumes that the relationship between the predictors and the dependent variable is adequately represented by the specified linear model.</a:t>
            </a:r>
            <a:endParaRPr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Linearity diagnostics</a:t>
            </a:r>
            <a:r>
              <a:rPr lang="en-US" sz="2400">
                <a:solidFill>
                  <a:schemeClr val="dk1"/>
                </a:solidFill>
              </a:rPr>
              <a:t> for complex or non-linear predictive setups involve checking whether the modeled relationships or residual behaviors deviate from linear assumptions, or linearizing components to evaluate model fit.</a:t>
            </a:r>
            <a:r>
              <a:rPr lang="en-US" sz="11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            </a:t>
            </a:r>
            <a:r>
              <a:rPr lang="en-US" sz="2400">
                <a:solidFill>
                  <a:schemeClr val="dk1"/>
                </a:solidFill>
              </a:rPr>
              <a:t>Marks=β0​+β1​StudyHours+ϵ</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the actual relationship is strongly curved, a simple linear model may not be appropriate.</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How do we check?</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Commonly using: Scatter plot, Residual vs fitted-value plot,Residual plots against predictors</a:t>
            </a:r>
            <a:endParaRPr sz="2400">
              <a:solidFill>
                <a:schemeClr val="dk1"/>
              </a:solidFill>
            </a:endParaRPr>
          </a:p>
          <a:p>
            <a:pPr indent="0" lvl="0" marL="0" rtl="0" algn="l">
              <a:lnSpc>
                <a:spcPct val="115000"/>
              </a:lnSpc>
              <a:spcBef>
                <a:spcPts val="1400"/>
              </a:spcBef>
              <a:spcAft>
                <a:spcPts val="400"/>
              </a:spcAft>
              <a:buNone/>
            </a:pPr>
            <a:r>
              <a:rPr b="1" lang="en-US" sz="2400">
                <a:solidFill>
                  <a:schemeClr val="dk1"/>
                </a:solidFill>
              </a:rPr>
              <a:t>Good indication               </a:t>
            </a:r>
            <a:r>
              <a:rPr lang="en-US" sz="2400">
                <a:solidFill>
                  <a:schemeClr val="dk1"/>
                </a:solidFill>
              </a:rPr>
              <a:t>Residuals show </a:t>
            </a:r>
            <a:r>
              <a:rPr b="1" lang="en-US" sz="2400">
                <a:solidFill>
                  <a:schemeClr val="dk1"/>
                </a:solidFill>
              </a:rPr>
              <a:t>no systematic pattern</a:t>
            </a:r>
            <a:r>
              <a:rPr lang="en-US" sz="2400">
                <a:solidFill>
                  <a:schemeClr val="dk1"/>
                </a:solidFill>
              </a:rPr>
              <a:t>.                             </a:t>
            </a:r>
            <a:endParaRPr sz="24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h62b2205ea301b09f_0_96"/>
          <p:cNvSpPr txBox="1"/>
          <p:nvPr/>
        </p:nvSpPr>
        <p:spPr>
          <a:xfrm>
            <a:off x="432325" y="334025"/>
            <a:ext cx="11475900" cy="619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rPr>
              <a:t>Linearity in Diagnostics</a:t>
            </a:r>
            <a:endParaRPr b="1"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Residual Analysis:</a:t>
            </a:r>
            <a:r>
              <a:rPr lang="en-US" sz="2400">
                <a:solidFill>
                  <a:schemeClr val="dk1"/>
                </a:solidFill>
              </a:rPr>
              <a:t> Plotting residuals against predicted (fitted) values helps detect hidden non-linear patterns or curvature that a straight-line model misses.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Linear-in-Parameters vs. Functional Linearity:</a:t>
            </a:r>
            <a:r>
              <a:rPr lang="en-US" sz="2400">
                <a:solidFill>
                  <a:schemeClr val="dk1"/>
                </a:solidFill>
              </a:rPr>
              <a:t> Models like polynomials use transformed features (X², X³) to capture curves while remaining linear in their coefficients.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Partial Residual Plots:</a:t>
            </a:r>
            <a:r>
              <a:rPr lang="en-US" sz="2400">
                <a:solidFill>
                  <a:schemeClr val="dk1"/>
                </a:solidFill>
              </a:rPr>
              <a:t> Visual tools (like component-plus-residual plots) isolate the linear or non-linear effect of a single predictor variable while holding others constant.</a:t>
            </a:r>
            <a:endParaRPr sz="2400">
              <a:solidFill>
                <a:schemeClr val="dk1"/>
              </a:solidFill>
            </a:endParaRPr>
          </a:p>
          <a:p>
            <a:pPr indent="0" lvl="0" marL="0" rtl="0" algn="l">
              <a:lnSpc>
                <a:spcPct val="115000"/>
              </a:lnSpc>
              <a:spcBef>
                <a:spcPts val="2100"/>
              </a:spcBef>
              <a:spcAft>
                <a:spcPts val="0"/>
              </a:spcAft>
              <a:buNone/>
            </a:pPr>
            <a:r>
              <a:rPr b="1" lang="en-US" sz="2400">
                <a:solidFill>
                  <a:schemeClr val="dk1"/>
                </a:solidFill>
              </a:rPr>
              <a:t>Problem:</a:t>
            </a:r>
            <a:r>
              <a:rPr lang="en-US" sz="2400">
                <a:solidFill>
                  <a:schemeClr val="dk1"/>
                </a:solidFill>
              </a:rPr>
              <a:t>A clear curve or systematic pattern suggests that the model may be missing nonlinear structure.</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Possible Solutions: Transform variables, Add polynomial terms, Consider a nonlinear model</a:t>
            </a:r>
            <a:endParaRPr sz="24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h62b2205ea301b09f_0_64"/>
          <p:cNvSpPr txBox="1"/>
          <p:nvPr/>
        </p:nvSpPr>
        <p:spPr>
          <a:xfrm>
            <a:off x="393025" y="432300"/>
            <a:ext cx="11181000" cy="62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2 — Homoscedasticity: </a:t>
            </a:r>
            <a:r>
              <a:rPr lang="en-US" sz="2400">
                <a:solidFill>
                  <a:schemeClr val="dk1"/>
                </a:solidFill>
              </a:rPr>
              <a:t>The variance of residuals remains approximately </a:t>
            </a:r>
            <a:r>
              <a:rPr b="1" lang="en-US" sz="2400">
                <a:solidFill>
                  <a:schemeClr val="dk1"/>
                </a:solidFill>
              </a:rPr>
              <a:t>constant</a:t>
            </a:r>
            <a:r>
              <a:rPr lang="en-US" sz="2400">
                <a:solidFill>
                  <a:schemeClr val="dk1"/>
                </a:solidFill>
              </a:rPr>
              <a:t> across the range of predicted values or predictors.</a:t>
            </a:r>
            <a:endParaRPr sz="2400">
              <a:solidFill>
                <a:schemeClr val="dk1"/>
              </a:solidFill>
            </a:endParaRPr>
          </a:p>
          <a:p>
            <a:pPr indent="-381000" lvl="0" marL="457200" rtl="0" algn="l">
              <a:lnSpc>
                <a:spcPct val="115000"/>
              </a:lnSpc>
              <a:spcBef>
                <a:spcPts val="2400"/>
              </a:spcBef>
              <a:spcAft>
                <a:spcPts val="0"/>
              </a:spcAft>
              <a:buClr>
                <a:schemeClr val="dk1"/>
              </a:buClr>
              <a:buSzPts val="2400"/>
              <a:buChar char="●"/>
            </a:pPr>
            <a:r>
              <a:rPr lang="en-US" sz="2400">
                <a:solidFill>
                  <a:schemeClr val="dk1"/>
                </a:solidFill>
              </a:rPr>
              <a:t>For example, residuals should not be: Small spread → → → Very large spread. A funnel-shaped residual plot may indicate </a:t>
            </a:r>
            <a:r>
              <a:rPr b="1" lang="en-US" sz="2400">
                <a:solidFill>
                  <a:schemeClr val="dk1"/>
                </a:solidFill>
              </a:rPr>
              <a:t>heteroscedasticity</a:t>
            </a:r>
            <a:r>
              <a:rPr lang="en-US" sz="2400">
                <a:solidFill>
                  <a:schemeClr val="dk1"/>
                </a:solidFill>
              </a:rPr>
              <a:t>.</a:t>
            </a:r>
            <a:endParaRPr sz="2400">
              <a:solidFill>
                <a:schemeClr val="dk1"/>
              </a:solidFill>
            </a:endParaRPr>
          </a:p>
          <a:p>
            <a:pPr indent="0" lvl="0" marL="0" rtl="0" algn="l">
              <a:lnSpc>
                <a:spcPct val="115000"/>
              </a:lnSpc>
              <a:spcBef>
                <a:spcPts val="1400"/>
              </a:spcBef>
              <a:spcAft>
                <a:spcPts val="0"/>
              </a:spcAft>
              <a:buNone/>
            </a:pPr>
            <a:r>
              <a:rPr lang="en-US" sz="2400">
                <a:solidFill>
                  <a:schemeClr val="dk1"/>
                </a:solidFill>
              </a:rPr>
              <a:t>If the variance is not constant, the estimated standard errors and statistical tests can be affected. </a:t>
            </a:r>
            <a:r>
              <a:rPr b="1" lang="en-US" sz="2400">
                <a:solidFill>
                  <a:schemeClr val="dk1"/>
                </a:solidFill>
              </a:rPr>
              <a:t>Heteroscedasticity</a:t>
            </a:r>
            <a:r>
              <a:rPr lang="en-US" sz="2400">
                <a:solidFill>
                  <a:schemeClr val="dk1"/>
                </a:solidFill>
              </a:rPr>
              <a:t> means that the variance (spread) of prediction errors (residuals) is not constant across all values of an independent variable or predicted value.</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Unequal Spread:</a:t>
            </a:r>
            <a:r>
              <a:rPr lang="en-US" sz="2400">
                <a:solidFill>
                  <a:schemeClr val="dk1"/>
                </a:solidFill>
              </a:rPr>
              <a:t> Errors grow larger or smaller as the predicted values increase or decrease (often showing a fan or cone shape on a graph).</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Violated Assumptions:</a:t>
            </a:r>
            <a:r>
              <a:rPr lang="en-US" sz="2400">
                <a:solidFill>
                  <a:schemeClr val="dk1"/>
                </a:solidFill>
              </a:rPr>
              <a:t> Standard predictive models like</a:t>
            </a:r>
            <a:r>
              <a:rPr lang="en-US" sz="2400">
                <a:solidFill>
                  <a:schemeClr val="dk1"/>
                </a:solidFill>
                <a:uFill>
                  <a:noFill/>
                </a:uFill>
                <a:hlinkClick r:id="rId3">
                  <a:extLst>
                    <a:ext uri="{A12FA001-AC4F-418D-AE19-62706E023703}">
                      <ahyp:hlinkClr val="tx"/>
                    </a:ext>
                  </a:extLst>
                </a:hlinkClick>
              </a:rPr>
              <a:t> </a:t>
            </a:r>
            <a:r>
              <a:rPr lang="en-US" sz="2400" u="sng">
                <a:solidFill>
                  <a:schemeClr val="hlink"/>
                </a:solidFill>
                <a:hlinkClick r:id="rId4"/>
              </a:rPr>
              <a:t>Ordinary Least Squares (OLS)</a:t>
            </a:r>
            <a:r>
              <a:rPr lang="en-US" sz="2400">
                <a:solidFill>
                  <a:schemeClr val="dk1"/>
                </a:solidFill>
              </a:rPr>
              <a:t> assume homoscedasticity—meaning errors have uniform variance everywhere.</a:t>
            </a:r>
            <a:endParaRPr sz="24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h62b2205ea301b09f_0_67"/>
          <p:cNvSpPr txBox="1"/>
          <p:nvPr/>
        </p:nvSpPr>
        <p:spPr>
          <a:xfrm>
            <a:off x="353700" y="393025"/>
            <a:ext cx="11554500" cy="71160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Impact on Models:</a:t>
            </a:r>
            <a:r>
              <a:rPr lang="en-US" sz="2400">
                <a:solidFill>
                  <a:schemeClr val="dk1"/>
                </a:solidFill>
              </a:rPr>
              <a:t> While coefficient estimates remain unbiased, their standard errors become inaccurate. This makes p-values, confidence intervals, and hypothesis tests untrustworthy, lowering model reliability.</a:t>
            </a:r>
            <a:endParaRPr sz="24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lang="en-US" sz="2400">
                <a:solidFill>
                  <a:schemeClr val="dk1"/>
                </a:solidFill>
              </a:rPr>
              <a:t>How to Detect It</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Residual Plots:</a:t>
            </a:r>
            <a:r>
              <a:rPr lang="en-US" sz="2400">
                <a:solidFill>
                  <a:schemeClr val="dk1"/>
                </a:solidFill>
              </a:rPr>
              <a:t> Plot residuals against predicted values; look for funnel or cone shapes rather than a random, even scatter.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Statistical Tests:</a:t>
            </a:r>
            <a:r>
              <a:rPr lang="en-US" sz="2400">
                <a:solidFill>
                  <a:schemeClr val="dk1"/>
                </a:solidFill>
              </a:rPr>
              <a:t> Use formal checks like the</a:t>
            </a:r>
            <a:r>
              <a:rPr lang="en-US" sz="2400">
                <a:solidFill>
                  <a:schemeClr val="dk1"/>
                </a:solidFill>
                <a:uFill>
                  <a:noFill/>
                </a:uFill>
                <a:hlinkClick r:id="rId3">
                  <a:extLst>
                    <a:ext uri="{A12FA001-AC4F-418D-AE19-62706E023703}">
                      <ahyp:hlinkClr val="tx"/>
                    </a:ext>
                  </a:extLst>
                </a:hlinkClick>
              </a:rPr>
              <a:t> </a:t>
            </a:r>
            <a:r>
              <a:rPr lang="en-US" sz="2400" u="sng">
                <a:solidFill>
                  <a:schemeClr val="hlink"/>
                </a:solidFill>
                <a:hlinkClick r:id="rId4"/>
              </a:rPr>
              <a:t>Breusch-Pagan Test</a:t>
            </a:r>
            <a:r>
              <a:rPr lang="en-US" sz="2400">
                <a:solidFill>
                  <a:schemeClr val="dk1"/>
                </a:solidFill>
              </a:rPr>
              <a:t> or</a:t>
            </a:r>
            <a:r>
              <a:rPr lang="en-US" sz="2400">
                <a:solidFill>
                  <a:schemeClr val="dk1"/>
                </a:solidFill>
                <a:uFill>
                  <a:noFill/>
                </a:uFill>
                <a:hlinkClick r:id="rId5">
                  <a:extLst>
                    <a:ext uri="{A12FA001-AC4F-418D-AE19-62706E023703}">
                      <ahyp:hlinkClr val="tx"/>
                    </a:ext>
                  </a:extLst>
                </a:hlinkClick>
              </a:rPr>
              <a:t> </a:t>
            </a:r>
            <a:r>
              <a:rPr lang="en-US" sz="2400" u="sng">
                <a:solidFill>
                  <a:schemeClr val="hlink"/>
                </a:solidFill>
                <a:hlinkClick r:id="rId6"/>
              </a:rPr>
              <a:t>White Test</a:t>
            </a:r>
            <a:r>
              <a:rPr lang="en-US" sz="2400">
                <a:solidFill>
                  <a:schemeClr val="dk1"/>
                </a:solidFill>
              </a:rPr>
              <a:t>. </a:t>
            </a:r>
            <a:endParaRPr sz="24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lang="en-US" sz="2400">
                <a:solidFill>
                  <a:schemeClr val="dk1"/>
                </a:solidFill>
              </a:rPr>
              <a:t>How to Fix It</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Data Transformation:</a:t>
            </a:r>
            <a:r>
              <a:rPr lang="en-US" sz="2400">
                <a:solidFill>
                  <a:schemeClr val="dk1"/>
                </a:solidFill>
              </a:rPr>
              <a:t> Apply a logarithmic or square-root transformation to the dependent variable.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rgbClr val="333333"/>
                </a:solidFill>
                <a:highlight>
                  <a:srgbClr val="FFFFFF"/>
                </a:highlight>
                <a:latin typeface="Roboto"/>
                <a:ea typeface="Roboto"/>
                <a:cs typeface="Roboto"/>
                <a:sym typeface="Roboto"/>
              </a:rPr>
              <a:t>Weighted regression</a:t>
            </a:r>
            <a:r>
              <a:rPr lang="en-US" sz="2400">
                <a:solidFill>
                  <a:srgbClr val="333333"/>
                </a:solidFill>
                <a:highlight>
                  <a:srgbClr val="FFFFFF"/>
                </a:highlight>
                <a:latin typeface="Roboto"/>
                <a:ea typeface="Roboto"/>
                <a:cs typeface="Roboto"/>
                <a:sym typeface="Roboto"/>
              </a:rPr>
              <a:t> (</a:t>
            </a:r>
            <a:r>
              <a:rPr b="1" lang="en-US" sz="2400">
                <a:solidFill>
                  <a:srgbClr val="333333"/>
                </a:solidFill>
                <a:highlight>
                  <a:srgbClr val="FFFFFF"/>
                </a:highlight>
                <a:latin typeface="Roboto"/>
                <a:ea typeface="Roboto"/>
                <a:cs typeface="Roboto"/>
                <a:sym typeface="Roboto"/>
              </a:rPr>
              <a:t>weighted least squares</a:t>
            </a:r>
            <a:r>
              <a:rPr lang="en-US" sz="2400">
                <a:solidFill>
                  <a:srgbClr val="333333"/>
                </a:solidFill>
                <a:highlight>
                  <a:srgbClr val="FFFFFF"/>
                </a:highlight>
                <a:latin typeface="Roboto"/>
                <a:ea typeface="Roboto"/>
                <a:cs typeface="Roboto"/>
                <a:sym typeface="Roboto"/>
              </a:rPr>
              <a:t>) is a regression model where each observation is given a certain weight that tells the software how important it should be in the model fit.</a:t>
            </a:r>
            <a:r>
              <a:rPr lang="en-US" sz="2400">
                <a:solidFill>
                  <a:schemeClr val="dk1"/>
                </a:solidFill>
              </a:rPr>
              <a:t> </a:t>
            </a:r>
            <a:endParaRPr sz="2400">
              <a:solidFill>
                <a:schemeClr val="dk1"/>
              </a:solidFill>
            </a:endParaRPr>
          </a:p>
          <a:p>
            <a:pPr indent="0" lvl="0" marL="457200" rtl="0" algn="l">
              <a:lnSpc>
                <a:spcPct val="115000"/>
              </a:lnSpc>
              <a:spcBef>
                <a:spcPts val="2100"/>
              </a:spcBef>
              <a:spcAft>
                <a:spcPts val="1200"/>
              </a:spcAft>
              <a:buNone/>
            </a:pPr>
            <a:r>
              <a:t/>
            </a:r>
            <a:endParaRPr sz="24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graphicFrame>
        <p:nvGraphicFramePr>
          <p:cNvPr id="373" name="Google Shape;373;h62b2205ea301b09f_0_105"/>
          <p:cNvGraphicFramePr/>
          <p:nvPr/>
        </p:nvGraphicFramePr>
        <p:xfrm>
          <a:off x="665050" y="421178"/>
          <a:ext cx="3000000" cy="3000000"/>
        </p:xfrm>
        <a:graphic>
          <a:graphicData uri="http://schemas.openxmlformats.org/drawingml/2006/table">
            <a:tbl>
              <a:tblPr>
                <a:solidFill>
                  <a:srgbClr val="FFFFFF"/>
                </a:solidFill>
                <a:tableStyleId>{D9218CA2-764A-41ED-B9C0-92EC91D7CA4B}</a:tableStyleId>
              </a:tblPr>
              <a:tblGrid>
                <a:gridCol w="3078200"/>
                <a:gridCol w="3375250"/>
                <a:gridCol w="4191925"/>
              </a:tblGrid>
              <a:tr h="381000">
                <a:tc>
                  <a:txBody>
                    <a:bodyPr/>
                    <a:lstStyle/>
                    <a:p>
                      <a:pPr indent="0" lvl="0" marL="0" rtl="0" algn="l">
                        <a:spcBef>
                          <a:spcPts val="0"/>
                        </a:spcBef>
                        <a:spcAft>
                          <a:spcPts val="0"/>
                        </a:spcAft>
                        <a:buNone/>
                      </a:pPr>
                      <a:r>
                        <a:rPr b="1" lang="en-US" sz="2400"/>
                        <a:t>Feature</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Homoscedasticity</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Heteroscedasticity</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Variance of residuals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Constant across all X 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Changes across X 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Appearance on scatter plot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Even spread around regression line</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Fan-shaped or funnel-shaped spread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coefficient estimates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Unbiased and efficient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Unbiased but inefficient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standard errors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Accurate</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Biased (inflated or deflated)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p-values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Valid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Potentially misleading</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Common in biomedical data?</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Ideal, but not always present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Very common</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graphicFrame>
        <p:nvGraphicFramePr>
          <p:cNvPr id="378" name="Google Shape;378;h62b2205ea301b09f_0_113"/>
          <p:cNvGraphicFramePr/>
          <p:nvPr/>
        </p:nvGraphicFramePr>
        <p:xfrm>
          <a:off x="415913" y="2522175"/>
          <a:ext cx="3000000" cy="3000000"/>
        </p:xfrm>
        <a:graphic>
          <a:graphicData uri="http://schemas.openxmlformats.org/drawingml/2006/table">
            <a:tbl>
              <a:tblPr>
                <a:solidFill>
                  <a:srgbClr val="FFFFFF"/>
                </a:solidFill>
                <a:tableStyleId>{D9218CA2-764A-41ED-B9C0-92EC91D7CA4B}</a:tableStyleId>
              </a:tblPr>
              <a:tblGrid>
                <a:gridCol w="2041625"/>
                <a:gridCol w="5719175"/>
                <a:gridCol w="3599025"/>
              </a:tblGrid>
              <a:tr h="381000">
                <a:tc>
                  <a:txBody>
                    <a:bodyPr/>
                    <a:lstStyle/>
                    <a:p>
                      <a:pPr indent="0" lvl="0" marL="0" rtl="0" algn="l">
                        <a:spcBef>
                          <a:spcPts val="0"/>
                        </a:spcBef>
                        <a:spcAft>
                          <a:spcPts val="0"/>
                        </a:spcAft>
                        <a:buNone/>
                      </a:pPr>
                      <a:r>
                        <a:rPr b="1" lang="en-US" sz="2000"/>
                        <a:t>Test                             </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What It Does</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Best Used When</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Breusch-Pagan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Regresses squared residuals on predictors; detects linear heteroscedasticity</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General-purpose; widely used</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White’s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A more general version of Breusch-Pagan; detects non-linear patterns too</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Complex models with interactions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Goldfeld-Quandt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Splits data in two and compares variances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Variance changes at a known breakpoint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Levene’s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Compares variance across groups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ANOVA settings; comparing group variances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79" name="Google Shape;379;h62b2205ea301b09f_0_113"/>
          <p:cNvSpPr txBox="1"/>
          <p:nvPr/>
        </p:nvSpPr>
        <p:spPr>
          <a:xfrm>
            <a:off x="304800" y="304800"/>
            <a:ext cx="11359800" cy="194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a:p>
            <a:pPr indent="0" lvl="0" marL="0" rtl="0" algn="l">
              <a:spcBef>
                <a:spcPts val="0"/>
              </a:spcBef>
              <a:spcAft>
                <a:spcPts val="0"/>
              </a:spcAft>
              <a:buClr>
                <a:schemeClr val="dk1"/>
              </a:buClr>
              <a:buSzPts val="1100"/>
              <a:buFont typeface="Arial"/>
              <a:buNone/>
            </a:pPr>
            <a:r>
              <a:rPr lang="en-US" sz="2000"/>
              <a:t>Formal Statistical Tests:When visual inspection is ambiguous, formal tests provide confirmation:</a:t>
            </a:r>
            <a:endParaRPr sz="2000"/>
          </a:p>
          <a:p>
            <a:pPr indent="0" lvl="0" marL="0" rtl="0" algn="l">
              <a:spcBef>
                <a:spcPts val="0"/>
              </a:spcBef>
              <a:spcAft>
                <a:spcPts val="0"/>
              </a:spcAft>
              <a:buNone/>
            </a:pPr>
            <a:r>
              <a:rPr lang="en-US" sz="2000"/>
              <a:t>Interpreting the results.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A significant p-value (typically &lt; 0.05) in these tests indicates heteroscedasticity is present</a:t>
            </a:r>
            <a:endParaRPr sz="2000"/>
          </a:p>
          <a:p>
            <a:pPr indent="-228600" lvl="0" marL="457200" rtl="0" algn="l">
              <a:spcBef>
                <a:spcPts val="0"/>
              </a:spcBef>
              <a:spcAft>
                <a:spcPts val="0"/>
              </a:spcAft>
              <a:buSzPts val="2000"/>
              <a:buNone/>
            </a:pPr>
            <a:r>
              <a:rPr lang="en-US" sz="2000"/>
              <a:t>These tests can be overly sensitive in large samples so always combine with visual inspection</a:t>
            </a:r>
            <a:endParaRPr sz="2000"/>
          </a:p>
          <a:p>
            <a:pPr indent="0" lvl="0" marL="0" rtl="0" algn="l">
              <a:spcBef>
                <a:spcPts val="0"/>
              </a:spcBef>
              <a:spcAft>
                <a:spcPts val="0"/>
              </a:spcAft>
              <a:buNone/>
            </a:pPr>
            <a:r>
              <a:rPr lang="en-US" sz="2000"/>
              <a:t>                           </a:t>
            </a:r>
            <a:endParaRPr sz="2000">
              <a:solidFill>
                <a:srgbClr val="333333"/>
              </a:solidFill>
              <a:highlight>
                <a:srgbClr val="FFFFFF"/>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h62b2205ea301b09f_0_120"/>
          <p:cNvSpPr txBox="1"/>
          <p:nvPr/>
        </p:nvSpPr>
        <p:spPr>
          <a:xfrm>
            <a:off x="326675" y="253800"/>
            <a:ext cx="11538300" cy="660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There is </a:t>
            </a:r>
            <a:r>
              <a:rPr b="1" lang="en-US" sz="2400">
                <a:solidFill>
                  <a:schemeClr val="dk1"/>
                </a:solidFill>
              </a:rPr>
              <a:t>no single universal solution</a:t>
            </a:r>
            <a:r>
              <a:rPr lang="en-US" sz="2400">
                <a:solidFill>
                  <a:schemeClr val="dk1"/>
                </a:solidFill>
              </a:rPr>
              <a:t>. The appropriate remedy depends on why heteroscedasticity is occurring. </a:t>
            </a:r>
            <a:endParaRPr sz="2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2400">
                <a:solidFill>
                  <a:schemeClr val="dk1"/>
                </a:solidFill>
              </a:rPr>
              <a:t>1. Transform the dependent variable</a:t>
            </a:r>
            <a:endParaRPr b="1"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is one of the most common approaches.</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If the variance increases with the level of YY, we can transform YY.</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Common transformations</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Log transformation:            </a:t>
            </a:r>
            <a:r>
              <a:rPr lang="en-US" sz="2400">
                <a:solidFill>
                  <a:schemeClr val="dk1"/>
                </a:solidFill>
              </a:rPr>
              <a:t>Y∗=log(Y)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Square-root transformation:          </a:t>
            </a:r>
            <a:r>
              <a:rPr lang="en-US" sz="2400">
                <a:solidFill>
                  <a:schemeClr val="dk1"/>
                </a:solidFill>
              </a:rPr>
              <a:t>Y∗=YY^*=\sqrt{Y}</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Sometimes other transformations are appropriate, such as reciprocal transformation.</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Instead of:     Y=β0+β1X+ϵ      we may model: log⁡(Y)=β0+β1X+ϵ</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The transformation can reduce the unequal spread of residuals.</a:t>
            </a:r>
            <a:endParaRPr sz="2400">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h62b2205ea301b09f_0_127"/>
          <p:cNvSpPr txBox="1"/>
          <p:nvPr/>
        </p:nvSpPr>
        <p:spPr>
          <a:xfrm>
            <a:off x="401175" y="534875"/>
            <a:ext cx="11232600" cy="588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2. Weighted Least Squares (WLS)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we know or can estimate how the error variance changes across observations, we can give </a:t>
            </a:r>
            <a:r>
              <a:rPr b="1" lang="en-US" sz="2400">
                <a:solidFill>
                  <a:schemeClr val="dk1"/>
                </a:solidFill>
              </a:rPr>
              <a:t>different weights</a:t>
            </a:r>
            <a:r>
              <a:rPr lang="en-US" sz="2400">
                <a:solidFill>
                  <a:schemeClr val="dk1"/>
                </a:solidFill>
              </a:rPr>
              <a:t> to observations.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Ordinary Least Squares:   min⁡ ∑ e</a:t>
            </a:r>
            <a:r>
              <a:rPr baseline="30000" lang="en-US" sz="2400">
                <a:solidFill>
                  <a:schemeClr val="dk1"/>
                </a:solidFill>
              </a:rPr>
              <a:t>i2 </a:t>
            </a:r>
            <a:endParaRPr baseline="30000" sz="2400">
              <a:solidFill>
                <a:schemeClr val="dk1"/>
              </a:solidFill>
            </a:endParaRPr>
          </a:p>
          <a:p>
            <a:pPr indent="0" lvl="0" marL="0" rtl="0" algn="l">
              <a:lnSpc>
                <a:spcPct val="115000"/>
              </a:lnSpc>
              <a:spcBef>
                <a:spcPts val="1200"/>
              </a:spcBef>
              <a:spcAft>
                <a:spcPts val="0"/>
              </a:spcAft>
              <a:buNone/>
            </a:pPr>
            <a:r>
              <a:rPr lang="en-US" sz="2400">
                <a:solidFill>
                  <a:schemeClr val="dk1"/>
                </a:solidFill>
              </a:rPr>
              <a:t>Weighted Least Squares:  min ∑w</a:t>
            </a:r>
            <a:r>
              <a:rPr baseline="30000" lang="en-US" sz="2400">
                <a:solidFill>
                  <a:schemeClr val="dk1"/>
                </a:solidFill>
              </a:rPr>
              <a:t>i​</a:t>
            </a:r>
            <a:r>
              <a:rPr lang="en-US" sz="2400">
                <a:solidFill>
                  <a:schemeClr val="dk1"/>
                </a:solidFill>
              </a:rPr>
              <a:t> e</a:t>
            </a:r>
            <a:r>
              <a:rPr baseline="30000" lang="en-US" sz="2400">
                <a:solidFill>
                  <a:schemeClr val="dk1"/>
                </a:solidFill>
              </a:rPr>
              <a:t>i2</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where w</a:t>
            </a:r>
            <a:r>
              <a:rPr baseline="30000" lang="en-US" sz="2400">
                <a:solidFill>
                  <a:schemeClr val="dk1"/>
                </a:solidFill>
              </a:rPr>
              <a:t>i</a:t>
            </a:r>
            <a:r>
              <a:rPr lang="en-US" sz="2400">
                <a:solidFill>
                  <a:schemeClr val="dk1"/>
                </a:solidFill>
              </a:rPr>
              <a:t>  is the weight assigned to observation ii.</a:t>
            </a:r>
            <a:endParaRPr sz="24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2400">
                <a:solidFill>
                  <a:schemeClr val="dk1"/>
                </a:solidFill>
              </a:rPr>
              <a:t>Observations with greater error variance receive </a:t>
            </a:r>
            <a:r>
              <a:rPr b="1" lang="en-US" sz="2400">
                <a:solidFill>
                  <a:schemeClr val="dk1"/>
                </a:solidFill>
              </a:rPr>
              <a:t>less weight</a:t>
            </a:r>
            <a:r>
              <a:rPr lang="en-US" sz="2400">
                <a:solidFill>
                  <a:schemeClr val="dk1"/>
                </a:solidFill>
              </a:rPr>
              <a:t>, while observations with smaller error variance receive </a:t>
            </a:r>
            <a:r>
              <a:rPr b="1" lang="en-US" sz="2400">
                <a:solidFill>
                  <a:schemeClr val="dk1"/>
                </a:solidFill>
              </a:rPr>
              <a:t>more weight</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can produce more efficient coefficient estimates when the variance structure is correctly specified.</a:t>
            </a:r>
            <a:endParaRPr sz="2400">
              <a:solidFill>
                <a:schemeClr val="dk1"/>
              </a:solidFill>
            </a:endParaRPr>
          </a:p>
          <a:p>
            <a:pPr indent="0" lvl="0" marL="0" rtl="0" algn="l">
              <a:spcBef>
                <a:spcPts val="1200"/>
              </a:spcBef>
              <a:spcAft>
                <a:spcPts val="0"/>
              </a:spcAft>
              <a:buNone/>
            </a:pPr>
            <a:r>
              <a:t/>
            </a:r>
            <a:endParaRPr sz="24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h2205aeae9b1c56da_0_10"/>
          <p:cNvSpPr txBox="1"/>
          <p:nvPr/>
        </p:nvSpPr>
        <p:spPr>
          <a:xfrm>
            <a:off x="496675" y="458475"/>
            <a:ext cx="10888800" cy="557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3. Use Robust Standard Errors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Sometimes we don't want to change the regression coefficients.Instead, we can use </a:t>
            </a:r>
            <a:r>
              <a:rPr b="1" lang="en-US" sz="2400">
                <a:solidFill>
                  <a:schemeClr val="dk1"/>
                </a:solidFill>
              </a:rPr>
              <a:t>heteroscedasticity-robust standard errors</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Keep the estimated regression coefficients, but adjust the standard errors so that statistical inference is more reliable in the presence of heteroscedasticity.</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This is particularly useful when the main concern is </a:t>
            </a:r>
            <a:r>
              <a:rPr b="1" lang="en-US" sz="2400">
                <a:solidFill>
                  <a:schemeClr val="dk1"/>
                </a:solidFill>
              </a:rPr>
              <a:t>hypothesis testing and confidence intervals</a:t>
            </a:r>
            <a:r>
              <a:rPr lang="en-US" sz="2400">
                <a:solidFill>
                  <a:schemeClr val="dk1"/>
                </a:solidFill>
              </a:rPr>
              <a:t> rather than changing the fitted mean relationship.</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You may hear these called:</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Robust standard errors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Heteroscedasticity-consistent standard errors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Huber–White standard errors</a:t>
            </a:r>
            <a:endParaRPr sz="240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h2205aeae9b1c56da_0_13"/>
          <p:cNvSpPr txBox="1"/>
          <p:nvPr/>
        </p:nvSpPr>
        <p:spPr>
          <a:xfrm>
            <a:off x="401175" y="401166"/>
            <a:ext cx="11118000" cy="65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4</a:t>
            </a:r>
            <a:r>
              <a:rPr b="1" lang="en-US" sz="2400">
                <a:solidFill>
                  <a:schemeClr val="dk1"/>
                </a:solidFill>
              </a:rPr>
              <a:t>. Reconsider the Model Specification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Heteroscedasticity can sometimes indicate that the model is </a:t>
            </a:r>
            <a:r>
              <a:rPr b="1" lang="en-US" sz="2400">
                <a:solidFill>
                  <a:schemeClr val="dk1"/>
                </a:solidFill>
              </a:rPr>
              <a:t>missing an important variable or an appropriate functional form</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 suppose:      </a:t>
            </a:r>
            <a:r>
              <a:rPr lang="en-US" sz="2400">
                <a:solidFill>
                  <a:schemeClr val="dk1"/>
                </a:solidFill>
              </a:rPr>
              <a:t>M</a:t>
            </a:r>
            <a:r>
              <a:rPr lang="en-US" sz="2400">
                <a:solidFill>
                  <a:schemeClr val="dk1"/>
                </a:solidFill>
              </a:rPr>
              <a:t>arks=β0​+β1​StudyHours+ϵ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but students' </a:t>
            </a:r>
            <a:r>
              <a:rPr b="1" lang="en-US" sz="2400">
                <a:solidFill>
                  <a:schemeClr val="dk1"/>
                </a:solidFill>
              </a:rPr>
              <a:t>attendance</a:t>
            </a:r>
            <a:r>
              <a:rPr lang="en-US" sz="2400">
                <a:solidFill>
                  <a:schemeClr val="dk1"/>
                </a:solidFill>
              </a:rPr>
              <a:t> also affects marks.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We could consider:             Marks=β0​+β1​StudyHours+β2​Attendance+ϵ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Similarly, a nonlinear relationship might require:</a:t>
            </a:r>
            <a:endParaRPr sz="2400">
              <a:solidFill>
                <a:schemeClr val="dk1"/>
              </a:solidFill>
            </a:endParaRPr>
          </a:p>
          <a:p>
            <a:pPr indent="0" lvl="0" marL="0" rtl="0" algn="l">
              <a:spcBef>
                <a:spcPts val="1200"/>
              </a:spcBef>
              <a:spcAft>
                <a:spcPts val="0"/>
              </a:spcAft>
              <a:buNone/>
            </a:pPr>
            <a:r>
              <a:rPr lang="en-US" sz="2400">
                <a:solidFill>
                  <a:schemeClr val="dk1"/>
                </a:solidFill>
              </a:rPr>
              <a:t>Marks=β0​+β1​StudyHours+β2​StudyHours2+ϵ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So:</a:t>
            </a:r>
            <a:endParaRPr sz="24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2400">
                <a:solidFill>
                  <a:schemeClr val="dk1"/>
                </a:solidFill>
              </a:rPr>
              <a:t>Check whether the regression model is correctly specified before simply applying a statistical remedy.</a:t>
            </a:r>
            <a:endParaRPr b="1" sz="2400">
              <a:solidFill>
                <a:schemeClr val="dk1"/>
              </a:solidFill>
            </a:endParaRPr>
          </a:p>
          <a:p>
            <a:pPr indent="0" lvl="0" marL="0" rtl="0" algn="l">
              <a:spcBef>
                <a:spcPts val="1200"/>
              </a:spcBef>
              <a:spcAft>
                <a:spcPts val="0"/>
              </a:spcAft>
              <a:buNone/>
            </a:pPr>
            <a:r>
              <a:t/>
            </a:r>
            <a:endParaRPr sz="24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graphicFrame>
        <p:nvGraphicFramePr>
          <p:cNvPr id="404" name="Google Shape;404;h2205aeae9b1c56da_0_29"/>
          <p:cNvGraphicFramePr/>
          <p:nvPr/>
        </p:nvGraphicFramePr>
        <p:xfrm>
          <a:off x="474900" y="350688"/>
          <a:ext cx="3000000" cy="3000000"/>
        </p:xfrm>
        <a:graphic>
          <a:graphicData uri="http://schemas.openxmlformats.org/drawingml/2006/table">
            <a:tbl>
              <a:tblPr>
                <a:noFill/>
                <a:tableStyleId>{AABB5EDB-FB31-46EC-9822-BB6EADF0BBC1}</a:tableStyleId>
              </a:tblPr>
              <a:tblGrid>
                <a:gridCol w="5296175"/>
                <a:gridCol w="5945675"/>
              </a:tblGrid>
              <a:tr h="533125">
                <a:tc gridSpan="2">
                  <a:txBody>
                    <a:bodyPr/>
                    <a:lstStyle/>
                    <a:p>
                      <a:pPr indent="0" lvl="0" marL="0" rtl="0" algn="l">
                        <a:spcBef>
                          <a:spcPts val="0"/>
                        </a:spcBef>
                        <a:spcAft>
                          <a:spcPts val="0"/>
                        </a:spcAft>
                        <a:buNone/>
                      </a:pPr>
                      <a:r>
                        <a:rPr lang="en-US" sz="2400"/>
                        <a:t>Handling </a:t>
                      </a:r>
                      <a:r>
                        <a:rPr lang="en-US" sz="2400"/>
                        <a:t>Heteroscedasticity</a:t>
                      </a:r>
                      <a:r>
                        <a:rPr lang="en-US" sz="2400"/>
                        <a:t> (Summary): </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573325">
                <a:tc gridSpan="2">
                  <a:txBody>
                    <a:bodyPr/>
                    <a:lstStyle/>
                    <a:p>
                      <a:pPr indent="0" lvl="0" marL="0" rtl="0" algn="l">
                        <a:spcBef>
                          <a:spcPts val="0"/>
                        </a:spcBef>
                        <a:spcAft>
                          <a:spcPts val="0"/>
                        </a:spcAft>
                        <a:buNone/>
                      </a:pPr>
                      <a:r>
                        <a:rPr lang="en-US" sz="2400">
                          <a:solidFill>
                            <a:schemeClr val="dk1"/>
                          </a:solidFill>
                        </a:rPr>
                        <a:t>First understand why it occurs; then choose an appropriate remedy.                       </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381000">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1. Transform variables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Log transformation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Square-root transformation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Other appropriate transformations</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2. Use Weighted Least Squares (WLS)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Assign weights based on error variance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Gives less influence to observations with greater error varianc</a:t>
                      </a:r>
                      <a:r>
                        <a:rPr lang="en-US" sz="2400">
                          <a:solidFill>
                            <a:schemeClr val="dk1"/>
                          </a:solidFill>
                        </a:rPr>
                        <a:t>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3. Use Robust Standard Errors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Regression coefficients can remain unchanged</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Standard errors are adjusted for heteroscedasticity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Useful for more reliable inference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4. Reconsider Model Specification</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Add relevant predictors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Consider nonlinear terms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Check whether the functional form is appropriate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h62b2205ea301b09f_0_84"/>
          <p:cNvSpPr txBox="1"/>
          <p:nvPr/>
        </p:nvSpPr>
        <p:spPr>
          <a:xfrm>
            <a:off x="491275" y="373800"/>
            <a:ext cx="11377500" cy="666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3 — Normality of Residual</a:t>
            </a:r>
            <a:r>
              <a:rPr b="1" lang="en-US" sz="2400">
                <a:solidFill>
                  <a:schemeClr val="dk1"/>
                </a:solidFill>
              </a:rPr>
              <a:t>s :</a:t>
            </a:r>
            <a:endParaRPr sz="2400">
              <a:solidFill>
                <a:schemeClr val="dk1"/>
              </a:solidFill>
            </a:endParaRPr>
          </a:p>
          <a:p>
            <a:pPr indent="0" lvl="0" marL="0" rtl="0" algn="l">
              <a:lnSpc>
                <a:spcPct val="115000"/>
              </a:lnSpc>
              <a:spcBef>
                <a:spcPts val="1200"/>
              </a:spcBef>
              <a:spcAft>
                <a:spcPts val="0"/>
              </a:spcAft>
              <a:buNone/>
            </a:pPr>
            <a:r>
              <a:rPr b="1" lang="en-US" sz="2400">
                <a:solidFill>
                  <a:srgbClr val="2D3748"/>
                </a:solidFill>
                <a:highlight>
                  <a:srgbClr val="FFFFFF"/>
                </a:highlight>
                <a:latin typeface="Georgia"/>
                <a:ea typeface="Georgia"/>
                <a:cs typeface="Georgia"/>
                <a:sym typeface="Georgia"/>
              </a:rPr>
              <a:t>Normality of residuals</a:t>
            </a:r>
            <a:r>
              <a:rPr lang="en-US" sz="2400">
                <a:solidFill>
                  <a:srgbClr val="2D3748"/>
                </a:solidFill>
                <a:highlight>
                  <a:srgbClr val="FFFFFF"/>
                </a:highlight>
                <a:latin typeface="Georgia"/>
                <a:ea typeface="Georgia"/>
                <a:cs typeface="Georgia"/>
                <a:sym typeface="Georgia"/>
              </a:rPr>
              <a:t> is the assumption that these residuals follow a </a:t>
            </a:r>
            <a:r>
              <a:rPr b="1" lang="en-US" sz="2400">
                <a:solidFill>
                  <a:srgbClr val="2D3748"/>
                </a:solidFill>
                <a:highlight>
                  <a:srgbClr val="FFFFFF"/>
                </a:highlight>
                <a:latin typeface="Georgia"/>
                <a:ea typeface="Georgia"/>
                <a:cs typeface="Georgia"/>
                <a:sym typeface="Georgia"/>
              </a:rPr>
              <a:t>normal (Gaussian) distribution</a:t>
            </a:r>
            <a:r>
              <a:rPr lang="en-US" sz="2400">
                <a:solidFill>
                  <a:srgbClr val="2D3748"/>
                </a:solidFill>
                <a:highlight>
                  <a:srgbClr val="FFFFFF"/>
                </a:highlight>
                <a:latin typeface="Georgia"/>
                <a:ea typeface="Georgia"/>
                <a:cs typeface="Georgia"/>
                <a:sym typeface="Georgia"/>
              </a:rPr>
              <a:t>, typically centered around zero. Intuitively, most errors should be small, large errors should be rare, and the pattern of errors should look roughly symmetric.</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rgbClr val="2D3748"/>
                </a:solidFill>
                <a:highlight>
                  <a:srgbClr val="FFFFFF"/>
                </a:highlight>
                <a:latin typeface="Georgia"/>
                <a:ea typeface="Georgia"/>
                <a:cs typeface="Georgia"/>
                <a:sym typeface="Georgia"/>
              </a:rPr>
              <a:t>In linear regression, normal residuals are not required for the model to produce a line or even for predictions to be reasonable. The big reason we care is </a:t>
            </a:r>
            <a:r>
              <a:rPr b="1" lang="en-US" sz="2400">
                <a:solidFill>
                  <a:srgbClr val="2D3748"/>
                </a:solidFill>
                <a:highlight>
                  <a:srgbClr val="FFFFFF"/>
                </a:highlight>
                <a:latin typeface="Georgia"/>
                <a:ea typeface="Georgia"/>
                <a:cs typeface="Georgia"/>
                <a:sym typeface="Georgia"/>
              </a:rPr>
              <a:t>inference</a:t>
            </a:r>
            <a:r>
              <a:rPr lang="en-US" sz="2400">
                <a:solidFill>
                  <a:srgbClr val="2D3748"/>
                </a:solidFill>
                <a:highlight>
                  <a:srgbClr val="FFFFFF"/>
                </a:highlight>
                <a:latin typeface="Georgia"/>
                <a:ea typeface="Georgia"/>
                <a:cs typeface="Georgia"/>
                <a:sym typeface="Georgia"/>
              </a:rPr>
              <a:t>: normality supports the usual </a:t>
            </a:r>
            <a:r>
              <a:rPr b="1" lang="en-US" sz="2400">
                <a:solidFill>
                  <a:srgbClr val="2D3748"/>
                </a:solidFill>
                <a:highlight>
                  <a:srgbClr val="FFFFFF"/>
                </a:highlight>
                <a:latin typeface="Georgia"/>
                <a:ea typeface="Georgia"/>
                <a:cs typeface="Georgia"/>
                <a:sym typeface="Georgia"/>
              </a:rPr>
              <a:t>t-tests</a:t>
            </a:r>
            <a:r>
              <a:rPr lang="en-US" sz="2400">
                <a:solidFill>
                  <a:srgbClr val="2D3748"/>
                </a:solidFill>
                <a:highlight>
                  <a:srgbClr val="FFFFFF"/>
                </a:highlight>
                <a:latin typeface="Georgia"/>
                <a:ea typeface="Georgia"/>
                <a:cs typeface="Georgia"/>
                <a:sym typeface="Georgia"/>
              </a:rPr>
              <a:t>, </a:t>
            </a:r>
            <a:r>
              <a:rPr b="1" lang="en-US" sz="2400">
                <a:solidFill>
                  <a:srgbClr val="2D3748"/>
                </a:solidFill>
                <a:highlight>
                  <a:srgbClr val="FFFFFF"/>
                </a:highlight>
                <a:latin typeface="Georgia"/>
                <a:ea typeface="Georgia"/>
                <a:cs typeface="Georgia"/>
                <a:sym typeface="Georgia"/>
              </a:rPr>
              <a:t>F-tests</a:t>
            </a:r>
            <a:r>
              <a:rPr lang="en-US" sz="2400">
                <a:solidFill>
                  <a:srgbClr val="2D3748"/>
                </a:solidFill>
                <a:highlight>
                  <a:srgbClr val="FFFFFF"/>
                </a:highlight>
                <a:latin typeface="Georgia"/>
                <a:ea typeface="Georgia"/>
                <a:cs typeface="Georgia"/>
                <a:sym typeface="Georgia"/>
              </a:rPr>
              <a:t>, </a:t>
            </a:r>
            <a:r>
              <a:rPr b="1" lang="en-US" sz="2400">
                <a:solidFill>
                  <a:srgbClr val="2D3748"/>
                </a:solidFill>
                <a:highlight>
                  <a:srgbClr val="FFFFFF"/>
                </a:highlight>
                <a:latin typeface="Georgia"/>
                <a:ea typeface="Georgia"/>
                <a:cs typeface="Georgia"/>
                <a:sym typeface="Georgia"/>
              </a:rPr>
              <a:t>confidence intervals</a:t>
            </a:r>
            <a:r>
              <a:rPr lang="en-US" sz="2400">
                <a:solidFill>
                  <a:srgbClr val="2D3748"/>
                </a:solidFill>
                <a:highlight>
                  <a:srgbClr val="FFFFFF"/>
                </a:highlight>
                <a:latin typeface="Georgia"/>
                <a:ea typeface="Georgia"/>
                <a:cs typeface="Georgia"/>
                <a:sym typeface="Georgia"/>
              </a:rPr>
              <a:t>, and </a:t>
            </a:r>
            <a:r>
              <a:rPr b="1" lang="en-US" sz="2400">
                <a:solidFill>
                  <a:srgbClr val="2D3748"/>
                </a:solidFill>
                <a:highlight>
                  <a:srgbClr val="FFFFFF"/>
                </a:highlight>
                <a:latin typeface="Georgia"/>
                <a:ea typeface="Georgia"/>
                <a:cs typeface="Georgia"/>
                <a:sym typeface="Georgia"/>
              </a:rPr>
              <a:t>p-values</a:t>
            </a:r>
            <a:r>
              <a:rPr lang="en-US" sz="2400">
                <a:solidFill>
                  <a:srgbClr val="2D3748"/>
                </a:solidFill>
                <a:highlight>
                  <a:srgbClr val="FFFFFF"/>
                </a:highlight>
                <a:latin typeface="Georgia"/>
                <a:ea typeface="Georgia"/>
                <a:cs typeface="Georgia"/>
                <a:sym typeface="Georgia"/>
              </a:rPr>
              <a:t> for coefficients—especially in smaller samples. If residuals are strongly non-normal (heavy tails, skew), those uncertainty estimates can be misleading.</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u="sng">
                <a:solidFill>
                  <a:srgbClr val="2D3748"/>
                </a:solidFill>
                <a:latin typeface="Georgia"/>
                <a:ea typeface="Georgia"/>
                <a:cs typeface="Georgia"/>
                <a:sym typeface="Georgia"/>
              </a:rPr>
              <a:t>How you check it in practice</a:t>
            </a:r>
            <a:endParaRPr b="1" sz="2400" u="sng">
              <a:solidFill>
                <a:srgbClr val="2D3748"/>
              </a:solidFill>
              <a:latin typeface="Georgia"/>
              <a:ea typeface="Georgia"/>
              <a:cs typeface="Georgia"/>
              <a:sym typeface="Georgia"/>
            </a:endParaRPr>
          </a:p>
          <a:p>
            <a:pPr indent="-381000" lvl="0" marL="457200" rtl="0" algn="l">
              <a:lnSpc>
                <a:spcPct val="115000"/>
              </a:lnSpc>
              <a:spcBef>
                <a:spcPts val="1000"/>
              </a:spcBef>
              <a:spcAft>
                <a:spcPts val="0"/>
              </a:spcAft>
              <a:buClr>
                <a:srgbClr val="2D3748"/>
              </a:buClr>
              <a:buSzPts val="2400"/>
              <a:buFont typeface="Georgia"/>
              <a:buChar char="●"/>
            </a:pPr>
            <a:r>
              <a:rPr b="1" lang="en-US" sz="2400">
                <a:solidFill>
                  <a:srgbClr val="2D3748"/>
                </a:solidFill>
                <a:latin typeface="Georgia"/>
                <a:ea typeface="Georgia"/>
                <a:cs typeface="Georgia"/>
                <a:sym typeface="Georgia"/>
              </a:rPr>
              <a:t>Q–Q plot</a:t>
            </a:r>
            <a:r>
              <a:rPr lang="en-US" sz="2400">
                <a:solidFill>
                  <a:srgbClr val="2D3748"/>
                </a:solidFill>
                <a:latin typeface="Georgia"/>
                <a:ea typeface="Georgia"/>
                <a:cs typeface="Georgia"/>
                <a:sym typeface="Georgia"/>
              </a:rPr>
              <a:t>: points close to a straight line suggest approximate normality.</a:t>
            </a:r>
            <a:endParaRPr sz="2400">
              <a:solidFill>
                <a:srgbClr val="2D3748"/>
              </a:solidFill>
              <a:latin typeface="Georgia"/>
              <a:ea typeface="Georgia"/>
              <a:cs typeface="Georgia"/>
              <a:sym typeface="Georgia"/>
            </a:endParaRPr>
          </a:p>
          <a:p>
            <a:pPr indent="-381000" lvl="0" marL="457200" rtl="0" algn="l">
              <a:lnSpc>
                <a:spcPct val="115000"/>
              </a:lnSpc>
              <a:spcBef>
                <a:spcPts val="0"/>
              </a:spcBef>
              <a:spcAft>
                <a:spcPts val="0"/>
              </a:spcAft>
              <a:buClr>
                <a:srgbClr val="2D3748"/>
              </a:buClr>
              <a:buSzPts val="2400"/>
              <a:buFont typeface="Georgia"/>
              <a:buChar char="●"/>
            </a:pPr>
            <a:r>
              <a:rPr b="1" lang="en-US" sz="2400">
                <a:solidFill>
                  <a:srgbClr val="2D3748"/>
                </a:solidFill>
                <a:latin typeface="Georgia"/>
                <a:ea typeface="Georgia"/>
                <a:cs typeface="Georgia"/>
                <a:sym typeface="Georgia"/>
              </a:rPr>
              <a:t>Histogram</a:t>
            </a:r>
            <a:r>
              <a:rPr lang="en-US" sz="2400">
                <a:solidFill>
                  <a:srgbClr val="2D3748"/>
                </a:solidFill>
                <a:latin typeface="Georgia"/>
                <a:ea typeface="Georgia"/>
                <a:cs typeface="Georgia"/>
                <a:sym typeface="Georgia"/>
              </a:rPr>
              <a:t> of residuals: a rough bell shape is a good sign.</a:t>
            </a:r>
            <a:endParaRPr sz="2400">
              <a:solidFill>
                <a:srgbClr val="2D3748"/>
              </a:solidFill>
              <a:latin typeface="Georgia"/>
              <a:ea typeface="Georgia"/>
              <a:cs typeface="Georgia"/>
              <a:sym typeface="Georgia"/>
            </a:endParaRPr>
          </a:p>
          <a:p>
            <a:pPr indent="-381000" lvl="0" marL="457200" rtl="0" algn="l">
              <a:lnSpc>
                <a:spcPct val="115000"/>
              </a:lnSpc>
              <a:spcBef>
                <a:spcPts val="0"/>
              </a:spcBef>
              <a:spcAft>
                <a:spcPts val="0"/>
              </a:spcAft>
              <a:buClr>
                <a:srgbClr val="2D3748"/>
              </a:buClr>
              <a:buSzPts val="2400"/>
              <a:buFont typeface="Georgia"/>
              <a:buChar char="●"/>
            </a:pPr>
            <a:r>
              <a:rPr lang="en-US" sz="2400">
                <a:solidFill>
                  <a:srgbClr val="2D3748"/>
                </a:solidFill>
                <a:latin typeface="Georgia"/>
                <a:ea typeface="Georgia"/>
                <a:cs typeface="Georgia"/>
                <a:sym typeface="Georgia"/>
              </a:rPr>
              <a:t>Formal tests like </a:t>
            </a:r>
            <a:r>
              <a:rPr b="1" lang="en-US" sz="2400">
                <a:solidFill>
                  <a:srgbClr val="2D3748"/>
                </a:solidFill>
                <a:latin typeface="Georgia"/>
                <a:ea typeface="Georgia"/>
                <a:cs typeface="Georgia"/>
                <a:sym typeface="Georgia"/>
              </a:rPr>
              <a:t>Shapiro–Wilk</a:t>
            </a:r>
            <a:r>
              <a:rPr lang="en-US" sz="2400">
                <a:solidFill>
                  <a:srgbClr val="2D3748"/>
                </a:solidFill>
                <a:latin typeface="Georgia"/>
                <a:ea typeface="Georgia"/>
                <a:cs typeface="Georgia"/>
                <a:sym typeface="Georgia"/>
              </a:rPr>
              <a:t> (useful, but overreact with large datasets).</a:t>
            </a:r>
            <a:endParaRPr b="1" sz="2400">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h2205aeae9b1c56da_0_41"/>
          <p:cNvSpPr txBox="1"/>
          <p:nvPr/>
        </p:nvSpPr>
        <p:spPr>
          <a:xfrm>
            <a:off x="0" y="-95515"/>
            <a:ext cx="11824800" cy="705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chemeClr val="dk1"/>
                </a:solidFill>
              </a:rPr>
              <a:t>For Non-Linear Model:</a:t>
            </a:r>
            <a:endParaRPr b="1" sz="2400">
              <a:solidFill>
                <a:schemeClr val="dk1"/>
              </a:solidFill>
            </a:endParaRPr>
          </a:p>
          <a:p>
            <a:pPr indent="0" lvl="0" marL="0" rtl="0" algn="l">
              <a:spcBef>
                <a:spcPts val="0"/>
              </a:spcBef>
              <a:spcAft>
                <a:spcPts val="0"/>
              </a:spcAft>
              <a:buNone/>
            </a:pPr>
            <a:r>
              <a:rPr lang="en-US" sz="2400">
                <a:solidFill>
                  <a:schemeClr val="dk1"/>
                </a:solidFill>
              </a:rPr>
              <a:t>         </a:t>
            </a:r>
            <a:r>
              <a:rPr lang="en-US" sz="2400">
                <a:solidFill>
                  <a:schemeClr val="dk1"/>
                </a:solidFill>
              </a:rPr>
              <a:t>Normality of residuals in non-linear models is not strictly required for estimating parameters, but it is important for valid statistical inference (such as confidence intervals and p-values).</a:t>
            </a:r>
            <a:endParaRPr sz="2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2400">
                <a:solidFill>
                  <a:schemeClr val="dk1"/>
                </a:solidFill>
              </a:rPr>
              <a:t>Why It Matters:</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Parameter Estimation:</a:t>
            </a:r>
            <a:r>
              <a:rPr lang="en-US" sz="2400">
                <a:solidFill>
                  <a:schemeClr val="dk1"/>
                </a:solidFill>
              </a:rPr>
              <a:t> Just like in linear regression, you do not need normal residuals to find the best-fit curve for a non-linear model using methods like Ordinary Least Squares (OLS) or non-linear least squares.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Hypothesis Testing &amp; Inference:</a:t>
            </a:r>
            <a:r>
              <a:rPr lang="en-US" sz="2400">
                <a:solidFill>
                  <a:schemeClr val="dk1"/>
                </a:solidFill>
              </a:rPr>
              <a:t> P-values, t-statistics, and confidence intervals rely on the assumption that the error terms (and thus the residuals) follow a normal distribution, especially in small sample sizes.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Large Samples:</a:t>
            </a:r>
            <a:r>
              <a:rPr lang="en-US" sz="2400">
                <a:solidFill>
                  <a:schemeClr val="dk1"/>
                </a:solidFill>
              </a:rPr>
              <a:t> If sample size is large, the Central Limit Theorem helps ensure that confidence intervals and tests remain reasonably valid even if residuals depart from normality.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Predictions:</a:t>
            </a:r>
            <a:r>
              <a:rPr lang="en-US" sz="2400">
                <a:solidFill>
                  <a:schemeClr val="dk1"/>
                </a:solidFill>
              </a:rPr>
              <a:t> Severe non-normality or skewed error distributions can make prediction intervals unreliable or inaccurate.</a:t>
            </a:r>
            <a:endParaRPr sz="2400">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h62b2205ea301b09f_0_92"/>
          <p:cNvSpPr txBox="1"/>
          <p:nvPr/>
        </p:nvSpPr>
        <p:spPr>
          <a:xfrm>
            <a:off x="401175" y="821435"/>
            <a:ext cx="10946100" cy="50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US" sz="2400">
                <a:solidFill>
                  <a:schemeClr val="dk1"/>
                </a:solidFill>
              </a:rPr>
              <a:t>How to Check Residuals in Non-Linear Models</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Q-Q Plots &amp; Histograms:</a:t>
            </a:r>
            <a:r>
              <a:rPr lang="en-US" sz="2400">
                <a:solidFill>
                  <a:schemeClr val="dk1"/>
                </a:solidFill>
              </a:rPr>
              <a:t> Plot th</a:t>
            </a:r>
            <a:r>
              <a:rPr lang="en-US" sz="2400">
                <a:solidFill>
                  <a:schemeClr val="dk1"/>
                </a:solidFill>
              </a:rPr>
              <a:t>e</a:t>
            </a:r>
            <a:r>
              <a:rPr lang="en-US" sz="2400">
                <a:solidFill>
                  <a:schemeClr val="dk1"/>
                </a:solidFill>
                <a:uFill>
                  <a:noFill/>
                </a:uFill>
                <a:hlinkClick r:id="rId3">
                  <a:extLst>
                    <a:ext uri="{A12FA001-AC4F-418D-AE19-62706E023703}">
                      <ahyp:hlinkClr val="tx"/>
                    </a:ext>
                  </a:extLst>
                </a:hlinkClick>
              </a:rPr>
              <a:t> observed residuals</a:t>
            </a:r>
            <a:r>
              <a:rPr lang="en-US" sz="2400">
                <a:solidFill>
                  <a:schemeClr val="dk1"/>
                </a:solidFill>
              </a:rPr>
              <a:t> to see if they follow a roughly symmetric, bell-shaped pattern or a straight lin</a:t>
            </a:r>
            <a:r>
              <a:rPr lang="en-US" sz="2400">
                <a:solidFill>
                  <a:schemeClr val="dk1"/>
                </a:solidFill>
              </a:rPr>
              <a:t>e.</a:t>
            </a:r>
            <a:endParaRPr sz="2400">
              <a:solidFill>
                <a:schemeClr val="dk1"/>
              </a:solidFill>
            </a:endParaRPr>
          </a:p>
          <a:p>
            <a:pPr indent="0" lvl="0" marL="457200" rtl="0" algn="l">
              <a:lnSpc>
                <a:spcPct val="115000"/>
              </a:lnSpc>
              <a:spcBef>
                <a:spcPts val="2100"/>
              </a:spcBef>
              <a:spcAft>
                <a:spcPts val="0"/>
              </a:spcAft>
              <a:buNone/>
            </a:pPr>
            <a:r>
              <a:rPr lang="en-US" sz="2400">
                <a:solidFill>
                  <a:schemeClr val="dk1"/>
                </a:solidFill>
              </a:rPr>
              <a:t>A Q-Q plot is particularly useful for assessing departures from normality. </a:t>
            </a:r>
            <a:endParaRPr sz="2400">
              <a:solidFill>
                <a:schemeClr val="dk1"/>
              </a:solidFill>
            </a:endParaRPr>
          </a:p>
          <a:p>
            <a:pPr indent="-381000" lvl="0" marL="457200" rtl="0" algn="l">
              <a:lnSpc>
                <a:spcPct val="115000"/>
              </a:lnSpc>
              <a:spcBef>
                <a:spcPts val="2100"/>
              </a:spcBef>
              <a:spcAft>
                <a:spcPts val="0"/>
              </a:spcAft>
              <a:buClr>
                <a:schemeClr val="dk1"/>
              </a:buClr>
              <a:buSzPts val="2400"/>
              <a:buChar char="●"/>
            </a:pPr>
            <a:r>
              <a:rPr b="1" lang="en-US" sz="2400">
                <a:solidFill>
                  <a:schemeClr val="dk1"/>
                </a:solidFill>
              </a:rPr>
              <a:t>Normality Tests:</a:t>
            </a:r>
            <a:r>
              <a:rPr lang="en-US" sz="2400">
                <a:solidFill>
                  <a:schemeClr val="dk1"/>
                </a:solidFill>
              </a:rPr>
              <a:t> Software package</a:t>
            </a:r>
            <a:r>
              <a:rPr lang="en-US" sz="2400">
                <a:solidFill>
                  <a:schemeClr val="dk1"/>
                </a:solidFill>
              </a:rPr>
              <a:t>s (like</a:t>
            </a:r>
            <a:r>
              <a:rPr lang="en-US" sz="2400">
                <a:solidFill>
                  <a:schemeClr val="dk1"/>
                </a:solidFill>
                <a:uFill>
                  <a:noFill/>
                </a:uFill>
                <a:hlinkClick r:id="rId4">
                  <a:extLst>
                    <a:ext uri="{A12FA001-AC4F-418D-AE19-62706E023703}">
                      <ahyp:hlinkClr val="tx"/>
                    </a:ext>
                  </a:extLst>
                </a:hlinkClick>
              </a:rPr>
              <a:t> GraphPad Prism</a:t>
            </a:r>
            <a:r>
              <a:rPr lang="en-US" sz="2400">
                <a:solidFill>
                  <a:schemeClr val="dk1"/>
                </a:solidFill>
              </a:rPr>
              <a:t>) </a:t>
            </a:r>
            <a:r>
              <a:rPr lang="en-US" sz="2400">
                <a:solidFill>
                  <a:schemeClr val="dk1"/>
                </a:solidFill>
              </a:rPr>
              <a:t>allow you to run tests like Shapiro-Wilk or Kolmogorov-Smirnov directly on the regression residuals rather than the raw data.</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Residuals vs. Fits:</a:t>
            </a:r>
            <a:r>
              <a:rPr lang="en-US" sz="2400">
                <a:solidFill>
                  <a:schemeClr val="dk1"/>
                </a:solidFill>
              </a:rPr>
              <a:t> Always check for homoscedasticity (constant variance) and non-linear patterns using residual scatter plots, as violations here are often more damaging than minor non-normality. </a:t>
            </a:r>
            <a:endParaRPr sz="2400">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h62b2205ea301b09f_0_12"/>
          <p:cNvSpPr txBox="1"/>
          <p:nvPr/>
        </p:nvSpPr>
        <p:spPr>
          <a:xfrm>
            <a:off x="0" y="19103"/>
            <a:ext cx="11977500" cy="645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rPr>
              <a:t>What is Multicollinearity?</a:t>
            </a:r>
            <a:endParaRPr b="1"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Multicollinearity occurs when two or more independent variables in a regression model are highly related to each other, which destabilizes parameter estimation, inflates standard errors, and makes individual </a:t>
            </a:r>
            <a:r>
              <a:rPr lang="en-US" sz="2400">
                <a:solidFill>
                  <a:schemeClr val="dk1"/>
                </a:solidFill>
              </a:rPr>
              <a:t>coefficient interpretation difficult.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The problem is that the model then has difficulty separating the individual contribution of each predictor.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Example: Suppose we want to predict: House Prices</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using:</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X1 = House area in square feet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X2 = Number of bedrooms</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X3 = Number of rooms</a:t>
            </a:r>
            <a:endParaRPr sz="2400">
              <a:solidFill>
                <a:schemeClr val="dk1"/>
              </a:solidFill>
            </a:endParaRPr>
          </a:p>
          <a:p>
            <a:pPr indent="0" lvl="0" marL="381000" marR="381000" rtl="0" algn="l">
              <a:lnSpc>
                <a:spcPct val="115000"/>
              </a:lnSpc>
              <a:spcBef>
                <a:spcPts val="1200"/>
              </a:spcBef>
              <a:spcAft>
                <a:spcPts val="1200"/>
              </a:spcAft>
              <a:buNone/>
            </a:pPr>
            <a:r>
              <a:rPr lang="en-US" sz="2400">
                <a:solidFill>
                  <a:schemeClr val="dk1"/>
                </a:solidFill>
              </a:rPr>
              <a:t>X4 = Number of bathrooms.</a:t>
            </a:r>
            <a:endParaRPr b="1" sz="2400">
              <a:solidFill>
                <a:schemeClr val="dk1"/>
              </a:solidFill>
            </a:endParaRPr>
          </a:p>
        </p:txBody>
      </p:sp>
      <p:sp>
        <p:nvSpPr>
          <p:cNvPr id="425" name="Google Shape;425;h62b2205ea301b09f_0_12"/>
          <p:cNvSpPr txBox="1"/>
          <p:nvPr/>
        </p:nvSpPr>
        <p:spPr>
          <a:xfrm>
            <a:off x="6647875" y="4296600"/>
            <a:ext cx="4986000" cy="198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None/>
            </a:pPr>
            <a:r>
              <a:rPr lang="en-US" sz="2400">
                <a:solidFill>
                  <a:schemeClr val="dk1"/>
                </a:solidFill>
              </a:rPr>
              <a:t>2. </a:t>
            </a:r>
            <a:r>
              <a:rPr lang="en-US" sz="2400">
                <a:solidFill>
                  <a:schemeClr val="dk1"/>
                </a:solidFill>
              </a:rPr>
              <a:t>Age,Experience, YearTorRetirement</a:t>
            </a:r>
            <a:endParaRPr sz="2400">
              <a:solidFill>
                <a:schemeClr val="dk1"/>
              </a:solidFill>
            </a:endParaRPr>
          </a:p>
          <a:p>
            <a:pPr indent="0" lvl="0" marL="381000" marR="381000" rtl="0" algn="l">
              <a:lnSpc>
                <a:spcPct val="115000"/>
              </a:lnSpc>
              <a:spcBef>
                <a:spcPts val="1200"/>
              </a:spcBef>
              <a:spcAft>
                <a:spcPts val="1200"/>
              </a:spcAft>
              <a:buNone/>
            </a:pPr>
            <a:r>
              <a:rPr lang="en-US" sz="2400">
                <a:solidFill>
                  <a:schemeClr val="dk1"/>
                </a:solidFill>
              </a:rPr>
              <a:t>3. Income, expenditure, Standard of leaving</a:t>
            </a:r>
            <a:endParaRPr b="1" sz="24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h62b2205ea301b09f_0_15"/>
          <p:cNvSpPr txBox="1"/>
          <p:nvPr/>
        </p:nvSpPr>
        <p:spPr>
          <a:xfrm>
            <a:off x="416925" y="300900"/>
            <a:ext cx="11496000" cy="65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t>Our model is:</a:t>
            </a:r>
            <a:endParaRPr sz="2400"/>
          </a:p>
          <a:p>
            <a:pPr indent="0" lvl="0" marL="0" rtl="0" algn="l">
              <a:spcBef>
                <a:spcPts val="1200"/>
              </a:spcBef>
              <a:spcAft>
                <a:spcPts val="0"/>
              </a:spcAft>
              <a:buNone/>
            </a:pPr>
            <a:r>
              <a:rPr lang="en-US" sz="2400"/>
              <a:t>Price=β0​+β1​Area+β2​Bedrooms+β3​Rooms+β4​Bathrooms+ϵ</a:t>
            </a:r>
            <a:endParaRPr sz="2400"/>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Notice: As </a:t>
            </a:r>
            <a:r>
              <a:rPr b="1" lang="en-US" sz="2400">
                <a:solidFill>
                  <a:schemeClr val="dk1"/>
                </a:solidFill>
              </a:rPr>
              <a:t>Area increases</a:t>
            </a:r>
            <a:r>
              <a:rPr lang="en-US" sz="2400">
                <a:solidFill>
                  <a:schemeClr val="dk1"/>
                </a:solidFill>
              </a:rPr>
              <a:t>, the number of </a:t>
            </a:r>
            <a:r>
              <a:rPr b="1" lang="en-US" sz="2400">
                <a:solidFill>
                  <a:schemeClr val="dk1"/>
                </a:solidFill>
              </a:rPr>
              <a:t>Bedrooms and Rooms also increases</a:t>
            </a:r>
            <a:r>
              <a:rPr lang="en-US" sz="2400">
                <a:solidFill>
                  <a:schemeClr val="dk1"/>
                </a:solidFill>
              </a:rPr>
              <a:t>. Therefore, these predictors contain overlapping information.</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For example: </a:t>
            </a:r>
            <a:r>
              <a:rPr b="1" lang="en-US" sz="2400">
                <a:solidFill>
                  <a:schemeClr val="dk1"/>
                </a:solidFill>
              </a:rPr>
              <a:t>Area ↔ Bedrooms, Area ↔ Rooms, Bedrooms ↔ Rooms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This creates </a:t>
            </a:r>
            <a:r>
              <a:rPr b="1" lang="en-US" sz="2400">
                <a:solidFill>
                  <a:schemeClr val="dk1"/>
                </a:solidFill>
              </a:rPr>
              <a:t>multicollinearity</a:t>
            </a:r>
            <a:r>
              <a:rPr lang="en-US" sz="2400">
                <a:solidFill>
                  <a:schemeClr val="dk1"/>
                </a:solidFill>
              </a:rPr>
              <a: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"If bedrooms and rooms are important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for house prices, why are their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p-values so high?". The answer can be </a:t>
            </a:r>
            <a:r>
              <a:rPr b="1" lang="en-US" sz="2400">
                <a:solidFill>
                  <a:schemeClr val="dk1"/>
                </a:solidFill>
              </a:rPr>
              <a:t>multicollinearity</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model has difficulty determining: "How much of the price effect should be attributed to Area, how much to Bedrooms, and how much to Rooms?"</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because these variables are strongly related.</a:t>
            </a:r>
            <a:endParaRPr sz="2400"/>
          </a:p>
        </p:txBody>
      </p:sp>
      <p:graphicFrame>
        <p:nvGraphicFramePr>
          <p:cNvPr id="431" name="Google Shape;431;h62b2205ea301b09f_0_15"/>
          <p:cNvGraphicFramePr/>
          <p:nvPr/>
        </p:nvGraphicFramePr>
        <p:xfrm>
          <a:off x="6291975" y="3067450"/>
          <a:ext cx="3000000" cy="3000000"/>
        </p:xfrm>
        <a:graphic>
          <a:graphicData uri="http://schemas.openxmlformats.org/drawingml/2006/table">
            <a:tbl>
              <a:tblPr>
                <a:noFill/>
                <a:tableStyleId>{D9218CA2-764A-41ED-B9C0-92EC91D7CA4B}</a:tableStyleId>
              </a:tblPr>
              <a:tblGrid>
                <a:gridCol w="1602550"/>
                <a:gridCol w="1814625"/>
                <a:gridCol w="1249050"/>
              </a:tblGrid>
              <a:tr h="442325">
                <a:tc>
                  <a:txBody>
                    <a:bodyPr/>
                    <a:lstStyle/>
                    <a:p>
                      <a:pPr indent="0" lvl="0" marL="0" rtl="0" algn="ctr">
                        <a:lnSpc>
                          <a:spcPct val="115000"/>
                        </a:lnSpc>
                        <a:spcBef>
                          <a:spcPts val="0"/>
                        </a:spcBef>
                        <a:spcAft>
                          <a:spcPts val="0"/>
                        </a:spcAft>
                        <a:buNone/>
                      </a:pPr>
                      <a:r>
                        <a:rPr b="1" lang="en-US" sz="1100"/>
                        <a:t>Predictor</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Coefficient</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p-value</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Area</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₹5,000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0.001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Bedrooms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₹20,000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0.62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Rooms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₹15,000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0.71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h2205aeae9b1c56da_0_70"/>
          <p:cNvSpPr txBox="1"/>
          <p:nvPr/>
        </p:nvSpPr>
        <p:spPr>
          <a:xfrm>
            <a:off x="630400" y="458475"/>
            <a:ext cx="10869600" cy="587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600">
                <a:solidFill>
                  <a:schemeClr val="dk1"/>
                </a:solidFill>
                <a:latin typeface="Times New Roman"/>
                <a:ea typeface="Times New Roman"/>
                <a:cs typeface="Times New Roman"/>
                <a:sym typeface="Times New Roman"/>
              </a:rPr>
              <a:t>Impact on Predictive Analysis: </a:t>
            </a:r>
            <a:r>
              <a:rPr lang="en-US" sz="2600">
                <a:solidFill>
                  <a:schemeClr val="dk1"/>
                </a:solidFill>
                <a:latin typeface="Times New Roman"/>
                <a:ea typeface="Times New Roman"/>
                <a:cs typeface="Times New Roman"/>
                <a:sym typeface="Times New Roman"/>
              </a:rPr>
              <a:t>Multicollinearity occurs when predictors provide overlapping information, making it difficult for the regression model to estimate the individual contribution of each predictor accurately. </a:t>
            </a:r>
            <a:endParaRPr sz="26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Unstable Estimates:</a:t>
            </a:r>
            <a:r>
              <a:rPr lang="en-US" sz="2400">
                <a:solidFill>
                  <a:schemeClr val="dk1"/>
                </a:solidFill>
                <a:latin typeface="Times New Roman"/>
                <a:ea typeface="Times New Roman"/>
                <a:cs typeface="Times New Roman"/>
                <a:sym typeface="Times New Roman"/>
              </a:rPr>
              <a:t> Small changes in the data or starting values lead to wildly fluctuating nonlinear coefficients.</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Misleading Inference:</a:t>
            </a:r>
            <a:r>
              <a:rPr lang="en-US" sz="2400">
                <a:solidFill>
                  <a:schemeClr val="dk1"/>
                </a:solidFill>
                <a:latin typeface="Times New Roman"/>
                <a:ea typeface="Times New Roman"/>
                <a:cs typeface="Times New Roman"/>
                <a:sym typeface="Times New Roman"/>
              </a:rPr>
              <a:t> P-values can appear non-significant even when a </a:t>
            </a:r>
            <a:r>
              <a:rPr lang="en-US" sz="2400">
                <a:solidFill>
                  <a:schemeClr val="dk1"/>
                </a:solidFill>
                <a:latin typeface="Times New Roman"/>
                <a:ea typeface="Times New Roman"/>
                <a:cs typeface="Times New Roman"/>
                <a:sym typeface="Times New Roman"/>
              </a:rPr>
              <a:t>strong relationship exists between the predictors and the response. If predictors are highly correlated, their standard errors can become large, making the individual t-statistics smaller and p-values larger. The model cannot precisely separate its effect from the effects of correlated predictors.</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Parameter Estimation: </a:t>
            </a:r>
            <a:r>
              <a:rPr lang="en-US" sz="2400">
                <a:solidFill>
                  <a:schemeClr val="dk1"/>
                </a:solidFill>
                <a:latin typeface="Times New Roman"/>
                <a:ea typeface="Times New Roman"/>
                <a:cs typeface="Times New Roman"/>
                <a:sym typeface="Times New Roman"/>
              </a:rPr>
              <a:t>High collinearity can inflate standard errors and undermine the precision of parameter estimates. Standard errors become excessively large, reducing the statistical significance of individual predictors.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h2205aeae9b1c56da_0_78"/>
          <p:cNvSpPr txBox="1"/>
          <p:nvPr/>
        </p:nvSpPr>
        <p:spPr>
          <a:xfrm>
            <a:off x="298038" y="553994"/>
            <a:ext cx="11595600" cy="52272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Model Interpretation:</a:t>
            </a:r>
            <a:r>
              <a:rPr lang="en-US" sz="2400">
                <a:solidFill>
                  <a:schemeClr val="dk1"/>
                </a:solidFill>
                <a:latin typeface="Times New Roman"/>
                <a:ea typeface="Times New Roman"/>
                <a:cs typeface="Times New Roman"/>
                <a:sym typeface="Times New Roman"/>
              </a:rPr>
              <a:t> Correlated predictors make it challenging to discern the individual effect of each variable on the outcome. When predictors move together, it becomes difficult to isolate the individual contribution of each predictor.</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Prediction Accuracy: </a:t>
            </a:r>
            <a:r>
              <a:rPr lang="en-US" sz="2400">
                <a:solidFill>
                  <a:schemeClr val="dk1"/>
                </a:solidFill>
                <a:latin typeface="Times New Roman"/>
                <a:ea typeface="Times New Roman"/>
                <a:cs typeface="Times New Roman"/>
                <a:sym typeface="Times New Roman"/>
              </a:rPr>
              <a:t>Multicollinearity can lead to overfitting or poor generalization, affecting the model's predictive</a:t>
            </a:r>
            <a:r>
              <a:rPr lang="en-US" sz="24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power.</a:t>
            </a:r>
            <a:r>
              <a:rPr lang="en-US" sz="2400">
                <a:solidFill>
                  <a:schemeClr val="dk1"/>
                </a:solidFill>
                <a:latin typeface="Times New Roman"/>
                <a:ea typeface="Times New Roman"/>
                <a:cs typeface="Times New Roman"/>
                <a:sym typeface="Times New Roman"/>
              </a:rPr>
              <a:t> Multicollinearity primarily creates a problem with the stability and precision of coefficient estimates and inference. It does not automatically mean that prediction accuracy will be poor.</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Multicollinearity can reduce the stability and generalizability of a model's predictions, particularly when the predictor relationships in new data differ from those in the training data.</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Multicollinearity does not necessarily make the entire model useless; its major impact is that it makes individual coefficient estimates less precise and harder to interpret.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h36dc2ce36be3d24_0_7"/>
          <p:cNvSpPr txBox="1"/>
          <p:nvPr/>
        </p:nvSpPr>
        <p:spPr>
          <a:xfrm>
            <a:off x="454950" y="303300"/>
            <a:ext cx="11388900" cy="626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latin typeface="Times New Roman"/>
                <a:ea typeface="Times New Roman"/>
                <a:cs typeface="Times New Roman"/>
                <a:sym typeface="Times New Roman"/>
              </a:rPr>
              <a:t>Diagnostic Methods:</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Correlation Matrix:</a:t>
            </a:r>
            <a:r>
              <a:rPr lang="en-US" sz="2400">
                <a:solidFill>
                  <a:schemeClr val="dk1"/>
                </a:solidFill>
                <a:latin typeface="Times New Roman"/>
                <a:ea typeface="Times New Roman"/>
                <a:cs typeface="Times New Roman"/>
                <a:sym typeface="Times New Roman"/>
              </a:rPr>
              <a:t> Check pairwise linear or monotonic correlations.</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2100"/>
              </a:spcBef>
              <a:spcAft>
                <a:spcPts val="2100"/>
              </a:spcAft>
              <a:buNone/>
            </a:pPr>
            <a:r>
              <a:rPr lang="en-US" sz="2400">
                <a:solidFill>
                  <a:schemeClr val="dk1"/>
                </a:solidFill>
                <a:latin typeface="Times New Roman"/>
                <a:ea typeface="Times New Roman"/>
                <a:cs typeface="Times New Roman"/>
                <a:sym typeface="Times New Roman"/>
              </a:rPr>
              <a:t>Area &amp; Bedrooms = 0.85 → strong positive correlation . Diagonal values are always 1.00, because a variable is perfectly correlated with itself, means the predictors are strongly related to each other. So there is a possibility of multicollinearity. Therefore, the model may find it difficult to determine the individual contribution of Area, Bedrooms, and Bathrooms to house price. </a:t>
            </a:r>
            <a:endParaRPr sz="2400">
              <a:solidFill>
                <a:schemeClr val="dk1"/>
              </a:solidFill>
              <a:latin typeface="Times New Roman"/>
              <a:ea typeface="Times New Roman"/>
              <a:cs typeface="Times New Roman"/>
              <a:sym typeface="Times New Roman"/>
            </a:endParaRPr>
          </a:p>
        </p:txBody>
      </p:sp>
      <p:graphicFrame>
        <p:nvGraphicFramePr>
          <p:cNvPr id="447" name="Google Shape;447;h36dc2ce36be3d24_0_7"/>
          <p:cNvGraphicFramePr/>
          <p:nvPr/>
        </p:nvGraphicFramePr>
        <p:xfrm>
          <a:off x="2730475" y="1816025"/>
          <a:ext cx="3000000" cy="3000000"/>
        </p:xfrm>
        <a:graphic>
          <a:graphicData uri="http://schemas.openxmlformats.org/drawingml/2006/table">
            <a:tbl>
              <a:tblPr>
                <a:noFill/>
                <a:tableStyleId>{D9218CA2-764A-41ED-B9C0-92EC91D7CA4B}</a:tableStyleId>
              </a:tblPr>
              <a:tblGrid>
                <a:gridCol w="1652750"/>
                <a:gridCol w="997225"/>
                <a:gridCol w="1538125"/>
                <a:gridCol w="1641625"/>
              </a:tblGrid>
              <a:tr h="655275">
                <a:tc>
                  <a:txBody>
                    <a:bodyPr/>
                    <a:lstStyle/>
                    <a:p>
                      <a:pPr indent="0" lvl="0" marL="0" rtl="0" algn="l">
                        <a:spcBef>
                          <a:spcPts val="0"/>
                        </a:spcBef>
                        <a:spcAft>
                          <a:spcPts val="0"/>
                        </a:spcAft>
                        <a:buNone/>
                      </a:pPr>
                      <a:r>
                        <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Area</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Bedrooms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Bathrooms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9975">
                <a:tc>
                  <a:txBody>
                    <a:bodyPr/>
                    <a:lstStyle/>
                    <a:p>
                      <a:pPr indent="0" lvl="0" marL="0" rtl="0" algn="l">
                        <a:spcBef>
                          <a:spcPts val="0"/>
                        </a:spcBef>
                        <a:spcAft>
                          <a:spcPts val="0"/>
                        </a:spcAft>
                        <a:buNone/>
                      </a:pPr>
                      <a:r>
                        <a:rPr b="1" lang="en-US" sz="2000"/>
                        <a:t>Area</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0.80</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4950">
                <a:tc>
                  <a:txBody>
                    <a:bodyPr/>
                    <a:lstStyle/>
                    <a:p>
                      <a:pPr indent="0" lvl="0" marL="0" rtl="0" algn="l">
                        <a:spcBef>
                          <a:spcPts val="0"/>
                        </a:spcBef>
                        <a:spcAft>
                          <a:spcPts val="0"/>
                        </a:spcAft>
                        <a:buNone/>
                      </a:pPr>
                      <a:r>
                        <a:rPr b="1" lang="en-US" sz="2000"/>
                        <a:t>Bedrooms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0.75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4950">
                <a:tc>
                  <a:txBody>
                    <a:bodyPr/>
                    <a:lstStyle/>
                    <a:p>
                      <a:pPr indent="0" lvl="0" marL="0" rtl="0" algn="l">
                        <a:spcBef>
                          <a:spcPts val="0"/>
                        </a:spcBef>
                        <a:spcAft>
                          <a:spcPts val="0"/>
                        </a:spcAft>
                        <a:buNone/>
                      </a:pPr>
                      <a:r>
                        <a:rPr b="1" lang="en-US" sz="2000"/>
                        <a:t>Bathrooms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0.80</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0.75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h36dc2ce36be3d24_0_23"/>
          <p:cNvSpPr txBox="1"/>
          <p:nvPr/>
        </p:nvSpPr>
        <p:spPr>
          <a:xfrm>
            <a:off x="0" y="343850"/>
            <a:ext cx="10583100" cy="61908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Variance Inflation Factor (VIF):</a:t>
            </a:r>
            <a:r>
              <a:rPr lang="en-US" sz="2400">
                <a:solidFill>
                  <a:schemeClr val="dk1"/>
                </a:solidFill>
                <a:latin typeface="Times New Roman"/>
                <a:ea typeface="Times New Roman"/>
                <a:cs typeface="Times New Roman"/>
                <a:sym typeface="Times New Roman"/>
              </a:rPr>
              <a:t> Measure how much the variance of a coefficient is inflated; a VIF value above 5 or 10 signals critical multicollinearity. Standard errors become excessively large, reducing the statistical significance of individual predictors.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Tolerance:</a:t>
            </a:r>
            <a:r>
              <a:rPr lang="en-US" sz="2400">
                <a:solidFill>
                  <a:schemeClr val="dk1"/>
                </a:solidFill>
                <a:latin typeface="Times New Roman"/>
                <a:ea typeface="Times New Roman"/>
                <a:cs typeface="Times New Roman"/>
                <a:sym typeface="Times New Roman"/>
              </a:rPr>
              <a:t> Calculated as 1 - R² for a predictor regressed on others; values below 0.10 indicate severe collinearity. R-squared (R^2) measures the proportion of variation in the dependent variable that is explained by the fitted regression model.</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rPr lang="en-US" sz="2400">
                <a:solidFill>
                  <a:schemeClr val="dk1"/>
                </a:solidFill>
                <a:latin typeface="Times New Roman"/>
                <a:ea typeface="Times New Roman"/>
                <a:cs typeface="Times New Roman"/>
                <a:sym typeface="Times New Roman"/>
              </a:rPr>
              <a:t>R² = explanatory power, NOT prediction accuracy. R^2=0.80 → The model explains 80% of the observed variation in Y. R² = explanatory power, NOT prediction accuracy.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21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Condition Number / Index:</a:t>
            </a:r>
            <a:r>
              <a:rPr lang="en-US" sz="2400">
                <a:solidFill>
                  <a:schemeClr val="dk1"/>
                </a:solidFill>
                <a:latin typeface="Times New Roman"/>
                <a:ea typeface="Times New Roman"/>
                <a:cs typeface="Times New Roman"/>
                <a:sym typeface="Times New Roman"/>
              </a:rPr>
              <a:t> Derived from the eigenvalues of the scaled design/ Jacobian matrix; values exceeding 30 suggest severe instability.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h2205aeae9b1c56da_0_85"/>
          <p:cNvSpPr txBox="1"/>
          <p:nvPr/>
        </p:nvSpPr>
        <p:spPr>
          <a:xfrm>
            <a:off x="745025" y="840550"/>
            <a:ext cx="10312200" cy="506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0"/>
              </a:spcAft>
              <a:buNone/>
            </a:pPr>
            <a:r>
              <a:rPr b="1" lang="en-US" sz="2600">
                <a:solidFill>
                  <a:schemeClr val="dk1"/>
                </a:solidFill>
                <a:latin typeface="Times New Roman"/>
                <a:ea typeface="Times New Roman"/>
                <a:cs typeface="Times New Roman"/>
                <a:sym typeface="Times New Roman"/>
              </a:rPr>
              <a:t>Solution to the Multicollinearity:</a:t>
            </a:r>
            <a:endParaRPr b="1" sz="26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2400">
                <a:solidFill>
                  <a:schemeClr val="dk1"/>
                </a:solidFill>
                <a:latin typeface="Times New Roman"/>
                <a:ea typeface="Times New Roman"/>
                <a:cs typeface="Times New Roman"/>
                <a:sym typeface="Times New Roman"/>
              </a:rPr>
              <a:t>Mitigation Strategies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Feature Selection:</a:t>
            </a:r>
            <a:r>
              <a:rPr lang="en-US" sz="2400">
                <a:solidFill>
                  <a:schemeClr val="dk1"/>
                </a:solidFill>
                <a:latin typeface="Times New Roman"/>
                <a:ea typeface="Times New Roman"/>
                <a:cs typeface="Times New Roman"/>
                <a:sym typeface="Times New Roman"/>
              </a:rPr>
              <a:t> Remove redundant or highly overlapping predictor variables.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Dimensionality Reduction:</a:t>
            </a:r>
            <a:r>
              <a:rPr lang="en-US" sz="2400">
                <a:solidFill>
                  <a:schemeClr val="dk1"/>
                </a:solidFill>
                <a:latin typeface="Times New Roman"/>
                <a:ea typeface="Times New Roman"/>
                <a:cs typeface="Times New Roman"/>
                <a:sym typeface="Times New Roman"/>
              </a:rPr>
              <a:t> Apply Principal Component Analysis (PCA) to convert correlated variables into orthogonal features.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Regularization:</a:t>
            </a:r>
            <a:r>
              <a:rPr lang="en-US" sz="2400">
                <a:solidFill>
                  <a:schemeClr val="dk1"/>
                </a:solidFill>
                <a:latin typeface="Times New Roman"/>
                <a:ea typeface="Times New Roman"/>
                <a:cs typeface="Times New Roman"/>
                <a:sym typeface="Times New Roman"/>
              </a:rPr>
              <a:t> Use penalized regression techniques adapted for nonlinear or generalized frameworks (such as Ridge or LASSO) to shrink coefficients and stabilize variance.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210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