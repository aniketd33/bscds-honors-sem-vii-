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31AA02-684E-4BD6-8366-59B88660C896}">
  <a:tblStyle styleId="{4E31AA02-684E-4BD6-8366-59B88660C89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6FBA481-5394-4BA9-8518-3244690B300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5e590079c4525c2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5e590079c4525c2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h173f05b1af9f155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h173f05b1af9f155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173f05b1af9f155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h173f05b1af9f155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173f05b1af9f155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h173f05b1af9f155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73f05b1af9f155b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173f05b1af9f155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h173f05b1af9f155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h173f05b1af9f155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173f05b1af9f155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173f05b1af9f155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h173f05b1af9f155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h173f05b1af9f155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173f05b1af9f155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173f05b1af9f155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73f05b1af9f155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173f05b1af9f155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173f05b1af9f155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173f05b1af9f15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h173f05b1af9f155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h173f05b1af9f155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3c0d1d64144a4db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3c0d1d64144a4db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c0d1d64144a4db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c0d1d64144a4db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h3c0d1d64144a4db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h3c0d1d64144a4db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3c0d1d64144a4db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3c0d1d64144a4db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3c0d1d64144a4db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3c0d1d64144a4db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h3c0d1d64144a4db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h3c0d1d64144a4db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3c0d1d64144a4db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3c0d1d64144a4db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h173f05b1af9f155b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h173f05b1af9f155b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h3c0d1d64144a4db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h3c0d1d64144a4db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3c0d1d64144a4db0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3c0d1d64144a4db0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3c0d1d64144a4db0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h3c0d1d64144a4db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h3c0d1d64144a4db0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h3c0d1d64144a4db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h5c74b44ba4ea80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h5c74b44ba4ea80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173f05b1af9f155b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173f05b1af9f155b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173f05b1af9f155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h173f05b1af9f155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h1311dbe0845610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h1311dbe0845610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h1311dbe084561065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h1311dbe08456106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2753b1d0d19da17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h2753b1d0d19da1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2753b1d0d19da17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h2753b1d0d19da17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h2753b1d0d19da17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h2753b1d0d19da17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7951704e8f3ff53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h7951704e8f3ff53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2753b1d0d19da17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h2753b1d0d19da17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7951704e8f3ff5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7951704e8f3ff5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7951704e8f3ff53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h7951704e8f3ff53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2753b1d0d19da17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h2753b1d0d19da17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h7951704e8f3ff53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h7951704e8f3ff53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h7951704e8f3ff53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h7951704e8f3ff53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h7951704e8f3ff53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h7951704e8f3ff53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951704e8f3ff53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7951704e8f3ff53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7951704e8f3ff53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h7951704e8f3ff53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bf763c2d838632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hbf763c2d838632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bf763c2d838632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hbf763c2d838632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bf763c2d838632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hbf763c2d838632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bf763c2d8386327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hbf763c2d838632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hbf763c2d838632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hbf763c2d838632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hbf763c2d838632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hbf763c2d838632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bf763c2d8386327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hbf763c2d838632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bf763c2d838632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hbf763c2d838632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bf763c2d838632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hbf763c2d838632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7.png"/><Relationship Id="rId5"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88425" y="73700"/>
            <a:ext cx="8960700" cy="467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Times New Roman"/>
                <a:ea typeface="Times New Roman"/>
                <a:cs typeface="Times New Roman"/>
                <a:sym typeface="Times New Roman"/>
              </a:rPr>
              <a:t>UNIT-III</a:t>
            </a:r>
            <a:endParaRPr b="1"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2400">
                <a:solidFill>
                  <a:schemeClr val="dk1"/>
                </a:solidFill>
                <a:latin typeface="Times New Roman"/>
                <a:ea typeface="Times New Roman"/>
                <a:cs typeface="Times New Roman"/>
                <a:sym typeface="Times New Roman"/>
              </a:rPr>
              <a:t>Dummy modelling and Panel Data Model Dummy modeling  9 Hrs</a:t>
            </a:r>
            <a:endParaRPr b="1"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 Dummy independent, modelling-linear probability Model-Logit model-Probit model Mental and neurological disorders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2400">
                <a:solidFill>
                  <a:schemeClr val="dk1"/>
                </a:solidFill>
                <a:latin typeface="Times New Roman"/>
                <a:ea typeface="Times New Roman"/>
                <a:cs typeface="Times New Roman"/>
                <a:sym typeface="Times New Roman"/>
              </a:rPr>
              <a:t>• Panel Data Model: Concept - Panel Data Models - Fixed Effects Model - Random Effects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rPr lang="en" sz="2400">
                <a:solidFill>
                  <a:schemeClr val="dk1"/>
                </a:solidFill>
                <a:latin typeface="Times New Roman"/>
                <a:ea typeface="Times New Roman"/>
                <a:cs typeface="Times New Roman"/>
                <a:sym typeface="Times New Roman"/>
              </a:rPr>
              <a:t>Model - Forms of Panel Data Models - Applications to use Panel Data Models.</a:t>
            </a: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168425" y="181375"/>
            <a:ext cx="8975700" cy="49623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chemeClr val="dk1"/>
                </a:solidFill>
                <a:latin typeface="Times New Roman"/>
                <a:ea typeface="Times New Roman"/>
                <a:cs typeface="Times New Roman"/>
                <a:sym typeface="Times New Roman"/>
              </a:rPr>
              <a:t>Econometric Modeling for Binary Outcomes</a:t>
            </a:r>
            <a:endParaRPr b="1"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        When your dependent variable Y is binary (e.g., 1 = Has a neurological disorder, 0 = Does not have a neurological disorder), standard linear regression has limitations. Economists and data scientists use specific models to handle this. </a:t>
            </a: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b="1" lang="en" sz="2400">
                <a:solidFill>
                  <a:schemeClr val="dk1"/>
                </a:solidFill>
                <a:latin typeface="Times New Roman"/>
                <a:ea typeface="Times New Roman"/>
                <a:cs typeface="Times New Roman"/>
                <a:sym typeface="Times New Roman"/>
              </a:rPr>
              <a:t>Dummy Independent Variable:</a:t>
            </a:r>
            <a:endParaRPr b="1"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Dummy Variables is a categorical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variable converted into a numerical form, usually 0 and 1, so that it can be included in a regression model. It represents the presence or absence of a characteristic. </a:t>
            </a:r>
            <a:endParaRPr sz="2400">
              <a:solidFill>
                <a:schemeClr val="dk1"/>
              </a:solidFill>
              <a:latin typeface="Times New Roman"/>
              <a:ea typeface="Times New Roman"/>
              <a:cs typeface="Times New Roman"/>
              <a:sym typeface="Times New Roman"/>
            </a:endParaRPr>
          </a:p>
        </p:txBody>
      </p:sp>
      <p:graphicFrame>
        <p:nvGraphicFramePr>
          <p:cNvPr id="60" name="Google Shape;60;p14"/>
          <p:cNvGraphicFramePr/>
          <p:nvPr/>
        </p:nvGraphicFramePr>
        <p:xfrm>
          <a:off x="5882775" y="2379175"/>
          <a:ext cx="3000000" cy="3000000"/>
        </p:xfrm>
        <a:graphic>
          <a:graphicData uri="http://schemas.openxmlformats.org/drawingml/2006/table">
            <a:tbl>
              <a:tblPr>
                <a:noFill/>
                <a:tableStyleId>{4E31AA02-684E-4BD6-8366-59B88660C896}</a:tableStyleId>
              </a:tblPr>
              <a:tblGrid>
                <a:gridCol w="1210075"/>
                <a:gridCol w="1829475"/>
              </a:tblGrid>
              <a:tr h="314150">
                <a:tc>
                  <a:txBody>
                    <a:bodyPr/>
                    <a:lstStyle/>
                    <a:p>
                      <a:pPr indent="0" lvl="0" marL="0" rtl="0" algn="l">
                        <a:spcBef>
                          <a:spcPts val="0"/>
                        </a:spcBef>
                        <a:spcAft>
                          <a:spcPts val="0"/>
                        </a:spcAft>
                        <a:buNone/>
                      </a:pPr>
                      <a:r>
                        <a:rPr lang="en"/>
                        <a:t>Category</a:t>
                      </a:r>
                      <a:endParaRPr/>
                    </a:p>
                  </a:txBody>
                  <a:tcPr marT="91425" marB="91425" marR="91425" marL="91425"/>
                </a:tc>
                <a:tc>
                  <a:txBody>
                    <a:bodyPr/>
                    <a:lstStyle/>
                    <a:p>
                      <a:pPr indent="0" lvl="0" marL="0" rtl="0" algn="l">
                        <a:spcBef>
                          <a:spcPts val="0"/>
                        </a:spcBef>
                        <a:spcAft>
                          <a:spcPts val="0"/>
                        </a:spcAft>
                        <a:buNone/>
                      </a:pPr>
                      <a:r>
                        <a:rPr lang="en"/>
                        <a:t> Dummy Values</a:t>
                      </a:r>
                      <a:endParaRPr/>
                    </a:p>
                  </a:txBody>
                  <a:tcPr marT="91425" marB="91425" marR="91425" marL="91425"/>
                </a:tc>
              </a:tr>
              <a:tr h="314150">
                <a:tc>
                  <a:txBody>
                    <a:bodyPr/>
                    <a:lstStyle/>
                    <a:p>
                      <a:pPr indent="0" lvl="0" marL="0" rtl="0" algn="l">
                        <a:spcBef>
                          <a:spcPts val="0"/>
                        </a:spcBef>
                        <a:spcAft>
                          <a:spcPts val="0"/>
                        </a:spcAft>
                        <a:buNone/>
                      </a:pPr>
                      <a:r>
                        <a:rPr lang="en"/>
                        <a:t>Yes</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14150">
                <a:tc>
                  <a:txBody>
                    <a:bodyPr/>
                    <a:lstStyle/>
                    <a:p>
                      <a:pPr indent="0" lvl="0" marL="0" rtl="0" algn="l">
                        <a:spcBef>
                          <a:spcPts val="0"/>
                        </a:spcBef>
                        <a:spcAft>
                          <a:spcPts val="0"/>
                        </a:spcAft>
                        <a:buNone/>
                      </a:pPr>
                      <a:r>
                        <a:rPr lang="en"/>
                        <a:t>No</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nvSpPr>
        <p:spPr>
          <a:xfrm>
            <a:off x="342300" y="472500"/>
            <a:ext cx="8459400" cy="449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2400">
                <a:solidFill>
                  <a:schemeClr val="dk1"/>
                </a:solidFill>
                <a:latin typeface="Times New Roman"/>
                <a:ea typeface="Times New Roman"/>
                <a:cs typeface="Times New Roman"/>
                <a:sym typeface="Times New Roman"/>
              </a:rPr>
              <a:t>These are the </a:t>
            </a:r>
            <a:r>
              <a:rPr b="1" lang="en" sz="2400">
                <a:solidFill>
                  <a:schemeClr val="dk1"/>
                </a:solidFill>
                <a:latin typeface="Times New Roman"/>
                <a:ea typeface="Times New Roman"/>
                <a:cs typeface="Times New Roman"/>
                <a:sym typeface="Times New Roman"/>
              </a:rPr>
              <a:t>q</a:t>
            </a:r>
            <a:r>
              <a:rPr b="1" lang="en" sz="2400">
                <a:solidFill>
                  <a:schemeClr val="dk1"/>
                </a:solidFill>
                <a:latin typeface="Times New Roman"/>
                <a:ea typeface="Times New Roman"/>
                <a:cs typeface="Times New Roman"/>
                <a:sym typeface="Times New Roman"/>
              </a:rPr>
              <a:t>ualitative variables</a:t>
            </a:r>
            <a:r>
              <a:rPr lang="en" sz="2400">
                <a:solidFill>
                  <a:schemeClr val="dk1"/>
                </a:solidFill>
                <a:latin typeface="Times New Roman"/>
                <a:ea typeface="Times New Roman"/>
                <a:cs typeface="Times New Roman"/>
                <a:sym typeface="Times New Roman"/>
              </a:rPr>
              <a:t> turned into numerical proxies 0 or 1 to capture categories (e.g., Gender: Female = 1, Male = 0; Location: Urban = 1, Rural = 0).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lang="en" sz="2400">
                <a:solidFill>
                  <a:schemeClr val="dk1"/>
                </a:solidFill>
                <a:latin typeface="Times New Roman"/>
                <a:ea typeface="Times New Roman"/>
                <a:cs typeface="Times New Roman"/>
                <a:sym typeface="Times New Roman"/>
              </a:rPr>
              <a:t>They shift the intercept of your regression line up or down based on the group, allowing you to control for categorical risk factors.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lang="en" sz="2400">
                <a:solidFill>
                  <a:schemeClr val="dk1"/>
                </a:solidFill>
                <a:latin typeface="Times New Roman"/>
                <a:ea typeface="Times New Roman"/>
                <a:cs typeface="Times New Roman"/>
                <a:sym typeface="Times New Roman"/>
              </a:rPr>
              <a:t>Example:1 = Attended coaching, 0 = Did not attend coaching. A regression model cannot directly calculate something like: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400"/>
              </a:spcAft>
              <a:buNone/>
            </a:pPr>
            <a:r>
              <a:rPr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Y = β</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D + ϵ </a:t>
            </a:r>
            <a:r>
              <a:rPr lang="en" sz="2400">
                <a:solidFill>
                  <a:schemeClr val="dk1"/>
                </a:solidFill>
                <a:latin typeface="Times New Roman"/>
                <a:ea typeface="Times New Roman"/>
                <a:cs typeface="Times New Roman"/>
                <a:sym typeface="Times New Roman"/>
              </a:rPr>
              <a:t>,  because “Yes” and “No” are not numerical values.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1" type="body"/>
          </p:nvPr>
        </p:nvSpPr>
        <p:spPr>
          <a:xfrm>
            <a:off x="233200" y="155475"/>
            <a:ext cx="8808600" cy="2889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2400">
                <a:solidFill>
                  <a:schemeClr val="dk1"/>
                </a:solidFill>
                <a:latin typeface="Times New Roman"/>
                <a:ea typeface="Times New Roman"/>
                <a:cs typeface="Times New Roman"/>
                <a:sym typeface="Times New Roman"/>
              </a:rPr>
              <a:t>Because </a:t>
            </a:r>
            <a:r>
              <a:rPr b="1" lang="en" sz="2400">
                <a:solidFill>
                  <a:schemeClr val="dk1"/>
                </a:solidFill>
                <a:latin typeface="Times New Roman"/>
                <a:ea typeface="Times New Roman"/>
                <a:cs typeface="Times New Roman"/>
                <a:sym typeface="Times New Roman"/>
              </a:rPr>
              <a:t>regression equations require numerical inputs</a:t>
            </a:r>
            <a:r>
              <a:rPr lang="en" sz="2400">
                <a:solidFill>
                  <a:schemeClr val="dk1"/>
                </a:solidFill>
                <a:latin typeface="Times New Roman"/>
                <a:ea typeface="Times New Roman"/>
                <a:cs typeface="Times New Roman"/>
                <a:sym typeface="Times New Roman"/>
              </a:rPr>
              <a:t>, but categorical information is often expressed as words or categories.</a:t>
            </a:r>
            <a:endParaRPr sz="2400">
              <a:solidFill>
                <a:schemeClr val="dk1"/>
              </a:solidFill>
              <a:latin typeface="Times New Roman"/>
              <a:ea typeface="Times New Roman"/>
              <a:cs typeface="Times New Roman"/>
              <a:sym typeface="Times New Roman"/>
            </a:endParaRPr>
          </a:p>
          <a:p>
            <a:pPr indent="0" lvl="0" marL="0" rtl="0" algn="l">
              <a:spcBef>
                <a:spcPts val="1400"/>
              </a:spcBef>
              <a:spcAft>
                <a:spcPts val="400"/>
              </a:spcAft>
              <a:buClr>
                <a:schemeClr val="dk1"/>
              </a:buClr>
              <a:buSzPts val="1100"/>
              <a:buFont typeface="Arial"/>
              <a:buNone/>
            </a:pPr>
            <a:r>
              <a:rPr b="1" lang="en" sz="2400">
                <a:solidFill>
                  <a:schemeClr val="dk1"/>
                </a:solidFill>
                <a:latin typeface="Times New Roman"/>
                <a:ea typeface="Times New Roman"/>
                <a:cs typeface="Times New Roman"/>
                <a:sym typeface="Times New Roman"/>
              </a:rPr>
              <a:t>Example: </a:t>
            </a:r>
            <a:r>
              <a:rPr lang="en" sz="2400">
                <a:solidFill>
                  <a:schemeClr val="dk1"/>
                </a:solidFill>
                <a:latin typeface="Times New Roman"/>
                <a:ea typeface="Times New Roman"/>
                <a:cs typeface="Times New Roman"/>
                <a:sym typeface="Times New Roman"/>
              </a:rPr>
              <a:t>Suppose we want to predict </a:t>
            </a:r>
            <a:r>
              <a:rPr b="1" lang="en" sz="2400">
                <a:solidFill>
                  <a:schemeClr val="dk1"/>
                </a:solidFill>
                <a:latin typeface="Times New Roman"/>
                <a:ea typeface="Times New Roman"/>
                <a:cs typeface="Times New Roman"/>
                <a:sym typeface="Times New Roman"/>
              </a:rPr>
              <a:t>student marks</a:t>
            </a:r>
            <a:r>
              <a:rPr lang="en" sz="2400">
                <a:solidFill>
                  <a:schemeClr val="dk1"/>
                </a:solidFill>
                <a:latin typeface="Times New Roman"/>
                <a:ea typeface="Times New Roman"/>
                <a:cs typeface="Times New Roman"/>
                <a:sym typeface="Times New Roman"/>
              </a:rPr>
              <a:t> based on whether a student attended a special coaching program. We cannot directly put </a:t>
            </a:r>
            <a:r>
              <a:rPr lang="en" sz="2400">
                <a:solidFill>
                  <a:srgbClr val="188038"/>
                </a:solidFill>
                <a:latin typeface="Times New Roman"/>
                <a:ea typeface="Times New Roman"/>
                <a:cs typeface="Times New Roman"/>
                <a:sym typeface="Times New Roman"/>
              </a:rPr>
              <a:t>"Yes"</a:t>
            </a:r>
            <a:r>
              <a:rPr lang="en" sz="2400">
                <a:solidFill>
                  <a:schemeClr val="dk1"/>
                </a:solidFill>
                <a:latin typeface="Times New Roman"/>
                <a:ea typeface="Times New Roman"/>
                <a:cs typeface="Times New Roman"/>
                <a:sym typeface="Times New Roman"/>
              </a:rPr>
              <a:t> and </a:t>
            </a:r>
            <a:r>
              <a:rPr lang="en" sz="2400">
                <a:solidFill>
                  <a:srgbClr val="188038"/>
                </a:solidFill>
                <a:latin typeface="Times New Roman"/>
                <a:ea typeface="Times New Roman"/>
                <a:cs typeface="Times New Roman"/>
                <a:sym typeface="Times New Roman"/>
              </a:rPr>
              <a:t>"No"</a:t>
            </a:r>
            <a:r>
              <a:rPr lang="en" sz="2400">
                <a:solidFill>
                  <a:schemeClr val="dk1"/>
                </a:solidFill>
                <a:latin typeface="Times New Roman"/>
                <a:ea typeface="Times New Roman"/>
                <a:cs typeface="Times New Roman"/>
                <a:sym typeface="Times New Roman"/>
              </a:rPr>
              <a:t> into a regression equation, so we represent them as </a:t>
            </a:r>
            <a:r>
              <a:rPr b="1" lang="en" sz="2400">
                <a:solidFill>
                  <a:schemeClr val="dk1"/>
                </a:solidFill>
                <a:latin typeface="Times New Roman"/>
                <a:ea typeface="Times New Roman"/>
                <a:cs typeface="Times New Roman"/>
                <a:sym typeface="Times New Roman"/>
              </a:rPr>
              <a:t>1 and 0</a:t>
            </a:r>
            <a:r>
              <a:rPr lang="e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graphicFrame>
        <p:nvGraphicFramePr>
          <p:cNvPr id="71" name="Google Shape;71;p16"/>
          <p:cNvGraphicFramePr/>
          <p:nvPr/>
        </p:nvGraphicFramePr>
        <p:xfrm>
          <a:off x="5509875" y="2571750"/>
          <a:ext cx="3000000" cy="3000000"/>
        </p:xfrm>
        <a:graphic>
          <a:graphicData uri="http://schemas.openxmlformats.org/drawingml/2006/table">
            <a:tbl>
              <a:tblPr>
                <a:noFill/>
                <a:tableStyleId>{4E31AA02-684E-4BD6-8366-59B88660C896}</a:tableStyleId>
              </a:tblPr>
              <a:tblGrid>
                <a:gridCol w="1087600"/>
                <a:gridCol w="1113425"/>
                <a:gridCol w="1330825"/>
              </a:tblGrid>
              <a:tr h="405050">
                <a:tc>
                  <a:txBody>
                    <a:bodyPr/>
                    <a:lstStyle/>
                    <a:p>
                      <a:pPr indent="0" lvl="0" marL="0" rtl="0" algn="l">
                        <a:spcBef>
                          <a:spcPts val="0"/>
                        </a:spcBef>
                        <a:spcAft>
                          <a:spcPts val="0"/>
                        </a:spcAft>
                        <a:buNone/>
                      </a:pPr>
                      <a:r>
                        <a:rPr lang="en"/>
                        <a:t>Student</a:t>
                      </a:r>
                      <a:endParaRPr/>
                    </a:p>
                  </a:txBody>
                  <a:tcPr marT="91425" marB="91425" marR="91425" marL="91425"/>
                </a:tc>
                <a:tc>
                  <a:txBody>
                    <a:bodyPr/>
                    <a:lstStyle/>
                    <a:p>
                      <a:pPr indent="0" lvl="0" marL="0" rtl="0" algn="l">
                        <a:spcBef>
                          <a:spcPts val="0"/>
                        </a:spcBef>
                        <a:spcAft>
                          <a:spcPts val="0"/>
                        </a:spcAft>
                        <a:buNone/>
                      </a:pPr>
                      <a:r>
                        <a:rPr lang="en"/>
                        <a:t> Coaching ?</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Dummy Values</a:t>
                      </a:r>
                      <a:endParaRPr/>
                    </a:p>
                  </a:txBody>
                  <a:tcPr marT="91425" marB="91425" marR="91425" marL="91425"/>
                </a:tc>
              </a:tr>
              <a:tr h="332250">
                <a:tc>
                  <a:txBody>
                    <a:bodyPr/>
                    <a:lstStyle/>
                    <a:p>
                      <a:pPr indent="0" lvl="0" marL="0" rtl="0" algn="l">
                        <a:spcBef>
                          <a:spcPts val="0"/>
                        </a:spcBef>
                        <a:spcAft>
                          <a:spcPts val="0"/>
                        </a:spcAft>
                        <a:buNone/>
                      </a:pPr>
                      <a:r>
                        <a:rPr lang="en"/>
                        <a:t>A</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tcPr>
                </a:tc>
              </a:tr>
              <a:tr h="332250">
                <a:tc>
                  <a:txBody>
                    <a:bodyPr/>
                    <a:lstStyle/>
                    <a:p>
                      <a:pPr indent="0" lvl="0" marL="0" rtl="0" algn="l">
                        <a:spcBef>
                          <a:spcPts val="0"/>
                        </a:spcBef>
                        <a:spcAft>
                          <a:spcPts val="0"/>
                        </a:spcAft>
                        <a:buNone/>
                      </a:pPr>
                      <a:r>
                        <a:rPr lang="en"/>
                        <a:t>B</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tcPr>
                </a:tc>
              </a:tr>
              <a:tr h="332250">
                <a:tc>
                  <a:txBody>
                    <a:bodyPr/>
                    <a:lstStyle/>
                    <a:p>
                      <a:pPr indent="0" lvl="0" marL="0" rtl="0" algn="l">
                        <a:spcBef>
                          <a:spcPts val="0"/>
                        </a:spcBef>
                        <a:spcAft>
                          <a:spcPts val="0"/>
                        </a:spcAft>
                        <a:buNone/>
                      </a:pPr>
                      <a:r>
                        <a:rPr lang="en"/>
                        <a:t>C</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Yes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tcPr>
                </a:tc>
              </a:tr>
              <a:tr h="332250">
                <a:tc>
                  <a:txBody>
                    <a:bodyPr/>
                    <a:lstStyle/>
                    <a:p>
                      <a:pPr indent="0" lvl="0" marL="0" rtl="0" algn="l">
                        <a:spcBef>
                          <a:spcPts val="0"/>
                        </a:spcBef>
                        <a:spcAft>
                          <a:spcPts val="0"/>
                        </a:spcAft>
                        <a:buNone/>
                      </a:pPr>
                      <a:r>
                        <a:rPr lang="en"/>
                        <a:t>D</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a:t>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0</a:t>
                      </a:r>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72" name="Google Shape;72;p16"/>
          <p:cNvSpPr txBox="1"/>
          <p:nvPr/>
        </p:nvSpPr>
        <p:spPr>
          <a:xfrm>
            <a:off x="233200" y="2953950"/>
            <a:ext cx="5104800" cy="22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400">
                <a:solidFill>
                  <a:schemeClr val="dk1"/>
                </a:solidFill>
                <a:latin typeface="Times New Roman"/>
                <a:ea typeface="Times New Roman"/>
                <a:cs typeface="Times New Roman"/>
                <a:sym typeface="Times New Roman"/>
              </a:rPr>
              <a:t>Dummy variables convert qualitative / categorical information into numerical information so that regression can estimate its effect on the dependent variable. </a:t>
            </a: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164325" y="238750"/>
            <a:ext cx="8678400" cy="4904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chemeClr val="dk1"/>
                </a:solidFill>
                <a:latin typeface="Times New Roman"/>
                <a:ea typeface="Times New Roman"/>
                <a:cs typeface="Times New Roman"/>
                <a:sym typeface="Times New Roman"/>
              </a:rPr>
              <a:t>How is it used in regression?</a:t>
            </a:r>
            <a:endParaRPr b="1"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Suppose the estimated regression equation is:</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Marks=60+8D             Here, D is the coaching dummy variable.</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D = 0,   No coaching,     </a:t>
            </a:r>
            <a:r>
              <a:rPr lang="en" sz="2400">
                <a:solidFill>
                  <a:schemeClr val="dk1"/>
                </a:solidFill>
                <a:latin typeface="Times New Roman"/>
                <a:ea typeface="Times New Roman"/>
                <a:cs typeface="Times New Roman"/>
                <a:sym typeface="Times New Roman"/>
              </a:rPr>
              <a:t>M</a:t>
            </a:r>
            <a:r>
              <a:rPr lang="en" sz="2400">
                <a:solidFill>
                  <a:schemeClr val="dk1"/>
                </a:solidFill>
                <a:latin typeface="Times New Roman"/>
                <a:ea typeface="Times New Roman"/>
                <a:cs typeface="Times New Roman"/>
                <a:sym typeface="Times New Roman"/>
              </a:rPr>
              <a:t>arks=60+8(0)=60</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D = 1,   Coaching attended,      Marks=60+8(1)=68.</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Interpretation: The estimated marks are 8 points higher for students who attended coaching than for those who did not.</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This is an association in the model; it does not, by itself, prove that coaching caused the improvement.</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sz="2400">
              <a:latin typeface="Times New Roman"/>
              <a:ea typeface="Times New Roman"/>
              <a:cs typeface="Times New Roman"/>
              <a:sym typeface="Times New Roman"/>
            </a:endParaRPr>
          </a:p>
          <a:p>
            <a:pPr indent="0" lvl="0" marL="0" rtl="0" algn="l">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idx="1" type="body"/>
          </p:nvPr>
        </p:nvSpPr>
        <p:spPr>
          <a:xfrm>
            <a:off x="238000" y="327150"/>
            <a:ext cx="8520600" cy="35637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2400">
                <a:solidFill>
                  <a:schemeClr val="dk1"/>
                </a:solidFill>
                <a:latin typeface="Times New Roman"/>
                <a:ea typeface="Times New Roman"/>
                <a:cs typeface="Times New Roman"/>
                <a:sym typeface="Times New Roman"/>
              </a:rPr>
              <a:t>For the model:   </a:t>
            </a:r>
            <a:r>
              <a:rPr lang="en" sz="2400">
                <a:solidFill>
                  <a:schemeClr val="dk1"/>
                </a:solidFill>
                <a:latin typeface="Times New Roman"/>
                <a:ea typeface="Times New Roman"/>
                <a:cs typeface="Times New Roman"/>
                <a:sym typeface="Times New Roman"/>
              </a:rPr>
              <a:t>Y = β0+β1 D + ϵ</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β0</a:t>
            </a:r>
            <a:r>
              <a:rPr lang="en" sz="2400">
                <a:solidFill>
                  <a:schemeClr val="dk1"/>
                </a:solidFill>
                <a:latin typeface="Times New Roman"/>
                <a:ea typeface="Times New Roman"/>
                <a:cs typeface="Times New Roman"/>
                <a:sym typeface="Times New Roman"/>
              </a:rPr>
              <a:t>: expected value of Y for the reference group D=0.</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β1</a:t>
            </a:r>
            <a:r>
              <a:rPr lang="en" sz="2400">
                <a:solidFill>
                  <a:schemeClr val="dk1"/>
                </a:solidFill>
                <a:latin typeface="Times New Roman"/>
                <a:ea typeface="Times New Roman"/>
                <a:cs typeface="Times New Roman"/>
                <a:sym typeface="Times New Roman"/>
              </a:rPr>
              <a:t>: difference in expected Y between the group coded 1 and the reference group.</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This interpretation assumes there are no additional predictors in the model. With other predictors included, the difference is interpreted while holding them constant.</a:t>
            </a:r>
            <a:endParaRPr sz="240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idx="1" type="body"/>
          </p:nvPr>
        </p:nvSpPr>
        <p:spPr>
          <a:xfrm>
            <a:off x="383175" y="427400"/>
            <a:ext cx="8449200" cy="41415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chemeClr val="dk1"/>
                </a:solidFill>
                <a:latin typeface="Times New Roman"/>
                <a:ea typeface="Times New Roman"/>
                <a:cs typeface="Times New Roman"/>
                <a:sym typeface="Times New Roman"/>
              </a:rPr>
              <a:t>Multiple Categories (Multiple Independence):</a:t>
            </a:r>
            <a:endParaRPr b="1"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1200"/>
              </a:spcBef>
              <a:spcAft>
                <a:spcPts val="0"/>
              </a:spcAft>
              <a:buSzPts val="2400"/>
              <a:buFont typeface="Times New Roman"/>
              <a:buAutoNum type="arabicPeriod"/>
            </a:pPr>
            <a:r>
              <a:rPr lang="en" sz="2400">
                <a:solidFill>
                  <a:schemeClr val="dk1"/>
                </a:solidFill>
                <a:latin typeface="Times New Roman"/>
                <a:ea typeface="Times New Roman"/>
                <a:cs typeface="Times New Roman"/>
                <a:sym typeface="Times New Roman"/>
              </a:rPr>
              <a:t>For k categories, generally use k-1 dummy variables when including an intercept.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SzPts val="2400"/>
              <a:buFont typeface="Times New Roman"/>
              <a:buAutoNum type="arabicPeriod"/>
            </a:pPr>
            <a:r>
              <a:rPr lang="en" sz="2400">
                <a:solidFill>
                  <a:schemeClr val="dk1"/>
                </a:solidFill>
                <a:latin typeface="Times New Roman"/>
                <a:ea typeface="Times New Roman"/>
                <a:cs typeface="Times New Roman"/>
                <a:sym typeface="Times New Roman"/>
              </a:rPr>
              <a:t>Select one category as the reference group.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SzPts val="2400"/>
              <a:buFont typeface="Times New Roman"/>
              <a:buAutoNum type="arabicPeriod"/>
            </a:pPr>
            <a:r>
              <a:rPr lang="en" sz="2400">
                <a:solidFill>
                  <a:schemeClr val="dk1"/>
                </a:solidFill>
                <a:latin typeface="Times New Roman"/>
                <a:ea typeface="Times New Roman"/>
                <a:cs typeface="Times New Roman"/>
                <a:sym typeface="Times New Roman"/>
              </a:rPr>
              <a:t>Coefficients compare each represented category with the reference group.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SzPts val="2400"/>
              <a:buFont typeface="Times New Roman"/>
              <a:buAutoNum type="arabicPeriod"/>
            </a:pPr>
            <a:r>
              <a:rPr lang="en" sz="2400">
                <a:solidFill>
                  <a:schemeClr val="dk1"/>
                </a:solidFill>
                <a:latin typeface="Times New Roman"/>
                <a:ea typeface="Times New Roman"/>
                <a:cs typeface="Times New Roman"/>
                <a:sym typeface="Times New Roman"/>
              </a:rPr>
              <a:t>Using all k dummy variables along with an intercept creates the dummy variable trap.</a:t>
            </a:r>
            <a:endParaRPr sz="24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0"/>
          <p:cNvSpPr txBox="1"/>
          <p:nvPr>
            <p:ph idx="1" type="body"/>
          </p:nvPr>
        </p:nvSpPr>
        <p:spPr>
          <a:xfrm>
            <a:off x="235800" y="50"/>
            <a:ext cx="8596500" cy="51435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300">
                <a:solidFill>
                  <a:schemeClr val="dk1"/>
                </a:solidFill>
                <a:latin typeface="Times New Roman"/>
                <a:ea typeface="Times New Roman"/>
                <a:cs typeface="Times New Roman"/>
                <a:sym typeface="Times New Roman"/>
              </a:rPr>
              <a:t>Modelling Nonlinear Probability Model:</a:t>
            </a:r>
            <a:endParaRPr b="1" sz="23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300">
                <a:solidFill>
                  <a:schemeClr val="dk1"/>
                </a:solidFill>
                <a:latin typeface="Times New Roman"/>
                <a:ea typeface="Times New Roman"/>
                <a:cs typeface="Times New Roman"/>
                <a:sym typeface="Times New Roman"/>
              </a:rPr>
              <a:t>        A nonlinear probability model is used when the dependent variable represents a binary outcome, such as Yes/No, Pass/Fail or Disease/No Disease and we want to estimate the probability of an event occurring. Nonlinear probability models estimate the probability of a categorical outcome rather than predicting a continuous numerical value. For example, we want to predict whether a student will pass an examination based on study hours.     Pass = 1,  Fail = 0.</a:t>
            </a:r>
            <a:endParaRPr sz="23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0"/>
              </a:spcAft>
              <a:buNone/>
            </a:pPr>
            <a:r>
              <a:rPr lang="en" sz="2300">
                <a:solidFill>
                  <a:schemeClr val="dk1"/>
                </a:solidFill>
                <a:latin typeface="Times New Roman"/>
                <a:ea typeface="Times New Roman"/>
                <a:cs typeface="Times New Roman"/>
                <a:sym typeface="Times New Roman"/>
              </a:rPr>
              <a:t>The objective is to estimate:     P(Y=1 |</a:t>
            </a:r>
            <a:r>
              <a:rPr lang="en" sz="2300">
                <a:solidFill>
                  <a:schemeClr val="dk1"/>
                </a:solidFill>
                <a:latin typeface="Times New Roman"/>
                <a:ea typeface="Times New Roman"/>
                <a:cs typeface="Times New Roman"/>
                <a:sym typeface="Times New Roman"/>
              </a:rPr>
              <a:t> X)</a:t>
            </a:r>
            <a:r>
              <a:rPr lang="en" sz="2300">
                <a:solidFill>
                  <a:schemeClr val="dk1"/>
                </a:solidFill>
                <a:latin typeface="Times New Roman"/>
                <a:ea typeface="Times New Roman"/>
                <a:cs typeface="Times New Roman"/>
                <a:sym typeface="Times New Roman"/>
              </a:rPr>
              <a:t>              </a:t>
            </a:r>
            <a:endParaRPr sz="23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None/>
            </a:pPr>
            <a:r>
              <a:rPr lang="en" sz="2300">
                <a:solidFill>
                  <a:schemeClr val="dk1"/>
                </a:solidFill>
                <a:latin typeface="Times New Roman"/>
                <a:ea typeface="Times New Roman"/>
                <a:cs typeface="Times New Roman"/>
                <a:sym typeface="Times New Roman"/>
              </a:rPr>
              <a:t>This means the probability that a student passes, given the number of study hours.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1"/>
          <p:cNvSpPr txBox="1"/>
          <p:nvPr>
            <p:ph idx="1" type="body"/>
          </p:nvPr>
        </p:nvSpPr>
        <p:spPr>
          <a:xfrm>
            <a:off x="0" y="162150"/>
            <a:ext cx="9144000" cy="48192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300">
                <a:solidFill>
                  <a:schemeClr val="dk1"/>
                </a:solidFill>
                <a:latin typeface="Times New Roman"/>
                <a:ea typeface="Times New Roman"/>
                <a:cs typeface="Times New Roman"/>
                <a:sym typeface="Times New Roman"/>
              </a:rPr>
              <a:t>Why do we need it? </a:t>
            </a:r>
            <a:endParaRPr b="1" sz="2300">
              <a:solidFill>
                <a:schemeClr val="dk1"/>
              </a:solidFill>
              <a:latin typeface="Times New Roman"/>
              <a:ea typeface="Times New Roman"/>
              <a:cs typeface="Times New Roman"/>
              <a:sym typeface="Times New Roman"/>
            </a:endParaRPr>
          </a:p>
          <a:p>
            <a:pPr indent="-374650" lvl="0" marL="457200" marR="0" rtl="0" algn="l">
              <a:lnSpc>
                <a:spcPct val="115000"/>
              </a:lnSpc>
              <a:spcBef>
                <a:spcPts val="120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Linear regression can produce predictions below 0 or above 1 when used directly for probabilities.</a:t>
            </a:r>
            <a:endParaRPr sz="2300">
              <a:solidFill>
                <a:schemeClr val="dk1"/>
              </a:solidFill>
              <a:latin typeface="Times New Roman"/>
              <a:ea typeface="Times New Roman"/>
              <a:cs typeface="Times New Roman"/>
              <a:sym typeface="Times New Roman"/>
            </a:endParaRPr>
          </a:p>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Probability models constrain estimated probabilities to the interval [0,1].</a:t>
            </a:r>
            <a:endParaRPr sz="2300">
              <a:solidFill>
                <a:schemeClr val="dk1"/>
              </a:solidFill>
              <a:latin typeface="Times New Roman"/>
              <a:ea typeface="Times New Roman"/>
              <a:cs typeface="Times New Roman"/>
              <a:sym typeface="Times New Roman"/>
            </a:endParaRPr>
          </a:p>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They can represent nonlinear relationships between predictors and probability. </a:t>
            </a:r>
            <a:endParaRPr sz="2300">
              <a:solidFill>
                <a:schemeClr val="dk1"/>
              </a:solidFill>
              <a:latin typeface="Times New Roman"/>
              <a:ea typeface="Times New Roman"/>
              <a:cs typeface="Times New Roman"/>
              <a:sym typeface="Times New Roman"/>
            </a:endParaRPr>
          </a:p>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Common models: Logit and Probit. </a:t>
            </a:r>
            <a:endParaRPr sz="2300">
              <a:solidFill>
                <a:schemeClr val="dk1"/>
              </a:solidFill>
              <a:latin typeface="Times New Roman"/>
              <a:ea typeface="Times New Roman"/>
              <a:cs typeface="Times New Roman"/>
              <a:sym typeface="Times New Roman"/>
            </a:endParaRPr>
          </a:p>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Suppose we use an ordinary linear regression model to predict the probability of passing:                               P(</a:t>
            </a:r>
            <a:r>
              <a:rPr lang="en" sz="2300">
                <a:solidFill>
                  <a:schemeClr val="dk1"/>
                </a:solidFill>
                <a:latin typeface="Times New Roman"/>
                <a:ea typeface="Times New Roman"/>
                <a:cs typeface="Times New Roman"/>
                <a:sym typeface="Times New Roman"/>
              </a:rPr>
              <a:t>Y=1) = β0+ β1 X</a:t>
            </a:r>
            <a:endParaRPr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idx="1" type="body"/>
          </p:nvPr>
        </p:nvSpPr>
        <p:spPr>
          <a:xfrm>
            <a:off x="349800" y="129550"/>
            <a:ext cx="8482500" cy="4439400"/>
          </a:xfrm>
          <a:prstGeom prst="rect">
            <a:avLst/>
          </a:prstGeom>
        </p:spPr>
        <p:txBody>
          <a:bodyPr anchorCtr="0" anchor="t" bIns="91425" lIns="91425" spcFirstLastPara="1" rIns="91425" wrap="square" tIns="91425">
            <a:normAutofit/>
          </a:bodyPr>
          <a:lstStyle/>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It may predict probabilities such as -0.2 or 1.3. But a probability must always lie between 0 and 1. Therefore, we use models such as Logit and Probit, which transform the model output into a valid probability.</a:t>
            </a:r>
            <a:endParaRPr sz="2300">
              <a:solidFill>
                <a:schemeClr val="dk1"/>
              </a:solidFill>
              <a:latin typeface="Times New Roman"/>
              <a:ea typeface="Times New Roman"/>
              <a:cs typeface="Times New Roman"/>
              <a:sym typeface="Times New Roman"/>
            </a:endParaRPr>
          </a:p>
          <a:p>
            <a:pPr indent="0" lvl="0" marL="0" marR="0" rtl="0" algn="l">
              <a:lnSpc>
                <a:spcPct val="115000"/>
              </a:lnSpc>
              <a:spcBef>
                <a:spcPts val="1200"/>
              </a:spcBef>
              <a:spcAft>
                <a:spcPts val="1200"/>
              </a:spcAft>
              <a:buNone/>
            </a:pPr>
            <a:r>
              <a:rPr lang="en" sz="2300">
                <a:solidFill>
                  <a:schemeClr val="dk1"/>
                </a:solidFill>
                <a:latin typeface="Times New Roman"/>
                <a:ea typeface="Times New Roman"/>
                <a:cs typeface="Times New Roman"/>
                <a:sym typeface="Times New Roman"/>
              </a:rPr>
              <a:t>Example: Predicting Student Pass Probability:</a:t>
            </a:r>
            <a:endParaRPr sz="2300">
              <a:solidFill>
                <a:schemeClr val="dk1"/>
              </a:solidFill>
              <a:latin typeface="Times New Roman"/>
              <a:ea typeface="Times New Roman"/>
              <a:cs typeface="Times New Roman"/>
              <a:sym typeface="Times New Roman"/>
            </a:endParaRPr>
          </a:p>
        </p:txBody>
      </p:sp>
      <p:graphicFrame>
        <p:nvGraphicFramePr>
          <p:cNvPr id="103" name="Google Shape;103;p22"/>
          <p:cNvGraphicFramePr/>
          <p:nvPr/>
        </p:nvGraphicFramePr>
        <p:xfrm>
          <a:off x="6403900" y="2342600"/>
          <a:ext cx="3000000" cy="3000000"/>
        </p:xfrm>
        <a:graphic>
          <a:graphicData uri="http://schemas.openxmlformats.org/drawingml/2006/table">
            <a:tbl>
              <a:tblPr>
                <a:noFill/>
                <a:tableStyleId>{4E31AA02-684E-4BD6-8366-59B88660C896}</a:tableStyleId>
              </a:tblPr>
              <a:tblGrid>
                <a:gridCol w="716500"/>
                <a:gridCol w="1945850"/>
              </a:tblGrid>
              <a:tr h="381000">
                <a:tc>
                  <a:txBody>
                    <a:bodyPr/>
                    <a:lstStyle/>
                    <a:p>
                      <a:pPr indent="0" lvl="0" marL="0" rtl="0" algn="l">
                        <a:lnSpc>
                          <a:spcPct val="115000"/>
                        </a:lnSpc>
                        <a:spcBef>
                          <a:spcPts val="1200"/>
                        </a:spcBef>
                        <a:spcAft>
                          <a:spcPts val="1200"/>
                        </a:spcAft>
                        <a:buNone/>
                      </a:pPr>
                      <a:r>
                        <a:rPr lang="en"/>
                        <a:t>Study hours</a:t>
                      </a:r>
                      <a:endParaRPr/>
                    </a:p>
                  </a:txBody>
                  <a:tcPr marT="91425" marB="91425" marR="91425" marL="91425"/>
                </a:tc>
                <a:tc>
                  <a:txBody>
                    <a:bodyPr/>
                    <a:lstStyle/>
                    <a:p>
                      <a:pPr indent="0" lvl="0" marL="0" rtl="0" algn="l">
                        <a:spcBef>
                          <a:spcPts val="0"/>
                        </a:spcBef>
                        <a:spcAft>
                          <a:spcPts val="0"/>
                        </a:spcAft>
                        <a:buNone/>
                      </a:pPr>
                      <a:r>
                        <a:rPr lang="en"/>
                        <a:t>Estimated probability of passing </a:t>
                      </a:r>
                      <a:endParaRPr/>
                    </a:p>
                  </a:txBody>
                  <a:tcPr marT="91425" marB="91425" marR="91425" marL="91425"/>
                </a:tc>
              </a:tr>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lnSpc>
                          <a:spcPct val="115000"/>
                        </a:lnSpc>
                        <a:spcBef>
                          <a:spcPts val="1200"/>
                        </a:spcBef>
                        <a:spcAft>
                          <a:spcPts val="1200"/>
                        </a:spcAft>
                        <a:buNone/>
                      </a:pPr>
                      <a:r>
                        <a:rPr lang="en"/>
                        <a:t>0.15 (15%)</a:t>
                      </a: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1200"/>
                        </a:spcBef>
                        <a:spcAft>
                          <a:spcPts val="1200"/>
                        </a:spcAft>
                        <a:buNone/>
                      </a:pPr>
                      <a:r>
                        <a:rPr lang="en"/>
                        <a:t>0.40 (40%)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1200"/>
                        </a:spcBef>
                        <a:spcAft>
                          <a:spcPts val="1200"/>
                        </a:spcAft>
                        <a:buNone/>
                      </a:pPr>
                      <a:r>
                        <a:rPr lang="en"/>
                        <a:t>0.70 (70%)</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t>8</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1200"/>
                        </a:spcBef>
                        <a:spcAft>
                          <a:spcPts val="1200"/>
                        </a:spcAft>
                        <a:buNone/>
                      </a:pPr>
                      <a:r>
                        <a:rPr lang="en"/>
                        <a:t>0.95 (95%)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04" name="Google Shape;104;p22"/>
          <p:cNvSpPr txBox="1"/>
          <p:nvPr/>
        </p:nvSpPr>
        <p:spPr>
          <a:xfrm>
            <a:off x="431300" y="2435725"/>
            <a:ext cx="5791200" cy="2574300"/>
          </a:xfrm>
          <a:prstGeom prst="rect">
            <a:avLst/>
          </a:prstGeom>
          <a:noFill/>
          <a:ln>
            <a:noFill/>
          </a:ln>
        </p:spPr>
        <p:txBody>
          <a:bodyPr anchorCtr="0" anchor="ctr" bIns="91425" lIns="91425" spcFirstLastPara="1" rIns="91425" wrap="square" tIns="91425">
            <a:spAutoFit/>
          </a:bodyPr>
          <a:lstStyle/>
          <a:p>
            <a:pPr indent="-374650" lvl="0" marL="457200" marR="0" rtl="0" algn="l">
              <a:lnSpc>
                <a:spcPct val="1150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Imagine a model estimates the probability of passing based on study hours. The probability generally increases with study hours in this ex. The model does not simply predict marks; it estimates the likelihood of a binary outcome.</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idx="1" type="body"/>
          </p:nvPr>
        </p:nvSpPr>
        <p:spPr>
          <a:xfrm>
            <a:off x="250550" y="309500"/>
            <a:ext cx="8581800" cy="4259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2400">
                <a:solidFill>
                  <a:schemeClr val="dk1"/>
                </a:solidFill>
                <a:latin typeface="Times New Roman"/>
                <a:ea typeface="Times New Roman"/>
                <a:cs typeface="Times New Roman"/>
                <a:sym typeface="Times New Roman"/>
              </a:rPr>
              <a:t>Applications:</a:t>
            </a:r>
            <a:endParaRPr b="1" sz="2400">
              <a:solidFill>
                <a:schemeClr val="dk1"/>
              </a:solidFill>
              <a:latin typeface="Times New Roman"/>
              <a:ea typeface="Times New Roman"/>
              <a:cs typeface="Times New Roman"/>
              <a:sym typeface="Times New Roman"/>
            </a:endParaRPr>
          </a:p>
          <a:p>
            <a:pPr indent="-381000" lvl="0" marL="457200" rtl="0" algn="l">
              <a:spcBef>
                <a:spcPts val="12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Student pass/fail prediction</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Customer purchase prediction</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Loan default prediction</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Disease occurrence prediction</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Employee attrition prediction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4"/>
          <p:cNvSpPr txBox="1"/>
          <p:nvPr/>
        </p:nvSpPr>
        <p:spPr>
          <a:xfrm>
            <a:off x="294750" y="235800"/>
            <a:ext cx="8518500" cy="491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Linear Probability Model (LPM)</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An Ordinary Least Squares (OLS) regression used where the dependent variable is a dummy 0 or 1.</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Equation:</a:t>
            </a:r>
            <a:r>
              <a:rPr lang="en" sz="2400">
                <a:solidFill>
                  <a:schemeClr val="dk1"/>
                </a:solidFill>
                <a:latin typeface="Times New Roman"/>
                <a:ea typeface="Times New Roman"/>
                <a:cs typeface="Times New Roman"/>
                <a:sym typeface="Times New Roman"/>
              </a:rPr>
              <a:t> </a:t>
            </a:r>
            <a:r>
              <a:rPr lang="en" sz="2400">
                <a:solidFill>
                  <a:schemeClr val="dk2"/>
                </a:solidFill>
                <a:latin typeface="Times New Roman"/>
                <a:ea typeface="Times New Roman"/>
                <a:cs typeface="Times New Roman"/>
                <a:sym typeface="Times New Roman"/>
              </a:rPr>
              <a:t>Y = β</a:t>
            </a:r>
            <a:r>
              <a:rPr baseline="-25000" lang="en" sz="2400">
                <a:solidFill>
                  <a:schemeClr val="dk2"/>
                </a:solidFill>
                <a:latin typeface="Times New Roman"/>
                <a:ea typeface="Times New Roman"/>
                <a:cs typeface="Times New Roman"/>
                <a:sym typeface="Times New Roman"/>
              </a:rPr>
              <a:t>0</a:t>
            </a:r>
            <a:r>
              <a:rPr lang="en" sz="2400">
                <a:solidFill>
                  <a:schemeClr val="dk2"/>
                </a:solidFill>
                <a:latin typeface="Times New Roman"/>
                <a:ea typeface="Times New Roman"/>
                <a:cs typeface="Times New Roman"/>
                <a:sym typeface="Times New Roman"/>
              </a:rPr>
              <a:t>+β</a:t>
            </a:r>
            <a:r>
              <a:rPr baseline="-25000" lang="en" sz="2400">
                <a:solidFill>
                  <a:schemeClr val="dk2"/>
                </a:solidFill>
                <a:latin typeface="Times New Roman"/>
                <a:ea typeface="Times New Roman"/>
                <a:cs typeface="Times New Roman"/>
                <a:sym typeface="Times New Roman"/>
              </a:rPr>
              <a:t>1 </a:t>
            </a:r>
            <a:r>
              <a:rPr lang="en" sz="2400">
                <a:solidFill>
                  <a:schemeClr val="dk2"/>
                </a:solidFill>
                <a:latin typeface="Times New Roman"/>
                <a:ea typeface="Times New Roman"/>
                <a:cs typeface="Times New Roman"/>
                <a:sym typeface="Times New Roman"/>
              </a:rPr>
              <a:t>X + ϵ</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Pros:</a:t>
            </a:r>
            <a:r>
              <a:rPr lang="en" sz="2400">
                <a:solidFill>
                  <a:schemeClr val="dk1"/>
                </a:solidFill>
                <a:latin typeface="Times New Roman"/>
                <a:ea typeface="Times New Roman"/>
                <a:cs typeface="Times New Roman"/>
                <a:sym typeface="Times New Roman"/>
              </a:rPr>
              <a:t> Highly intuitive; the coefficients directly tell you the change in probability.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b="1" lang="en" sz="2400">
                <a:solidFill>
                  <a:schemeClr val="dk1"/>
                </a:solidFill>
                <a:latin typeface="Times New Roman"/>
                <a:ea typeface="Times New Roman"/>
                <a:cs typeface="Times New Roman"/>
                <a:sym typeface="Times New Roman"/>
              </a:rPr>
              <a:t>Cons:</a:t>
            </a:r>
            <a:endParaRPr b="1" sz="2400">
              <a:solidFill>
                <a:schemeClr val="dk1"/>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Can predict nonsensical probabilities (e.g., </a:t>
            </a:r>
            <a:r>
              <a:rPr b="1" lang="en" sz="2400">
                <a:solidFill>
                  <a:schemeClr val="dk1"/>
                </a:solidFill>
                <a:latin typeface="Times New Roman"/>
                <a:ea typeface="Times New Roman"/>
                <a:cs typeface="Times New Roman"/>
                <a:sym typeface="Times New Roman"/>
              </a:rPr>
              <a:t>greater than 100% or less than 0%</a:t>
            </a: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81000" lvl="1" marL="914400" rtl="0" algn="l">
              <a:lnSpc>
                <a:spcPct val="115000"/>
              </a:lnSpc>
              <a:spcBef>
                <a:spcPts val="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Suffers from inherent </a:t>
            </a:r>
            <a:r>
              <a:rPr b="1" lang="en" sz="2400">
                <a:solidFill>
                  <a:schemeClr val="dk1"/>
                </a:solidFill>
                <a:latin typeface="Times New Roman"/>
                <a:ea typeface="Times New Roman"/>
                <a:cs typeface="Times New Roman"/>
                <a:sym typeface="Times New Roman"/>
              </a:rPr>
              <a:t>heteroskedasticity</a:t>
            </a:r>
            <a:r>
              <a:rPr lang="en" sz="2400">
                <a:solidFill>
                  <a:schemeClr val="dk1"/>
                </a:solidFill>
                <a:latin typeface="Times New Roman"/>
                <a:ea typeface="Times New Roman"/>
                <a:cs typeface="Times New Roman"/>
                <a:sym typeface="Times New Roman"/>
              </a:rPr>
              <a:t> (unstable error variance).</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nvSpPr>
        <p:spPr>
          <a:xfrm>
            <a:off x="261150" y="217425"/>
            <a:ext cx="8655300" cy="477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2900">
                <a:latin typeface="Times New Roman"/>
                <a:ea typeface="Times New Roman"/>
                <a:cs typeface="Times New Roman"/>
                <a:sym typeface="Times New Roman"/>
              </a:rPr>
              <a:t>    </a:t>
            </a:r>
            <a:r>
              <a:rPr b="1" lang="en" sz="2900">
                <a:latin typeface="Times New Roman"/>
                <a:ea typeface="Times New Roman"/>
                <a:cs typeface="Times New Roman"/>
                <a:sym typeface="Times New Roman"/>
              </a:rPr>
              <a:t>Logit Model:</a:t>
            </a:r>
            <a:r>
              <a:rPr lang="en" sz="2400">
                <a:latin typeface="Times New Roman"/>
                <a:ea typeface="Times New Roman"/>
                <a:cs typeface="Times New Roman"/>
                <a:sym typeface="Times New Roman"/>
              </a:rPr>
              <a:t>also called Logistic Regression, is a statistical model used to estimate the probability of an event when the dependent variable is binary.</a:t>
            </a:r>
            <a:endParaRPr sz="24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latin typeface="Times New Roman"/>
                <a:ea typeface="Times New Roman"/>
                <a:cs typeface="Times New Roman"/>
                <a:sym typeface="Times New Roman"/>
              </a:rPr>
              <a:t>The dependent variable has two possible outcomes, generally coded as:Y=1: Event occurs, Y=0: Event does not occur. </a:t>
            </a:r>
            <a:endParaRPr sz="24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2400">
                <a:solidFill>
                  <a:schemeClr val="dk1"/>
                </a:solidFill>
                <a:latin typeface="Times New Roman"/>
                <a:ea typeface="Times New Roman"/>
                <a:cs typeface="Times New Roman"/>
                <a:sym typeface="Times New Roman"/>
              </a:rPr>
              <a:t>Example: </a:t>
            </a:r>
            <a:r>
              <a:rPr lang="en" sz="2400">
                <a:solidFill>
                  <a:schemeClr val="dk1"/>
                </a:solidFill>
                <a:latin typeface="Times New Roman"/>
                <a:ea typeface="Times New Roman"/>
                <a:cs typeface="Times New Roman"/>
                <a:sym typeface="Times New Roman"/>
              </a:rPr>
              <a:t>Predict whether a student will pass or fail based on study hours. Pass = 1, Fail = 0.The model estimates the probability of passing, rather than directly predicting marks.Ordinary linear regression might produce probabilities such as -0.2 or 1.3. These are invalid because probability must lie between 0 and 1. </a:t>
            </a:r>
            <a:endParaRPr sz="24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6"/>
          <p:cNvSpPr txBox="1"/>
          <p:nvPr/>
        </p:nvSpPr>
        <p:spPr>
          <a:xfrm>
            <a:off x="235823" y="215285"/>
            <a:ext cx="5276100" cy="298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The Logit Model uses a logistic function to ensure that the predicted probability remains within this range. </a:t>
            </a:r>
            <a:r>
              <a:rPr lang="en" sz="2400">
                <a:latin typeface="Times New Roman"/>
                <a:ea typeface="Times New Roman"/>
                <a:cs typeface="Times New Roman"/>
                <a:sym typeface="Times New Roman"/>
              </a:rPr>
              <a:t>The logistic function produces  an S-shaped curve:</a:t>
            </a:r>
            <a:endParaRPr sz="2400">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 sz="2400">
                <a:latin typeface="Times New Roman"/>
                <a:ea typeface="Times New Roman"/>
                <a:cs typeface="Times New Roman"/>
                <a:sym typeface="Times New Roman"/>
              </a:rPr>
              <a:t>At low values of X, probability </a:t>
            </a:r>
            <a:endParaRPr sz="2400">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 sz="2400">
                <a:latin typeface="Times New Roman"/>
                <a:ea typeface="Times New Roman"/>
                <a:cs typeface="Times New Roman"/>
                <a:sym typeface="Times New Roman"/>
              </a:rPr>
              <a:t>may be low. </a:t>
            </a:r>
            <a:endParaRPr sz="2400">
              <a:latin typeface="Times New Roman"/>
              <a:ea typeface="Times New Roman"/>
              <a:cs typeface="Times New Roman"/>
              <a:sym typeface="Times New Roman"/>
            </a:endParaRPr>
          </a:p>
        </p:txBody>
      </p:sp>
      <p:pic>
        <p:nvPicPr>
          <p:cNvPr id="125" name="Google Shape;125;p26"/>
          <p:cNvPicPr preferRelativeResize="0"/>
          <p:nvPr/>
        </p:nvPicPr>
        <p:blipFill>
          <a:blip r:embed="rId3">
            <a:alphaModFix/>
          </a:blip>
          <a:stretch>
            <a:fillRect/>
          </a:stretch>
        </p:blipFill>
        <p:spPr>
          <a:xfrm>
            <a:off x="5344700" y="215275"/>
            <a:ext cx="3609750" cy="2578400"/>
          </a:xfrm>
          <a:prstGeom prst="rect">
            <a:avLst/>
          </a:prstGeom>
          <a:noFill/>
          <a:ln>
            <a:noFill/>
          </a:ln>
        </p:spPr>
      </p:pic>
      <p:sp>
        <p:nvSpPr>
          <p:cNvPr id="126" name="Google Shape;126;p26"/>
          <p:cNvSpPr txBox="1"/>
          <p:nvPr/>
        </p:nvSpPr>
        <p:spPr>
          <a:xfrm>
            <a:off x="283350" y="3080200"/>
            <a:ext cx="8577300" cy="19824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Char char="●"/>
            </a:pPr>
            <a:r>
              <a:rPr lang="en" sz="2400">
                <a:solidFill>
                  <a:schemeClr val="dk1"/>
                </a:solidFill>
                <a:latin typeface="Times New Roman"/>
                <a:ea typeface="Times New Roman"/>
                <a:cs typeface="Times New Roman"/>
                <a:sym typeface="Times New Roman"/>
              </a:rPr>
              <a:t>In the middle region, probability can increase rapidly.</a:t>
            </a:r>
            <a:endParaRPr sz="24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2400">
                <a:solidFill>
                  <a:schemeClr val="dk1"/>
                </a:solidFill>
                <a:latin typeface="Times New Roman"/>
                <a:ea typeface="Times New Roman"/>
                <a:cs typeface="Times New Roman"/>
                <a:sym typeface="Times New Roman"/>
              </a:rPr>
              <a:t>At high values of  X, probability approaches 1.</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It approaches 0 and 1 but does not reach either exactly for finite values of the input.</a:t>
            </a:r>
            <a:endParaRPr sz="2400">
              <a:solidFill>
                <a:schemeClr val="dk1"/>
              </a:solidFill>
              <a:latin typeface="Times New Roman"/>
              <a:ea typeface="Times New Roman"/>
              <a:cs typeface="Times New Roman"/>
              <a:sym typeface="Times New Roman"/>
            </a:endParaRPr>
          </a:p>
        </p:txBody>
      </p:sp>
      <p:pic>
        <p:nvPicPr>
          <p:cNvPr id="127" name="Google Shape;127;p26"/>
          <p:cNvPicPr preferRelativeResize="0"/>
          <p:nvPr/>
        </p:nvPicPr>
        <p:blipFill>
          <a:blip r:embed="rId4">
            <a:alphaModFix/>
          </a:blip>
          <a:stretch>
            <a:fillRect/>
          </a:stretch>
        </p:blipFill>
        <p:spPr>
          <a:xfrm>
            <a:off x="3696450" y="2419625"/>
            <a:ext cx="2102025" cy="781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7"/>
          <p:cNvSpPr txBox="1"/>
          <p:nvPr/>
        </p:nvSpPr>
        <p:spPr>
          <a:xfrm>
            <a:off x="324225" y="250550"/>
            <a:ext cx="8819700" cy="456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Logit transformation:</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The Logit Model can also be written in terms of odds and the log-odds.First, calculate the odds: odds= p/(1-p)</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Then take the natural logarithm: Log (p/1-p)=  β</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X.</a:t>
            </a:r>
            <a:endParaRPr sz="2400">
              <a:solidFill>
                <a:schemeClr val="dk1"/>
              </a:solidFill>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chemeClr val="dk1"/>
              </a:buClr>
              <a:buSzPts val="1100"/>
              <a:buChar char="●"/>
            </a:pPr>
            <a:r>
              <a:rPr lang="en" sz="2400">
                <a:solidFill>
                  <a:schemeClr val="dk1"/>
                </a:solidFill>
                <a:latin typeface="Times New Roman"/>
                <a:ea typeface="Times New Roman"/>
                <a:cs typeface="Times New Roman"/>
                <a:sym typeface="Times New Roman"/>
              </a:rPr>
              <a:t>p = probability that the event occurs</a:t>
            </a:r>
            <a:endParaRPr sz="24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2400">
                <a:solidFill>
                  <a:schemeClr val="dk1"/>
                </a:solidFill>
                <a:latin typeface="Times New Roman"/>
                <a:ea typeface="Times New Roman"/>
                <a:cs typeface="Times New Roman"/>
                <a:sym typeface="Times New Roman"/>
              </a:rPr>
              <a:t>1-p = probability that it does not occur</a:t>
            </a:r>
            <a:endParaRPr sz="24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Char char="●"/>
            </a:pPr>
            <a:r>
              <a:rPr lang="en" sz="2400">
                <a:solidFill>
                  <a:schemeClr val="dk1"/>
                </a:solidFill>
                <a:latin typeface="Times New Roman"/>
                <a:ea typeface="Times New Roman"/>
                <a:cs typeface="Times New Roman"/>
                <a:sym typeface="Times New Roman"/>
              </a:rPr>
              <a:t>p/1-p = odds of the event</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The logit transformation allows the model to relate predictors linearly to the log-odds while keeping predicted probabilities between 0 and 1.</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nvSpPr>
        <p:spPr>
          <a:xfrm>
            <a:off x="235800" y="353700"/>
            <a:ext cx="87591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Logistic Function:</a:t>
            </a:r>
            <a:endParaRPr b="1"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Converts the linear predictor into a probability.</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Predicted probabilities lie between 0 and 1.</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The resulting relationship is S-shaped.</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Logit Transformation:</a:t>
            </a:r>
            <a:endParaRPr b="1"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Odds = p/(1-p)</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Log-odds = natural logarithm of odds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Predictors are related linearly to the log-odds.</a:t>
            </a:r>
            <a:endParaRPr sz="2400">
              <a:latin typeface="Times New Roman"/>
              <a:ea typeface="Times New Roman"/>
              <a:cs typeface="Times New Roman"/>
              <a:sym typeface="Times New Roman"/>
            </a:endParaRPr>
          </a:p>
        </p:txBody>
      </p:sp>
      <p:pic>
        <p:nvPicPr>
          <p:cNvPr id="138" name="Google Shape;138;p28"/>
          <p:cNvPicPr preferRelativeResize="0"/>
          <p:nvPr/>
        </p:nvPicPr>
        <p:blipFill>
          <a:blip r:embed="rId3">
            <a:alphaModFix/>
          </a:blip>
          <a:stretch>
            <a:fillRect/>
          </a:stretch>
        </p:blipFill>
        <p:spPr>
          <a:xfrm>
            <a:off x="5944375" y="2279166"/>
            <a:ext cx="3199625" cy="830091"/>
          </a:xfrm>
          <a:prstGeom prst="rect">
            <a:avLst/>
          </a:prstGeom>
          <a:noFill/>
          <a:ln>
            <a:noFill/>
          </a:ln>
        </p:spPr>
      </p:pic>
      <p:pic>
        <p:nvPicPr>
          <p:cNvPr id="139" name="Google Shape;139;p28"/>
          <p:cNvPicPr preferRelativeResize="0"/>
          <p:nvPr/>
        </p:nvPicPr>
        <p:blipFill>
          <a:blip r:embed="rId4">
            <a:alphaModFix/>
          </a:blip>
          <a:stretch>
            <a:fillRect/>
          </a:stretch>
        </p:blipFill>
        <p:spPr>
          <a:xfrm>
            <a:off x="6763155" y="819430"/>
            <a:ext cx="2231677" cy="8300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9"/>
          <p:cNvSpPr txBox="1"/>
          <p:nvPr/>
        </p:nvSpPr>
        <p:spPr>
          <a:xfrm>
            <a:off x="220250" y="212350"/>
            <a:ext cx="85542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For example:        Student passes → 1,  Student fails → 0.We want to predict: What is the probability that a student will pass based on the number of hours studied? Suppose we collect data from students: </a:t>
            </a:r>
            <a:r>
              <a:rPr b="1" lang="en" sz="2400">
                <a:solidFill>
                  <a:schemeClr val="dk1"/>
                </a:solidFill>
                <a:latin typeface="Times New Roman"/>
                <a:ea typeface="Times New Roman"/>
                <a:cs typeface="Times New Roman"/>
                <a:sym typeface="Times New Roman"/>
              </a:rPr>
              <a:t>Logistic Regression model learns the relationship between study hours and the pass/fail outcome. </a:t>
            </a:r>
            <a:r>
              <a:rPr lang="en" sz="2400">
                <a:solidFill>
                  <a:schemeClr val="dk1"/>
                </a:solidFill>
                <a:latin typeface="Times New Roman"/>
                <a:ea typeface="Times New Roman"/>
                <a:cs typeface="Times New Roman"/>
                <a:sym typeface="Times New Roman"/>
              </a:rPr>
              <a:t>Suppose the model produces these illustrative predictions: </a:t>
            </a:r>
            <a:endParaRPr sz="2400">
              <a:solidFill>
                <a:schemeClr val="dk1"/>
              </a:solidFill>
              <a:latin typeface="Times New Roman"/>
              <a:ea typeface="Times New Roman"/>
              <a:cs typeface="Times New Roman"/>
              <a:sym typeface="Times New Roman"/>
            </a:endParaRPr>
          </a:p>
        </p:txBody>
      </p:sp>
      <p:graphicFrame>
        <p:nvGraphicFramePr>
          <p:cNvPr id="145" name="Google Shape;145;p29"/>
          <p:cNvGraphicFramePr/>
          <p:nvPr/>
        </p:nvGraphicFramePr>
        <p:xfrm>
          <a:off x="7138825" y="2651175"/>
          <a:ext cx="3000000" cy="3000000"/>
        </p:xfrm>
        <a:graphic>
          <a:graphicData uri="http://schemas.openxmlformats.org/drawingml/2006/table">
            <a:tbl>
              <a:tblPr>
                <a:noFill/>
                <a:tableStyleId>{4E31AA02-684E-4BD6-8366-59B88660C896}</a:tableStyleId>
              </a:tblPr>
              <a:tblGrid>
                <a:gridCol w="973325"/>
                <a:gridCol w="973325"/>
              </a:tblGrid>
              <a:tr h="692325">
                <a:tc>
                  <a:txBody>
                    <a:bodyPr/>
                    <a:lstStyle/>
                    <a:p>
                      <a:pPr indent="0" lvl="0" marL="0" rtl="0" algn="l">
                        <a:spcBef>
                          <a:spcPts val="0"/>
                        </a:spcBef>
                        <a:spcAft>
                          <a:spcPts val="0"/>
                        </a:spcAft>
                        <a:buNone/>
                      </a:pPr>
                      <a:r>
                        <a:rPr lang="en"/>
                        <a:t>Study Hours</a:t>
                      </a:r>
                      <a:endParaRPr/>
                    </a:p>
                  </a:txBody>
                  <a:tcPr marT="91425" marB="91425" marR="91425" marL="91425"/>
                </a:tc>
                <a:tc>
                  <a:txBody>
                    <a:bodyPr/>
                    <a:lstStyle/>
                    <a:p>
                      <a:pPr indent="0" lvl="0" marL="0" rtl="0" algn="l">
                        <a:spcBef>
                          <a:spcPts val="0"/>
                        </a:spcBef>
                        <a:spcAft>
                          <a:spcPts val="0"/>
                        </a:spcAft>
                        <a:buNone/>
                      </a:pPr>
                      <a:r>
                        <a:rPr lang="en"/>
                        <a:t>Actual result</a:t>
                      </a:r>
                      <a:endParaRPr/>
                    </a:p>
                  </a:txBody>
                  <a:tcPr marT="91425" marB="91425" marR="91425" marL="91425"/>
                </a:tc>
              </a:tr>
              <a:tr h="450000">
                <a:tc>
                  <a:txBody>
                    <a:bodyPr/>
                    <a:lstStyle/>
                    <a:p>
                      <a:pPr indent="0" lvl="0" marL="0" rtl="0" algn="l">
                        <a:spcBef>
                          <a:spcPts val="0"/>
                        </a:spcBef>
                        <a:spcAft>
                          <a:spcPts val="0"/>
                        </a:spcAft>
                        <a:buNone/>
                      </a:pPr>
                      <a:r>
                        <a:rPr lang="en"/>
                        <a:t>1 hr</a:t>
                      </a:r>
                      <a:endParaRPr/>
                    </a:p>
                  </a:txBody>
                  <a:tcPr marT="91425" marB="91425" marR="91425" marL="91425"/>
                </a:tc>
                <a:tc>
                  <a:txBody>
                    <a:bodyPr/>
                    <a:lstStyle/>
                    <a:p>
                      <a:pPr indent="0" lvl="0" marL="0" rtl="0" algn="l">
                        <a:spcBef>
                          <a:spcPts val="0"/>
                        </a:spcBef>
                        <a:spcAft>
                          <a:spcPts val="0"/>
                        </a:spcAft>
                        <a:buNone/>
                      </a:pPr>
                      <a:r>
                        <a:rPr lang="en"/>
                        <a:t>Fail (0)</a:t>
                      </a:r>
                      <a:endParaRPr/>
                    </a:p>
                  </a:txBody>
                  <a:tcPr marT="91425" marB="91425" marR="91425" marL="91425"/>
                </a:tc>
              </a:tr>
              <a:tr h="450000">
                <a:tc>
                  <a:txBody>
                    <a:bodyPr/>
                    <a:lstStyle/>
                    <a:p>
                      <a:pPr indent="0" lvl="0" marL="0" rtl="0" algn="l">
                        <a:spcBef>
                          <a:spcPts val="0"/>
                        </a:spcBef>
                        <a:spcAft>
                          <a:spcPts val="0"/>
                        </a:spcAft>
                        <a:buNone/>
                      </a:pPr>
                      <a:r>
                        <a:rPr lang="en"/>
                        <a:t>3 hrs.</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rPr>
                        <a:t>Fail (0)</a:t>
                      </a:r>
                      <a:endParaRPr/>
                    </a:p>
                  </a:txBody>
                  <a:tcPr marT="91425" marB="91425" marR="91425" marL="91425"/>
                </a:tc>
              </a:tr>
              <a:tr h="450000">
                <a:tc>
                  <a:txBody>
                    <a:bodyPr/>
                    <a:lstStyle/>
                    <a:p>
                      <a:pPr indent="0" lvl="0" marL="0" rtl="0" algn="l">
                        <a:spcBef>
                          <a:spcPts val="0"/>
                        </a:spcBef>
                        <a:spcAft>
                          <a:spcPts val="0"/>
                        </a:spcAft>
                        <a:buNone/>
                      </a:pPr>
                      <a:r>
                        <a:rPr lang="en"/>
                        <a:t>5 Hrs.</a:t>
                      </a:r>
                      <a:endParaRPr/>
                    </a:p>
                  </a:txBody>
                  <a:tcPr marT="91425" marB="91425" marR="91425" marL="91425"/>
                </a:tc>
                <a:tc>
                  <a:txBody>
                    <a:bodyPr/>
                    <a:lstStyle/>
                    <a:p>
                      <a:pPr indent="0" lvl="0" marL="0" rtl="0" algn="l">
                        <a:spcBef>
                          <a:spcPts val="0"/>
                        </a:spcBef>
                        <a:spcAft>
                          <a:spcPts val="0"/>
                        </a:spcAft>
                        <a:buNone/>
                      </a:pPr>
                      <a:r>
                        <a:rPr lang="en"/>
                        <a:t>Pass(1)</a:t>
                      </a:r>
                      <a:endParaRPr/>
                    </a:p>
                  </a:txBody>
                  <a:tcPr marT="91425" marB="91425" marR="91425" marL="91425"/>
                </a:tc>
              </a:tr>
              <a:tr h="450000">
                <a:tc>
                  <a:txBody>
                    <a:bodyPr/>
                    <a:lstStyle/>
                    <a:p>
                      <a:pPr indent="0" lvl="0" marL="0" rtl="0" algn="l">
                        <a:spcBef>
                          <a:spcPts val="0"/>
                        </a:spcBef>
                        <a:spcAft>
                          <a:spcPts val="0"/>
                        </a:spcAft>
                        <a:buNone/>
                      </a:pPr>
                      <a:r>
                        <a:rPr lang="en"/>
                        <a:t>8 Hrs.</a:t>
                      </a:r>
                      <a:endParaRPr/>
                    </a:p>
                  </a:txBody>
                  <a:tcPr marT="91425" marB="91425" marR="91425" marL="91425"/>
                </a:tc>
                <a:tc>
                  <a:txBody>
                    <a:bodyPr/>
                    <a:lstStyle/>
                    <a:p>
                      <a:pPr indent="0" lvl="0" marL="0" rtl="0" algn="l">
                        <a:spcBef>
                          <a:spcPts val="0"/>
                        </a:spcBef>
                        <a:spcAft>
                          <a:spcPts val="0"/>
                        </a:spcAft>
                        <a:buNone/>
                      </a:pPr>
                      <a:r>
                        <a:rPr lang="en"/>
                        <a:t>Pass(1)</a:t>
                      </a:r>
                      <a:endParaRPr/>
                    </a:p>
                  </a:txBody>
                  <a:tcPr marT="91425" marB="91425" marR="91425" marL="91425"/>
                </a:tc>
              </a:tr>
            </a:tbl>
          </a:graphicData>
        </a:graphic>
      </p:graphicFrame>
      <p:sp>
        <p:nvSpPr>
          <p:cNvPr id="146" name="Google Shape;146;p29"/>
          <p:cNvSpPr txBox="1"/>
          <p:nvPr/>
        </p:nvSpPr>
        <p:spPr>
          <a:xfrm>
            <a:off x="220250" y="2890450"/>
            <a:ext cx="6918600" cy="225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the model predicts a probability, not the actual result with certainty. For example, a 70% probability means the model estimates that a student with those  characte ristics has a 70% chance of passing,  according to the fitted model. p=(1/1+ e-z)    where, z= Y = β</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X.</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0"/>
          <p:cNvSpPr txBox="1"/>
          <p:nvPr/>
        </p:nvSpPr>
        <p:spPr>
          <a:xfrm>
            <a:off x="294750" y="162125"/>
            <a:ext cx="87102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How does probability become Pass or Fail?</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                The model initially gives a probability. We can then choose a decision threshold. Suppose we use 50% as the threshold:</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30% Predicted Fail        Probability is below 50%.</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70%  Predicted Pass            Probability is at least 50%.</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 50% threshold is a choice, not a fixed rule. In real applications, the best threshold depends on the consequences of false predictions. </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b="1"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What makes it a “Logit” model?</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 model can also express the relationship using log-odds: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log(P/ 1- P) =β</a:t>
            </a:r>
            <a:r>
              <a:rPr baseline="-25000" lang="en" sz="2400">
                <a:latin typeface="Times New Roman"/>
                <a:ea typeface="Times New Roman"/>
                <a:cs typeface="Times New Roman"/>
                <a:sym typeface="Times New Roman"/>
              </a:rPr>
              <a:t>0</a:t>
            </a:r>
            <a:r>
              <a:rPr lang="en" sz="2400">
                <a:latin typeface="Times New Roman"/>
                <a:ea typeface="Times New Roman"/>
                <a:cs typeface="Times New Roman"/>
                <a:sym typeface="Times New Roman"/>
              </a:rPr>
              <a:t>+β</a:t>
            </a:r>
            <a:r>
              <a:rPr baseline="-25000" lang="en" sz="2400">
                <a:latin typeface="Times New Roman"/>
                <a:ea typeface="Times New Roman"/>
                <a:cs typeface="Times New Roman"/>
                <a:sym typeface="Times New Roman"/>
              </a:rPr>
              <a:t>1</a:t>
            </a:r>
            <a:r>
              <a:rPr lang="en" sz="2400">
                <a:latin typeface="Times New Roman"/>
                <a:ea typeface="Times New Roman"/>
                <a:cs typeface="Times New Roman"/>
                <a:sym typeface="Times New Roman"/>
              </a:rPr>
              <a:t> X    Here, p is the probability of passing.</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1"/>
          <p:cNvSpPr txBox="1"/>
          <p:nvPr/>
        </p:nvSpPr>
        <p:spPr>
          <a:xfrm>
            <a:off x="393750" y="447603"/>
            <a:ext cx="85668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In simple terms,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 Logit Model relates the predictors to the log of the odds of the event occurring. This is how it models probabilities without allowing them to go below 0 or above 1.</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Summary:</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Used when the dependent variable is binary (0 or 1).</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Estimates the probability of an event.</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Uses the logistic function to keep probabilities between 0 and 1.</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A threshold can convert the probability into a predicted category.</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Applications include pass/fail prediction, loan default, customer purchase and disease occurrence.</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2"/>
          <p:cNvSpPr txBox="1"/>
          <p:nvPr/>
        </p:nvSpPr>
        <p:spPr>
          <a:xfrm>
            <a:off x="280025" y="191600"/>
            <a:ext cx="8400600" cy="321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Logit Model (Summary):</a:t>
            </a:r>
            <a:endParaRPr b="1"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90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A non-linear model that uses a logistic cumulative distribution function (CDF) to ensure predicted probabilities stay strictly between 0 and 1.</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It models the log-odds of an event occurring.</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Coefficients are interpreted using Odds Ratios rather than direct probabilities.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nvSpPr>
        <p:spPr>
          <a:xfrm>
            <a:off x="368450" y="324225"/>
            <a:ext cx="8459400" cy="4873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b="1" lang="en" sz="2800" u="sng">
                <a:latin typeface="Times New Roman"/>
                <a:ea typeface="Times New Roman"/>
                <a:cs typeface="Times New Roman"/>
                <a:sym typeface="Times New Roman"/>
              </a:rPr>
              <a:t>A Probit Model</a:t>
            </a:r>
            <a:r>
              <a:rPr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is a statistical model used to estimate the probability of an event when the dependent variable has two possible outcomes. For ex, we want to predict whether a student will pass an examination based on study hours. Pass = 1 Fail = 0. Our objective is to estimate the probability that a student </a:t>
            </a:r>
            <a:r>
              <a:rPr lang="en" sz="2400">
                <a:solidFill>
                  <a:schemeClr val="dk1"/>
                </a:solidFill>
                <a:latin typeface="Times New Roman"/>
                <a:ea typeface="Times New Roman"/>
                <a:cs typeface="Times New Roman"/>
                <a:sym typeface="Times New Roman"/>
              </a:rPr>
              <a:t>will pass.  P (Y=1 | X).        Here: Y = examination result (Pass or Fail), X = study hours, P(Y=1 | X) = probability of passing given the study hours X. </a:t>
            </a:r>
            <a:r>
              <a:rPr b="1" lang="en" sz="2400">
                <a:solidFill>
                  <a:schemeClr val="dk1"/>
                </a:solidFill>
                <a:latin typeface="Times New Roman"/>
                <a:ea typeface="Times New Roman"/>
                <a:cs typeface="Times New Roman"/>
                <a:sym typeface="Times New Roman"/>
              </a:rPr>
              <a:t>The Probi</a:t>
            </a:r>
            <a:r>
              <a:rPr b="1" lang="en" sz="2400">
                <a:latin typeface="Times New Roman"/>
                <a:ea typeface="Times New Roman"/>
                <a:cs typeface="Times New Roman"/>
                <a:sym typeface="Times New Roman"/>
              </a:rPr>
              <a:t>t Model </a:t>
            </a:r>
            <a:r>
              <a:rPr b="1" lang="en" sz="2400">
                <a:solidFill>
                  <a:schemeClr val="dk1"/>
                </a:solidFill>
                <a:latin typeface="Times New Roman"/>
                <a:ea typeface="Times New Roman"/>
                <a:cs typeface="Times New Roman"/>
                <a:sym typeface="Times New Roman"/>
              </a:rPr>
              <a:t>uses a Gaussian (bell curve) CDF to bound the probabilities</a:t>
            </a:r>
            <a:r>
              <a:rPr b="1" lang="en" sz="2400">
                <a:latin typeface="Times New Roman"/>
                <a:ea typeface="Times New Roman"/>
                <a:cs typeface="Times New Roman"/>
                <a:sym typeface="Times New Roman"/>
              </a:rPr>
              <a:t> between 0 and 1. </a:t>
            </a:r>
            <a:r>
              <a:rPr b="1" lang="en" sz="2400">
                <a:solidFill>
                  <a:schemeClr val="dk1"/>
                </a:solidFill>
                <a:latin typeface="Times New Roman"/>
                <a:ea typeface="Times New Roman"/>
                <a:cs typeface="Times New Roman"/>
                <a:sym typeface="Times New Roman"/>
              </a:rPr>
              <a:t>Similar to Logit, but assumes the underlying unobservable utility or risk follows a standard normal distribution.</a:t>
            </a:r>
            <a:endParaRPr b="1" sz="24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txBox="1"/>
          <p:nvPr/>
        </p:nvSpPr>
        <p:spPr>
          <a:xfrm>
            <a:off x="265275" y="147375"/>
            <a:ext cx="87249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Need:</a:t>
            </a:r>
            <a:r>
              <a:rPr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Suppose we use ordinary linear regression to predict whether a student passes or fails, coding Pass as 1 and Fail as 0. A linear model might predict:</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0.3 → can be interpreted as a 30% predicted probability in a linear probability model.</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1.2 → invalid as a probability because it exceeds 1.</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− 0.2 → invalid as a probability because it is below 0.</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A linear probability model can therefore produce predictions outside the valid probability range. </a:t>
            </a:r>
            <a:r>
              <a:rPr b="1" lang="en" sz="2400">
                <a:latin typeface="Times New Roman"/>
                <a:ea typeface="Times New Roman"/>
                <a:cs typeface="Times New Roman"/>
                <a:sym typeface="Times New Roman"/>
              </a:rPr>
              <a:t>The Probit Model addresses this problem by using the cumulative distribution function of the standard normal distribution to convert the model's output into a probability between 0 and 1.</a:t>
            </a:r>
            <a:endParaRPr b="1" sz="24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5"/>
          <p:cNvSpPr txBox="1"/>
          <p:nvPr/>
        </p:nvSpPr>
        <p:spPr>
          <a:xfrm>
            <a:off x="486325" y="176875"/>
            <a:ext cx="82974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Working: </a:t>
            </a:r>
            <a:r>
              <a:rPr lang="en" sz="2400">
                <a:latin typeface="Times New Roman"/>
                <a:ea typeface="Times New Roman"/>
                <a:cs typeface="Times New Roman"/>
                <a:sym typeface="Times New Roman"/>
              </a:rPr>
              <a:t>study hours may influence a student's likelihood of passing, but passing also depends on other factors, such as preparation, understanding, and examination difficulty.</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The Probit Model estimates the probability of passing based on the available predictors.</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Its basic equation is: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Where:</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P(Y=1 | X) = probability of passing,        X = study hours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0 </a:t>
            </a:r>
            <a:r>
              <a:rPr lang="en" sz="2400">
                <a:latin typeface="Times New Roman"/>
                <a:ea typeface="Times New Roman"/>
                <a:cs typeface="Times New Roman"/>
                <a:sym typeface="Times New Roman"/>
              </a:rPr>
              <a:t>= intercept,               </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latin typeface="Times New Roman"/>
                <a:ea typeface="Times New Roman"/>
                <a:cs typeface="Times New Roman"/>
                <a:sym typeface="Times New Roman"/>
              </a:rPr>
              <a:t> = coefficient for study hours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Ф = cumulative distribution function (CDF) of the standard normal distribution</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The important term is </a:t>
            </a:r>
            <a:r>
              <a:rPr b="1" lang="en" sz="2400">
                <a:solidFill>
                  <a:schemeClr val="dk1"/>
                </a:solidFill>
                <a:latin typeface="Times New Roman"/>
                <a:ea typeface="Times New Roman"/>
                <a:cs typeface="Times New Roman"/>
                <a:sym typeface="Times New Roman"/>
              </a:rPr>
              <a:t>Ф</a:t>
            </a:r>
            <a:r>
              <a:rPr b="1" lang="en" sz="2400">
                <a:latin typeface="Times New Roman"/>
                <a:ea typeface="Times New Roman"/>
                <a:cs typeface="Times New Roman"/>
                <a:sym typeface="Times New Roman"/>
              </a:rPr>
              <a:t>. It converts the calculated value into a probability between 0 and 1.</a:t>
            </a:r>
            <a:endParaRPr b="1" sz="2400">
              <a:latin typeface="Times New Roman"/>
              <a:ea typeface="Times New Roman"/>
              <a:cs typeface="Times New Roman"/>
              <a:sym typeface="Times New Roman"/>
            </a:endParaRPr>
          </a:p>
        </p:txBody>
      </p:sp>
      <p:pic>
        <p:nvPicPr>
          <p:cNvPr id="177" name="Google Shape;177;p35"/>
          <p:cNvPicPr preferRelativeResize="0"/>
          <p:nvPr/>
        </p:nvPicPr>
        <p:blipFill>
          <a:blip r:embed="rId3">
            <a:alphaModFix/>
          </a:blip>
          <a:stretch>
            <a:fillRect/>
          </a:stretch>
        </p:blipFill>
        <p:spPr>
          <a:xfrm>
            <a:off x="3541525" y="2179775"/>
            <a:ext cx="4083075" cy="391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6"/>
          <p:cNvPicPr preferRelativeResize="0"/>
          <p:nvPr/>
        </p:nvPicPr>
        <p:blipFill>
          <a:blip r:embed="rId3">
            <a:alphaModFix/>
          </a:blip>
          <a:stretch>
            <a:fillRect/>
          </a:stretch>
        </p:blipFill>
        <p:spPr>
          <a:xfrm>
            <a:off x="391775" y="1507725"/>
            <a:ext cx="2838377" cy="2285750"/>
          </a:xfrm>
          <a:prstGeom prst="rect">
            <a:avLst/>
          </a:prstGeom>
          <a:noFill/>
          <a:ln cap="flat" cmpd="sng" w="9525">
            <a:solidFill>
              <a:schemeClr val="dk1"/>
            </a:solidFill>
            <a:prstDash val="solid"/>
            <a:round/>
            <a:headEnd len="sm" w="sm" type="none"/>
            <a:tailEnd len="sm" w="sm" type="none"/>
          </a:ln>
        </p:spPr>
      </p:pic>
      <p:sp>
        <p:nvSpPr>
          <p:cNvPr id="183" name="Google Shape;183;p36"/>
          <p:cNvSpPr txBox="1"/>
          <p:nvPr/>
        </p:nvSpPr>
        <p:spPr>
          <a:xfrm>
            <a:off x="202550" y="104025"/>
            <a:ext cx="89415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The standard normal distribution is a bell-shaped proba. distrib. with:  Mean = 0, Standard deviation = 1.</a:t>
            </a:r>
            <a:r>
              <a:rPr lang="en" sz="2400">
                <a:latin typeface="Times New Roman"/>
                <a:ea typeface="Times New Roman"/>
                <a:cs typeface="Times New Roman"/>
                <a:sym typeface="Times New Roman"/>
              </a:rPr>
              <a:t>The CDF, shown by </a:t>
            </a:r>
            <a:r>
              <a:rPr b="1" lang="en" sz="2400">
                <a:solidFill>
                  <a:schemeClr val="dk1"/>
                </a:solidFill>
                <a:latin typeface="Times New Roman"/>
                <a:ea typeface="Times New Roman"/>
                <a:cs typeface="Times New Roman"/>
                <a:sym typeface="Times New Roman"/>
              </a:rPr>
              <a:t>Ф(z)</a:t>
            </a:r>
            <a:r>
              <a:rPr lang="en" sz="2400">
                <a:latin typeface="Times New Roman"/>
                <a:ea typeface="Times New Roman"/>
                <a:cs typeface="Times New Roman"/>
                <a:sym typeface="Times New Roman"/>
              </a:rPr>
              <a:t>, tells us the area under the bell curve to the left of a particular value z. </a:t>
            </a:r>
            <a:endParaRPr sz="2400">
              <a:latin typeface="Times New Roman"/>
              <a:ea typeface="Times New Roman"/>
              <a:cs typeface="Times New Roman"/>
              <a:sym typeface="Times New Roman"/>
            </a:endParaRPr>
          </a:p>
        </p:txBody>
      </p:sp>
      <p:graphicFrame>
        <p:nvGraphicFramePr>
          <p:cNvPr id="184" name="Google Shape;184;p36"/>
          <p:cNvGraphicFramePr/>
          <p:nvPr/>
        </p:nvGraphicFramePr>
        <p:xfrm>
          <a:off x="4572000" y="1507725"/>
          <a:ext cx="3000000" cy="3000000"/>
        </p:xfrm>
        <a:graphic>
          <a:graphicData uri="http://schemas.openxmlformats.org/drawingml/2006/table">
            <a:tbl>
              <a:tblPr>
                <a:noFill/>
                <a:tableStyleId>{4E31AA02-684E-4BD6-8366-59B88660C896}</a:tableStyleId>
              </a:tblPr>
              <a:tblGrid>
                <a:gridCol w="1560975"/>
                <a:gridCol w="2706950"/>
              </a:tblGrid>
              <a:tr h="427375">
                <a:tc>
                  <a:txBody>
                    <a:bodyPr/>
                    <a:lstStyle/>
                    <a:p>
                      <a:pPr indent="0" lvl="0" marL="0" marR="0" rtl="0" algn="l">
                        <a:lnSpc>
                          <a:spcPct val="115000"/>
                        </a:lnSpc>
                        <a:spcBef>
                          <a:spcPts val="1200"/>
                        </a:spcBef>
                        <a:spcAft>
                          <a:spcPts val="1200"/>
                        </a:spcAft>
                        <a:buNone/>
                      </a:pPr>
                      <a:r>
                        <a:rPr lang="en" sz="1800">
                          <a:latin typeface="Times New Roman"/>
                          <a:ea typeface="Times New Roman"/>
                          <a:cs typeface="Times New Roman"/>
                          <a:sym typeface="Times New Roman"/>
                        </a:rPr>
                        <a:t>Value of z</a:t>
                      </a:r>
                      <a:endParaRPr sz="1800">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15000"/>
                        </a:lnSpc>
                        <a:spcBef>
                          <a:spcPts val="1200"/>
                        </a:spcBef>
                        <a:spcAft>
                          <a:spcPts val="1200"/>
                        </a:spcAft>
                        <a:buNone/>
                      </a:pPr>
                      <a:r>
                        <a:rPr lang="en" sz="1800">
                          <a:latin typeface="Times New Roman"/>
                          <a:ea typeface="Times New Roman"/>
                          <a:cs typeface="Times New Roman"/>
                          <a:sym typeface="Times New Roman"/>
                        </a:rPr>
                        <a:t>Ф(z)</a:t>
                      </a:r>
                      <a:endParaRPr sz="1800">
                        <a:latin typeface="Times New Roman"/>
                        <a:ea typeface="Times New Roman"/>
                        <a:cs typeface="Times New Roman"/>
                        <a:sym typeface="Times New Roman"/>
                      </a:endParaRPr>
                    </a:p>
                  </a:txBody>
                  <a:tcPr marT="91425" marB="91425" marR="91425" marL="91425"/>
                </a:tc>
              </a:tr>
              <a:tr h="429100">
                <a:tc>
                  <a:txBody>
                    <a:bodyPr/>
                    <a:lstStyle/>
                    <a:p>
                      <a:pPr indent="0" lvl="0" marL="0" marR="0" rtl="0" algn="l">
                        <a:lnSpc>
                          <a:spcPct val="115000"/>
                        </a:lnSpc>
                        <a:spcBef>
                          <a:spcPts val="1200"/>
                        </a:spcBef>
                        <a:spcAft>
                          <a:spcPts val="1200"/>
                        </a:spcAft>
                        <a:buNone/>
                      </a:pPr>
                      <a:r>
                        <a:rPr lang="en" sz="1800">
                          <a:latin typeface="Times New Roman"/>
                          <a:ea typeface="Times New Roman"/>
                          <a:cs typeface="Times New Roman"/>
                          <a:sym typeface="Times New Roman"/>
                        </a:rPr>
                        <a:t>-1</a:t>
                      </a:r>
                      <a:endParaRPr sz="1800">
                        <a:latin typeface="Times New Roman"/>
                        <a:ea typeface="Times New Roman"/>
                        <a:cs typeface="Times New Roman"/>
                        <a:sym typeface="Times New Roman"/>
                      </a:endParaRPr>
                    </a:p>
                  </a:txBody>
                  <a:tcPr marT="91425" marB="91425" marR="91425" marL="91425"/>
                </a:tc>
                <a:tc>
                  <a:txBody>
                    <a:bodyPr/>
                    <a:lstStyle/>
                    <a:p>
                      <a:pPr indent="0" lvl="0" marL="0" marR="0" rtl="0" algn="l">
                        <a:lnSpc>
                          <a:spcPct val="115000"/>
                        </a:lnSpc>
                        <a:spcBef>
                          <a:spcPts val="1200"/>
                        </a:spcBef>
                        <a:spcAft>
                          <a:spcPts val="1200"/>
                        </a:spcAft>
                        <a:buNone/>
                      </a:pPr>
                      <a:r>
                        <a:rPr lang="en" sz="1800">
                          <a:latin typeface="Times New Roman"/>
                          <a:ea typeface="Times New Roman"/>
                          <a:cs typeface="Times New Roman"/>
                          <a:sym typeface="Times New Roman"/>
                        </a:rPr>
                        <a:t>Approximately 0.159 </a:t>
                      </a:r>
                      <a:endParaRPr sz="1800">
                        <a:latin typeface="Times New Roman"/>
                        <a:ea typeface="Times New Roman"/>
                        <a:cs typeface="Times New Roman"/>
                        <a:sym typeface="Times New Roman"/>
                      </a:endParaRPr>
                    </a:p>
                  </a:txBody>
                  <a:tcPr marT="91425" marB="91425" marR="91425" marL="91425"/>
                </a:tc>
              </a:tr>
              <a:tr h="368700">
                <a:tc>
                  <a:txBody>
                    <a:bodyPr/>
                    <a:lstStyle/>
                    <a:p>
                      <a:pPr indent="0" lvl="0" marL="0" rtl="0" algn="l">
                        <a:spcBef>
                          <a:spcPts val="0"/>
                        </a:spcBef>
                        <a:spcAft>
                          <a:spcPts val="0"/>
                        </a:spcAft>
                        <a:buNone/>
                      </a:pPr>
                      <a:r>
                        <a:rPr lang="en" sz="1800"/>
                        <a:t>0</a:t>
                      </a:r>
                      <a:endParaRPr sz="1800"/>
                    </a:p>
                  </a:txBody>
                  <a:tcPr marT="91425" marB="91425" marR="91425" marL="91425"/>
                </a:tc>
                <a:tc>
                  <a:txBody>
                    <a:bodyPr/>
                    <a:lstStyle/>
                    <a:p>
                      <a:pPr indent="0" lvl="0" marL="0" rtl="0" algn="l">
                        <a:lnSpc>
                          <a:spcPct val="115000"/>
                        </a:lnSpc>
                        <a:spcBef>
                          <a:spcPts val="1200"/>
                        </a:spcBef>
                        <a:spcAft>
                          <a:spcPts val="1200"/>
                        </a:spcAft>
                        <a:buNone/>
                      </a:pPr>
                      <a:r>
                        <a:rPr lang="en" sz="1800"/>
                        <a:t>0.500</a:t>
                      </a:r>
                      <a:endParaRPr sz="1800"/>
                    </a:p>
                  </a:txBody>
                  <a:tcPr marT="91425" marB="91425" marR="91425" marL="91425">
                    <a:lnB cap="flat" cmpd="sng" w="9525">
                      <a:solidFill>
                        <a:srgbClr val="9E9E9E"/>
                      </a:solidFill>
                      <a:prstDash val="solid"/>
                      <a:round/>
                      <a:headEnd len="sm" w="sm" type="none"/>
                      <a:tailEnd len="sm" w="sm" type="none"/>
                    </a:lnB>
                  </a:tcPr>
                </a:tc>
              </a:tr>
              <a:tr h="356050">
                <a:tc>
                  <a:txBody>
                    <a:bodyPr/>
                    <a:lstStyle/>
                    <a:p>
                      <a:pPr indent="0" lvl="0" marL="0" rtl="0" algn="l">
                        <a:spcBef>
                          <a:spcPts val="0"/>
                        </a:spcBef>
                        <a:spcAft>
                          <a:spcPts val="0"/>
                        </a:spcAft>
                        <a:buNone/>
                      </a:pPr>
                      <a:r>
                        <a:rPr lang="en" sz="1800"/>
                        <a:t>1</a:t>
                      </a:r>
                      <a:endParaRPr sz="18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1200"/>
                        </a:spcBef>
                        <a:spcAft>
                          <a:spcPts val="1200"/>
                        </a:spcAft>
                        <a:buNone/>
                      </a:pPr>
                      <a:r>
                        <a:rPr lang="en" sz="1800"/>
                        <a:t>Approximately 0.841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4025">
                <a:tc>
                  <a:txBody>
                    <a:bodyPr/>
                    <a:lstStyle/>
                    <a:p>
                      <a:pPr indent="0" lvl="0" marL="0" rtl="0" algn="l">
                        <a:spcBef>
                          <a:spcPts val="0"/>
                        </a:spcBef>
                        <a:spcAft>
                          <a:spcPts val="0"/>
                        </a:spcAft>
                        <a:buNone/>
                      </a:pPr>
                      <a:r>
                        <a:rPr lang="en" sz="1800"/>
                        <a:t>2</a:t>
                      </a:r>
                      <a:endParaRPr sz="18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lnSpc>
                          <a:spcPct val="115000"/>
                        </a:lnSpc>
                        <a:spcBef>
                          <a:spcPts val="1200"/>
                        </a:spcBef>
                        <a:spcAft>
                          <a:spcPts val="1200"/>
                        </a:spcAft>
                        <a:buNone/>
                      </a:pPr>
                      <a:r>
                        <a:rPr lang="en" sz="1800"/>
                        <a:t>Approximately 0.977</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185" name="Google Shape;185;p36"/>
          <p:cNvSpPr txBox="1"/>
          <p:nvPr/>
        </p:nvSpPr>
        <p:spPr>
          <a:xfrm>
            <a:off x="202550" y="3793475"/>
            <a:ext cx="8770200" cy="140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1200"/>
              </a:spcAft>
              <a:buNone/>
            </a:pPr>
            <a:r>
              <a:rPr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So, if the linear predictor is z=1, the Probit Model estimates a probability of approximately 84.1%.You do not need to calculate the area manually. Software such as Python can calculate it.</a:t>
            </a: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7"/>
          <p:cNvSpPr txBox="1"/>
          <p:nvPr/>
        </p:nvSpPr>
        <p:spPr>
          <a:xfrm>
            <a:off x="286550" y="200575"/>
            <a:ext cx="8539200" cy="447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Example:  </a:t>
            </a:r>
            <a:r>
              <a:rPr b="1" lang="en" sz="2400">
                <a:latin typeface="Times New Roman"/>
                <a:ea typeface="Times New Roman"/>
                <a:cs typeface="Times New Roman"/>
                <a:sym typeface="Times New Roman"/>
              </a:rPr>
              <a:t>Predicting student pass probability</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Suppose our  fitted  Probit Model: P(Pass=1 | X)= </a:t>
            </a:r>
            <a:r>
              <a:rPr b="1" lang="en" sz="2400">
                <a:solidFill>
                  <a:schemeClr val="dk1"/>
                </a:solidFill>
                <a:latin typeface="Times New Roman"/>
                <a:ea typeface="Times New Roman"/>
                <a:cs typeface="Times New Roman"/>
                <a:sym typeface="Times New Roman"/>
              </a:rPr>
              <a:t>Ф </a:t>
            </a:r>
            <a:r>
              <a:rPr lang="en" sz="2400">
                <a:latin typeface="Times New Roman"/>
                <a:ea typeface="Times New Roman"/>
                <a:cs typeface="Times New Roman"/>
                <a:sym typeface="Times New Roman"/>
              </a:rPr>
              <a:t>(-2+0.5X)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Here, X is the number of study hours. </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 sz="2400">
                <a:latin typeface="Times New Roman"/>
                <a:ea typeface="Times New Roman"/>
                <a:cs typeface="Times New Roman"/>
                <a:sym typeface="Times New Roman"/>
              </a:rPr>
              <a:t>To calculate the linear predictor For a student studying 4 hours:    z= -2 + 0.5(4)=0.</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lang="en" sz="2400">
                <a:latin typeface="Times New Roman"/>
                <a:ea typeface="Times New Roman"/>
                <a:cs typeface="Times New Roman"/>
                <a:sym typeface="Times New Roman"/>
              </a:rPr>
              <a:t> Apply the standard normal CDF : P(Pass=1 |  X=4)=</a:t>
            </a:r>
            <a:r>
              <a:rPr b="1" lang="en" sz="2400">
                <a:solidFill>
                  <a:schemeClr val="dk1"/>
                </a:solidFill>
                <a:latin typeface="Times New Roman"/>
                <a:ea typeface="Times New Roman"/>
                <a:cs typeface="Times New Roman"/>
                <a:sym typeface="Times New Roman"/>
              </a:rPr>
              <a:t>Ф</a:t>
            </a:r>
            <a:r>
              <a:rPr lang="en" sz="2400">
                <a:latin typeface="Times New Roman"/>
                <a:ea typeface="Times New Roman"/>
                <a:cs typeface="Times New Roman"/>
                <a:sym typeface="Times New Roman"/>
              </a:rPr>
              <a:t>(0)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From the standard normal distribution: </a:t>
            </a:r>
            <a:r>
              <a:rPr b="1" lang="en" sz="2400">
                <a:solidFill>
                  <a:schemeClr val="dk1"/>
                </a:solidFill>
                <a:latin typeface="Times New Roman"/>
                <a:ea typeface="Times New Roman"/>
                <a:cs typeface="Times New Roman"/>
                <a:sym typeface="Times New Roman"/>
              </a:rPr>
              <a:t>Ф</a:t>
            </a:r>
            <a:r>
              <a:rPr lang="en" sz="2400">
                <a:latin typeface="Times New Roman"/>
                <a:ea typeface="Times New Roman"/>
                <a:cs typeface="Times New Roman"/>
                <a:sym typeface="Times New Roman"/>
              </a:rPr>
              <a:t>(0)=0.50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Therefore, the estimated probability of passing is 50%.</a:t>
            </a:r>
            <a:endParaRPr sz="2400">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lang="en" sz="2400">
                <a:solidFill>
                  <a:schemeClr val="dk1"/>
                </a:solidFill>
                <a:latin typeface="Times New Roman"/>
                <a:ea typeface="Times New Roman"/>
                <a:cs typeface="Times New Roman"/>
                <a:sym typeface="Times New Roman"/>
              </a:rPr>
              <a:t>Logit &amp; Probit yield very similar results. Logit has slightly flatter tails, while Probit is preferred if you assume the underlying real-world traits are normally distributed.</a:t>
            </a:r>
            <a:endParaRPr sz="2400">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graphicFrame>
        <p:nvGraphicFramePr>
          <p:cNvPr id="195" name="Google Shape;195;p38"/>
          <p:cNvGraphicFramePr/>
          <p:nvPr/>
        </p:nvGraphicFramePr>
        <p:xfrm>
          <a:off x="166300" y="741900"/>
          <a:ext cx="3000000" cy="3000000"/>
        </p:xfrm>
        <a:graphic>
          <a:graphicData uri="http://schemas.openxmlformats.org/drawingml/2006/table">
            <a:tbl>
              <a:tblPr>
                <a:noFill/>
                <a:tableStyleId>{06FBA481-5394-4BA9-8518-3244690B3009}</a:tableStyleId>
              </a:tblPr>
              <a:tblGrid>
                <a:gridCol w="1834025"/>
                <a:gridCol w="2891425"/>
                <a:gridCol w="3265200"/>
              </a:tblGrid>
              <a:tr h="180975">
                <a:tc>
                  <a:txBody>
                    <a:bodyPr/>
                    <a:lstStyle/>
                    <a:p>
                      <a:pPr indent="0" lvl="0" marL="0" rtl="0" algn="ctr">
                        <a:lnSpc>
                          <a:spcPct val="115000"/>
                        </a:lnSpc>
                        <a:spcBef>
                          <a:spcPts val="0"/>
                        </a:spcBef>
                        <a:spcAft>
                          <a:spcPts val="0"/>
                        </a:spcAft>
                        <a:buNone/>
                      </a:pPr>
                      <a:r>
                        <a:rPr b="1" lang="en" sz="1800"/>
                        <a:t>Feature</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t>Logit Model</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t>Probit Model</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en" sz="1800"/>
                        <a:t>Functional Form</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Non-linear (Logistic CDF)</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Non-linear (Normal CDF)</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en" sz="1800"/>
                        <a:t>Probability Bounds</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Strictly bounded between </a:t>
                      </a:r>
                      <a:r>
                        <a:rPr b="1" lang="en" sz="1800"/>
                        <a:t>0 and 1</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Strictly bounded between </a:t>
                      </a:r>
                      <a:r>
                        <a:rPr b="1" lang="en" sz="1800"/>
                        <a:t>0 and 1</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80975">
                <a:tc>
                  <a:txBody>
                    <a:bodyPr/>
                    <a:lstStyle/>
                    <a:p>
                      <a:pPr indent="0" lvl="0" marL="0" rtl="0" algn="l">
                        <a:lnSpc>
                          <a:spcPct val="115000"/>
                        </a:lnSpc>
                        <a:spcBef>
                          <a:spcPts val="0"/>
                        </a:spcBef>
                        <a:spcAft>
                          <a:spcPts val="0"/>
                        </a:spcAft>
                        <a:buNone/>
                      </a:pPr>
                      <a:r>
                        <a:rPr b="1" lang="en" sz="1800"/>
                        <a:t>Interpretation</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Requires Odds Ratios</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Requires calculating marginal effects</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1450">
                <a:tc>
                  <a:txBody>
                    <a:bodyPr/>
                    <a:lstStyle/>
                    <a:p>
                      <a:pPr indent="0" lvl="0" marL="0" rtl="0" algn="l">
                        <a:lnSpc>
                          <a:spcPct val="115000"/>
                        </a:lnSpc>
                        <a:spcBef>
                          <a:spcPts val="0"/>
                        </a:spcBef>
                        <a:spcAft>
                          <a:spcPts val="0"/>
                        </a:spcAft>
                        <a:buNone/>
                      </a:pPr>
                      <a:r>
                        <a:rPr b="1" lang="en" sz="1800"/>
                        <a:t>Error Distribution</a:t>
                      </a:r>
                      <a:endParaRPr b="1"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Logistic distribution</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t>Standard Normal distribution</a:t>
                      </a:r>
                      <a:endParaRPr sz="18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9"/>
          <p:cNvSpPr txBox="1"/>
          <p:nvPr/>
        </p:nvSpPr>
        <p:spPr>
          <a:xfrm>
            <a:off x="415500" y="358175"/>
            <a:ext cx="8281200" cy="409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Mental and Neurological Disorders:</a:t>
            </a:r>
            <a:r>
              <a:rPr lang="en" sz="2400">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In healthcare, it can help researchers study the relationship between patient characteristics and the likelihood of a condition.</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Examples include: Estimating the risk of depression using questionnaire responses, Studying factors associated with neurological disorders, Predicting the likelihood of hospital readmission, Identifying patterns in patient data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These models support research and clinical decision-making; they do not replace diagnosis by qualified healthcare professionals.</a:t>
            </a:r>
            <a:r>
              <a:rPr lang="e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40"/>
          <p:cNvSpPr txBox="1"/>
          <p:nvPr/>
        </p:nvSpPr>
        <p:spPr>
          <a:xfrm>
            <a:off x="300875" y="224600"/>
            <a:ext cx="8396100" cy="4685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2400">
                <a:solidFill>
                  <a:schemeClr val="dk1"/>
                </a:solidFill>
                <a:latin typeface="Times New Roman"/>
                <a:ea typeface="Times New Roman"/>
                <a:cs typeface="Times New Roman"/>
                <a:sym typeface="Times New Roman"/>
              </a:rPr>
              <a:t>How can the Logit and Probit models be used?</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Suppose researchers want to study whether certain factors are associated with a medical condition.The dependent variable could be coded as: Y=1: Condition present, Y=0: Condition absent.</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Predictors might include age, sleep duration, lifestyle variables, or questionnaire scores, depending on the research question and available data. The model estimates the probability of the specified outcome given the predictors. A Probit Model serves a similar purpose but uses the standard normal cumulative distribution function instead.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1"/>
          <p:cNvSpPr txBox="1"/>
          <p:nvPr/>
        </p:nvSpPr>
        <p:spPr>
          <a:xfrm>
            <a:off x="180600" y="210600"/>
            <a:ext cx="8782800" cy="4722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n" sz="2400">
                <a:solidFill>
                  <a:schemeClr val="dk1"/>
                </a:solidFill>
                <a:latin typeface="Times New Roman"/>
                <a:ea typeface="Times New Roman"/>
                <a:cs typeface="Times New Roman"/>
                <a:sym typeface="Times New Roman"/>
              </a:rPr>
              <a:t>A logistic regression model could estimate how these variables are associated with the probability of meeting that screening threshold. </a:t>
            </a:r>
            <a:r>
              <a:rPr lang="en" sz="2400">
                <a:solidFill>
                  <a:schemeClr val="dk1"/>
                </a:solidFill>
                <a:latin typeface="Times New Roman"/>
                <a:ea typeface="Times New Roman"/>
                <a:cs typeface="Times New Roman"/>
                <a:sym typeface="Times New Roman"/>
              </a:rPr>
              <a:t>Researchers can study associations between patient characteristics and outcomes.Predictions should be validated and interpreted responsibly.</a:t>
            </a:r>
            <a:endParaRPr sz="2400">
              <a:solidFill>
                <a:schemeClr val="dk1"/>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None/>
            </a:pPr>
            <a:r>
              <a:rPr b="1" lang="en" sz="2400">
                <a:solidFill>
                  <a:schemeClr val="dk1"/>
                </a:solidFill>
                <a:latin typeface="Times New Roman"/>
                <a:ea typeface="Times New Roman"/>
                <a:cs typeface="Times New Roman"/>
                <a:sym typeface="Times New Roman"/>
              </a:rPr>
              <a:t>Limitations and Ethical Considerations:</a:t>
            </a:r>
            <a:endParaRPr b="1"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120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Protect patient privacy and confidentiality. </a:t>
            </a:r>
            <a:endParaRPr sz="2400">
              <a:solidFill>
                <a:schemeClr val="dk1"/>
              </a:solidFill>
              <a:latin typeface="Times New Roman"/>
              <a:ea typeface="Times New Roman"/>
              <a:cs typeface="Times New Roman"/>
              <a:sym typeface="Times New Roman"/>
            </a:endParaRPr>
          </a:p>
          <a:p>
            <a:pPr indent="-381000" lvl="0" marL="457200" marR="0" rtl="0" algn="l">
              <a:lnSpc>
                <a:spcPct val="100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Check data quality and model performance.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Avoid biased predictions caused by unrepresentative data.</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Distinguish statistical association from causation. </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Do not use a model's prediction as a substitute for professional diagnosis.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2"/>
          <p:cNvSpPr txBox="1"/>
          <p:nvPr/>
        </p:nvSpPr>
        <p:spPr>
          <a:xfrm>
            <a:off x="200575" y="200575"/>
            <a:ext cx="55161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Types of Data</a:t>
            </a:r>
            <a:endParaRPr b="1"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A. Cross-sectional data: </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Data collected from different entities at one point in time.Ex. Marks of 100 students in Semester 1.</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B. Time-series data: </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Data collected for one entity over multiple time periods. Ex. Monthly sales of one shop over 12 mts.</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C. Panel data: </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Data collected for multiple entities over multiple time periods. Ex. Monthly sales of 10 shops over 12 mts.</a:t>
            </a:r>
            <a:endParaRPr sz="2400">
              <a:solidFill>
                <a:schemeClr val="dk1"/>
              </a:solidFill>
              <a:latin typeface="Times New Roman"/>
              <a:ea typeface="Times New Roman"/>
              <a:cs typeface="Times New Roman"/>
              <a:sym typeface="Times New Roman"/>
            </a:endParaRPr>
          </a:p>
        </p:txBody>
      </p:sp>
      <p:pic>
        <p:nvPicPr>
          <p:cNvPr descr="Mastering Data Visualization with Python: An End-to-End Guide | by Nayeem Islam | Medium" id="216" name="Google Shape;216;p42"/>
          <p:cNvPicPr preferRelativeResize="0"/>
          <p:nvPr/>
        </p:nvPicPr>
        <p:blipFill>
          <a:blip r:embed="rId3">
            <a:alphaModFix/>
          </a:blip>
          <a:stretch>
            <a:fillRect/>
          </a:stretch>
        </p:blipFill>
        <p:spPr>
          <a:xfrm>
            <a:off x="5921650" y="1877538"/>
            <a:ext cx="2672201" cy="1550075"/>
          </a:xfrm>
          <a:prstGeom prst="rect">
            <a:avLst/>
          </a:prstGeom>
          <a:noFill/>
          <a:ln cap="flat" cmpd="sng" w="9525">
            <a:solidFill>
              <a:schemeClr val="dk1"/>
            </a:solidFill>
            <a:prstDash val="solid"/>
            <a:round/>
            <a:headEnd len="sm" w="sm" type="none"/>
            <a:tailEnd len="sm" w="sm" type="none"/>
          </a:ln>
        </p:spPr>
      </p:pic>
      <p:pic>
        <p:nvPicPr>
          <p:cNvPr id="217" name="Google Shape;217;p42"/>
          <p:cNvPicPr preferRelativeResize="0"/>
          <p:nvPr/>
        </p:nvPicPr>
        <p:blipFill>
          <a:blip r:embed="rId4">
            <a:alphaModFix/>
          </a:blip>
          <a:stretch>
            <a:fillRect/>
          </a:stretch>
        </p:blipFill>
        <p:spPr>
          <a:xfrm>
            <a:off x="5984000" y="3593438"/>
            <a:ext cx="2609850" cy="1550075"/>
          </a:xfrm>
          <a:prstGeom prst="rect">
            <a:avLst/>
          </a:prstGeom>
          <a:noFill/>
          <a:ln cap="flat" cmpd="sng" w="9525">
            <a:solidFill>
              <a:schemeClr val="dk1"/>
            </a:solidFill>
            <a:prstDash val="solid"/>
            <a:round/>
            <a:headEnd len="sm" w="sm" type="none"/>
            <a:tailEnd len="sm" w="sm" type="none"/>
          </a:ln>
        </p:spPr>
      </p:pic>
      <p:pic>
        <p:nvPicPr>
          <p:cNvPr id="218" name="Google Shape;218;p42"/>
          <p:cNvPicPr preferRelativeResize="0"/>
          <p:nvPr/>
        </p:nvPicPr>
        <p:blipFill>
          <a:blip r:embed="rId5">
            <a:alphaModFix/>
          </a:blip>
          <a:stretch>
            <a:fillRect/>
          </a:stretch>
        </p:blipFill>
        <p:spPr>
          <a:xfrm>
            <a:off x="5952825" y="200575"/>
            <a:ext cx="2609850" cy="14668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3"/>
          <p:cNvSpPr txBox="1"/>
          <p:nvPr>
            <p:ph idx="1" type="body"/>
          </p:nvPr>
        </p:nvSpPr>
        <p:spPr>
          <a:xfrm>
            <a:off x="265400" y="2439075"/>
            <a:ext cx="8606100" cy="231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Times New Roman"/>
                <a:ea typeface="Times New Roman"/>
                <a:cs typeface="Times New Roman"/>
                <a:sym typeface="Times New Roman"/>
              </a:rPr>
              <a:t>Panel Data Model?</a:t>
            </a:r>
            <a:endParaRPr b="1" sz="24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 sz="2400">
                <a:solidFill>
                  <a:schemeClr val="dk1"/>
                </a:solidFill>
                <a:latin typeface="Times New Roman"/>
                <a:ea typeface="Times New Roman"/>
                <a:cs typeface="Times New Roman"/>
                <a:sym typeface="Times New Roman"/>
              </a:rPr>
              <a:t>Panel data is a dataset that observes the same individuals, organizations or other entities over multiple time periods. A Panel Data Model is a statistical model used to analyze this data, helping us understand how outcomes change over time and how they differ between entities.</a:t>
            </a:r>
            <a:endParaRPr sz="2400">
              <a:latin typeface="Times New Roman"/>
              <a:ea typeface="Times New Roman"/>
              <a:cs typeface="Times New Roman"/>
              <a:sym typeface="Times New Roman"/>
            </a:endParaRPr>
          </a:p>
        </p:txBody>
      </p:sp>
      <p:graphicFrame>
        <p:nvGraphicFramePr>
          <p:cNvPr id="224" name="Google Shape;224;p43"/>
          <p:cNvGraphicFramePr/>
          <p:nvPr/>
        </p:nvGraphicFramePr>
        <p:xfrm>
          <a:off x="396450" y="344750"/>
          <a:ext cx="3000000" cy="3000000"/>
        </p:xfrm>
        <a:graphic>
          <a:graphicData uri="http://schemas.openxmlformats.org/drawingml/2006/table">
            <a:tbl>
              <a:tblPr>
                <a:noFill/>
                <a:tableStyleId>{4E31AA02-684E-4BD6-8366-59B88660C896}</a:tableStyleId>
              </a:tblPr>
              <a:tblGrid>
                <a:gridCol w="1228150"/>
                <a:gridCol w="2176350"/>
                <a:gridCol w="2517525"/>
                <a:gridCol w="2176325"/>
              </a:tblGrid>
              <a:tr h="381000">
                <a:tc>
                  <a:txBody>
                    <a:bodyPr/>
                    <a:lstStyle/>
                    <a:p>
                      <a:pPr indent="0" lvl="0" marL="0" rtl="0" algn="l">
                        <a:spcBef>
                          <a:spcPts val="0"/>
                        </a:spcBef>
                        <a:spcAft>
                          <a:spcPts val="0"/>
                        </a:spcAft>
                        <a:buNone/>
                      </a:pPr>
                      <a:r>
                        <a:rPr b="1" lang="en"/>
                        <a:t>Features</a:t>
                      </a:r>
                      <a:endParaRPr b="1"/>
                    </a:p>
                  </a:txBody>
                  <a:tcPr marT="91425" marB="91425" marR="91425" marL="91425"/>
                </a:tc>
                <a:tc>
                  <a:txBody>
                    <a:bodyPr/>
                    <a:lstStyle/>
                    <a:p>
                      <a:pPr indent="0" lvl="0" marL="0" rtl="0" algn="l">
                        <a:spcBef>
                          <a:spcPts val="0"/>
                        </a:spcBef>
                        <a:spcAft>
                          <a:spcPts val="0"/>
                        </a:spcAft>
                        <a:buNone/>
                      </a:pPr>
                      <a:r>
                        <a:rPr b="1" lang="en"/>
                        <a:t>Cross Sectional </a:t>
                      </a:r>
                      <a:endParaRPr b="1"/>
                    </a:p>
                  </a:txBody>
                  <a:tcPr marT="91425" marB="91425" marR="91425" marL="91425"/>
                </a:tc>
                <a:tc>
                  <a:txBody>
                    <a:bodyPr/>
                    <a:lstStyle/>
                    <a:p>
                      <a:pPr indent="0" lvl="0" marL="0" rtl="0" algn="l">
                        <a:spcBef>
                          <a:spcPts val="0"/>
                        </a:spcBef>
                        <a:spcAft>
                          <a:spcPts val="0"/>
                        </a:spcAft>
                        <a:buNone/>
                      </a:pPr>
                      <a:r>
                        <a:rPr b="1" lang="en"/>
                        <a:t>Time Series</a:t>
                      </a:r>
                      <a:endParaRPr b="1"/>
                    </a:p>
                  </a:txBody>
                  <a:tcPr marT="91425" marB="91425" marR="91425" marL="91425"/>
                </a:tc>
                <a:tc>
                  <a:txBody>
                    <a:bodyPr/>
                    <a:lstStyle/>
                    <a:p>
                      <a:pPr indent="0" lvl="0" marL="0" rtl="0" algn="l">
                        <a:spcBef>
                          <a:spcPts val="0"/>
                        </a:spcBef>
                        <a:spcAft>
                          <a:spcPts val="0"/>
                        </a:spcAft>
                        <a:buNone/>
                      </a:pPr>
                      <a:r>
                        <a:rPr b="1" lang="en"/>
                        <a:t>Panel Data</a:t>
                      </a:r>
                      <a:endParaRPr b="1"/>
                    </a:p>
                  </a:txBody>
                  <a:tcPr marT="91425" marB="91425" marR="91425" marL="91425"/>
                </a:tc>
              </a:tr>
              <a:tr h="381000">
                <a:tc>
                  <a:txBody>
                    <a:bodyPr/>
                    <a:lstStyle/>
                    <a:p>
                      <a:pPr indent="0" lvl="0" marL="0" rtl="0" algn="l">
                        <a:spcBef>
                          <a:spcPts val="0"/>
                        </a:spcBef>
                        <a:spcAft>
                          <a:spcPts val="0"/>
                        </a:spcAft>
                        <a:buNone/>
                      </a:pPr>
                      <a:r>
                        <a:rPr b="1" lang="en"/>
                        <a:t>Entities</a:t>
                      </a:r>
                      <a:endParaRPr b="1"/>
                    </a:p>
                  </a:txBody>
                  <a:tcPr marT="91425" marB="91425" marR="91425" marL="91425"/>
                </a:tc>
                <a:tc>
                  <a:txBody>
                    <a:bodyPr/>
                    <a:lstStyle/>
                    <a:p>
                      <a:pPr indent="0" lvl="0" marL="0" rtl="0" algn="l">
                        <a:spcBef>
                          <a:spcPts val="0"/>
                        </a:spcBef>
                        <a:spcAft>
                          <a:spcPts val="0"/>
                        </a:spcAft>
                        <a:buNone/>
                      </a:pPr>
                      <a:r>
                        <a:rPr lang="en"/>
                        <a:t>Many</a:t>
                      </a:r>
                      <a:endParaRPr/>
                    </a:p>
                  </a:txBody>
                  <a:tcPr marT="91425" marB="91425" marR="91425" marL="91425"/>
                </a:tc>
                <a:tc>
                  <a:txBody>
                    <a:bodyPr/>
                    <a:lstStyle/>
                    <a:p>
                      <a:pPr indent="0" lvl="0" marL="0" rtl="0" algn="l">
                        <a:spcBef>
                          <a:spcPts val="0"/>
                        </a:spcBef>
                        <a:spcAft>
                          <a:spcPts val="0"/>
                        </a:spcAft>
                        <a:buNone/>
                      </a:pPr>
                      <a:r>
                        <a:rPr lang="en"/>
                        <a:t>One</a:t>
                      </a:r>
                      <a:endParaRPr/>
                    </a:p>
                  </a:txBody>
                  <a:tcPr marT="91425" marB="91425" marR="91425" marL="91425"/>
                </a:tc>
                <a:tc>
                  <a:txBody>
                    <a:bodyPr/>
                    <a:lstStyle/>
                    <a:p>
                      <a:pPr indent="0" lvl="0" marL="0" rtl="0" algn="l">
                        <a:spcBef>
                          <a:spcPts val="0"/>
                        </a:spcBef>
                        <a:spcAft>
                          <a:spcPts val="0"/>
                        </a:spcAft>
                        <a:buNone/>
                      </a:pPr>
                      <a:r>
                        <a:rPr lang="en"/>
                        <a:t>Many</a:t>
                      </a:r>
                      <a:endParaRPr/>
                    </a:p>
                  </a:txBody>
                  <a:tcPr marT="91425" marB="91425" marR="91425" marL="91425"/>
                </a:tc>
              </a:tr>
              <a:tr h="381000">
                <a:tc>
                  <a:txBody>
                    <a:bodyPr/>
                    <a:lstStyle/>
                    <a:p>
                      <a:pPr indent="0" lvl="0" marL="0" rtl="0" algn="l">
                        <a:spcBef>
                          <a:spcPts val="0"/>
                        </a:spcBef>
                        <a:spcAft>
                          <a:spcPts val="0"/>
                        </a:spcAft>
                        <a:buNone/>
                      </a:pPr>
                      <a:r>
                        <a:rPr b="1" lang="en"/>
                        <a:t>Time Period</a:t>
                      </a:r>
                      <a:endParaRPr b="1"/>
                    </a:p>
                  </a:txBody>
                  <a:tcPr marT="91425" marB="91425" marR="91425" marL="91425"/>
                </a:tc>
                <a:tc>
                  <a:txBody>
                    <a:bodyPr/>
                    <a:lstStyle/>
                    <a:p>
                      <a:pPr indent="0" lvl="0" marL="0" rtl="0" algn="l">
                        <a:spcBef>
                          <a:spcPts val="0"/>
                        </a:spcBef>
                        <a:spcAft>
                          <a:spcPts val="0"/>
                        </a:spcAft>
                        <a:buNone/>
                      </a:pPr>
                      <a:r>
                        <a:rPr lang="en"/>
                        <a:t>One</a:t>
                      </a:r>
                      <a:endParaRPr/>
                    </a:p>
                  </a:txBody>
                  <a:tcPr marT="91425" marB="91425" marR="91425" marL="91425"/>
                </a:tc>
                <a:tc>
                  <a:txBody>
                    <a:bodyPr/>
                    <a:lstStyle/>
                    <a:p>
                      <a:pPr indent="0" lvl="0" marL="0" rtl="0" algn="l">
                        <a:spcBef>
                          <a:spcPts val="0"/>
                        </a:spcBef>
                        <a:spcAft>
                          <a:spcPts val="0"/>
                        </a:spcAft>
                        <a:buNone/>
                      </a:pPr>
                      <a:r>
                        <a:rPr lang="en"/>
                        <a:t>Many</a:t>
                      </a:r>
                      <a:endParaRPr/>
                    </a:p>
                  </a:txBody>
                  <a:tcPr marT="91425" marB="91425" marR="91425" marL="91425"/>
                </a:tc>
                <a:tc>
                  <a:txBody>
                    <a:bodyPr/>
                    <a:lstStyle/>
                    <a:p>
                      <a:pPr indent="0" lvl="0" marL="0" rtl="0" algn="l">
                        <a:spcBef>
                          <a:spcPts val="0"/>
                        </a:spcBef>
                        <a:spcAft>
                          <a:spcPts val="0"/>
                        </a:spcAft>
                        <a:buNone/>
                      </a:pPr>
                      <a:r>
                        <a:rPr lang="en"/>
                        <a:t>Many</a:t>
                      </a:r>
                      <a:endParaRPr/>
                    </a:p>
                  </a:txBody>
                  <a:tcPr marT="91425" marB="91425" marR="91425" marL="91425"/>
                </a:tc>
              </a:tr>
              <a:tr h="381000">
                <a:tc>
                  <a:txBody>
                    <a:bodyPr/>
                    <a:lstStyle/>
                    <a:p>
                      <a:pPr indent="0" lvl="0" marL="0" rtl="0" algn="l">
                        <a:spcBef>
                          <a:spcPts val="0"/>
                        </a:spcBef>
                        <a:spcAft>
                          <a:spcPts val="0"/>
                        </a:spcAft>
                        <a:buNone/>
                      </a:pPr>
                      <a:r>
                        <a:rPr b="1" lang="en"/>
                        <a:t>Example</a:t>
                      </a:r>
                      <a:endParaRPr b="1"/>
                    </a:p>
                  </a:txBody>
                  <a:tcPr marT="91425" marB="91425" marR="91425" marL="91425"/>
                </a:tc>
                <a:tc>
                  <a:txBody>
                    <a:bodyPr/>
                    <a:lstStyle/>
                    <a:p>
                      <a:pPr indent="0" lvl="0" marL="0" rtl="0" algn="l">
                        <a:spcBef>
                          <a:spcPts val="0"/>
                        </a:spcBef>
                        <a:spcAft>
                          <a:spcPts val="0"/>
                        </a:spcAft>
                        <a:buNone/>
                      </a:pPr>
                      <a:r>
                        <a:rPr lang="en"/>
                        <a:t>100 students in one semester </a:t>
                      </a:r>
                      <a:endParaRPr/>
                    </a:p>
                  </a:txBody>
                  <a:tcPr marT="91425" marB="91425" marR="91425" marL="91425"/>
                </a:tc>
                <a:tc>
                  <a:txBody>
                    <a:bodyPr/>
                    <a:lstStyle/>
                    <a:p>
                      <a:pPr indent="0" lvl="0" marL="0" rtl="0" algn="l">
                        <a:spcBef>
                          <a:spcPts val="0"/>
                        </a:spcBef>
                        <a:spcAft>
                          <a:spcPts val="0"/>
                        </a:spcAft>
                        <a:buNone/>
                      </a:pPr>
                      <a:r>
                        <a:rPr lang="en"/>
                        <a:t>One student's marks across semesters </a:t>
                      </a:r>
                      <a:endParaRPr/>
                    </a:p>
                  </a:txBody>
                  <a:tcPr marT="91425" marB="91425" marR="91425" marL="91425"/>
                </a:tc>
                <a:tc>
                  <a:txBody>
                    <a:bodyPr/>
                    <a:lstStyle/>
                    <a:p>
                      <a:pPr indent="0" lvl="0" marL="0" rtl="0" algn="l">
                        <a:lnSpc>
                          <a:spcPct val="115000"/>
                        </a:lnSpc>
                        <a:spcBef>
                          <a:spcPts val="1200"/>
                        </a:spcBef>
                        <a:spcAft>
                          <a:spcPts val="1200"/>
                        </a:spcAft>
                        <a:buNone/>
                      </a:pPr>
                      <a:r>
                        <a:rPr lang="en"/>
                        <a:t>Many students across semesters</a:t>
                      </a:r>
                      <a:endParaRPr/>
                    </a:p>
                  </a:txBody>
                  <a:tcPr marT="91425" marB="91425" marR="91425" marL="91425"/>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4"/>
          <p:cNvSpPr txBox="1"/>
          <p:nvPr/>
        </p:nvSpPr>
        <p:spPr>
          <a:xfrm>
            <a:off x="171925" y="229225"/>
            <a:ext cx="8812800" cy="495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Structure of a Panel Data Model: </a:t>
            </a:r>
            <a:r>
              <a:rPr lang="en" sz="2400">
                <a:solidFill>
                  <a:schemeClr val="dk1"/>
                </a:solidFill>
                <a:latin typeface="Times New Roman"/>
                <a:ea typeface="Times New Roman"/>
                <a:cs typeface="Times New Roman"/>
                <a:sym typeface="Times New Roman"/>
              </a:rPr>
              <a:t>A simple panel regression model can be represented as:           Y</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a:t>
            </a: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X</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 ∝</a:t>
            </a:r>
            <a:r>
              <a:rPr baseline="-25000" lang="en" sz="2400">
                <a:solidFill>
                  <a:schemeClr val="dk1"/>
                </a:solidFill>
                <a:latin typeface="Times New Roman"/>
                <a:ea typeface="Times New Roman"/>
                <a:cs typeface="Times New Roman"/>
                <a:sym typeface="Times New Roman"/>
              </a:rPr>
              <a:t>i</a:t>
            </a:r>
            <a:r>
              <a:rPr lang="en" sz="2400">
                <a:solidFill>
                  <a:schemeClr val="dk1"/>
                </a:solidFill>
                <a:latin typeface="Times New Roman"/>
                <a:ea typeface="Times New Roman"/>
                <a:cs typeface="Times New Roman"/>
                <a:sym typeface="Times New Roman"/>
              </a:rPr>
              <a:t>+Ɛ</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Where: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Y</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outcome for entity i at time t, such as student marks.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X</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predictor for entity i at time t, such as study hours.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 intercept.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β</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estimated relationship between the predictor and outcome.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a:t>
            </a:r>
            <a:r>
              <a:rPr baseline="-25000" lang="en" sz="2400">
                <a:solidFill>
                  <a:schemeClr val="dk1"/>
                </a:solidFill>
                <a:latin typeface="Times New Roman"/>
                <a:ea typeface="Times New Roman"/>
                <a:cs typeface="Times New Roman"/>
                <a:sym typeface="Times New Roman"/>
              </a:rPr>
              <a:t>i</a:t>
            </a:r>
            <a:r>
              <a:rPr lang="en" sz="2400">
                <a:solidFill>
                  <a:schemeClr val="dk1"/>
                </a:solidFill>
                <a:latin typeface="Times New Roman"/>
                <a:ea typeface="Times New Roman"/>
                <a:cs typeface="Times New Roman"/>
                <a:sym typeface="Times New Roman"/>
              </a:rPr>
              <a:t>: entity-specific effect, such as a student's relatively stable characteristics. </a:t>
            </a:r>
            <a:r>
              <a:rPr lang="en" sz="2400">
                <a:solidFill>
                  <a:schemeClr val="dk1"/>
                </a:solidFill>
                <a:latin typeface="Times New Roman"/>
                <a:ea typeface="Times New Roman"/>
                <a:cs typeface="Times New Roman"/>
                <a:sym typeface="Times New Roman"/>
              </a:rPr>
              <a:t>The entity-specific effect</a:t>
            </a:r>
            <a:r>
              <a:rPr b="1" lang="en" sz="2400">
                <a:solidFill>
                  <a:schemeClr val="dk1"/>
                </a:solidFill>
                <a:latin typeface="Times New Roman"/>
                <a:ea typeface="Times New Roman"/>
                <a:cs typeface="Times New Roman"/>
                <a:sym typeface="Times New Roman"/>
              </a:rPr>
              <a:t> ∝</a:t>
            </a:r>
            <a:r>
              <a:rPr b="1" baseline="-25000" lang="en" sz="2400">
                <a:solidFill>
                  <a:schemeClr val="dk1"/>
                </a:solidFill>
                <a:latin typeface="Times New Roman"/>
                <a:ea typeface="Times New Roman"/>
                <a:cs typeface="Times New Roman"/>
                <a:sym typeface="Times New Roman"/>
              </a:rPr>
              <a:t>i</a:t>
            </a:r>
            <a:r>
              <a:rPr lang="en" sz="2400">
                <a:solidFill>
                  <a:schemeClr val="dk1"/>
                </a:solidFill>
                <a:latin typeface="Times New Roman"/>
                <a:ea typeface="Times New Roman"/>
                <a:cs typeface="Times New Roman"/>
                <a:sym typeface="Times New Roman"/>
              </a:rPr>
              <a:t> helps us account for characteristics that differ between students but remain relatively stable over time.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Ɛ</a:t>
            </a:r>
            <a:r>
              <a:rPr baseline="-25000" lang="en" sz="24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Error Term.</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5"/>
          <p:cNvSpPr txBox="1"/>
          <p:nvPr/>
        </p:nvSpPr>
        <p:spPr>
          <a:xfrm>
            <a:off x="223650" y="200575"/>
            <a:ext cx="8920500" cy="4760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 sz="2300">
                <a:latin typeface="Times New Roman"/>
                <a:ea typeface="Times New Roman"/>
                <a:cs typeface="Times New Roman"/>
                <a:sym typeface="Times New Roman"/>
              </a:rPr>
              <a:t>                     In the Panel Data model : </a:t>
            </a:r>
            <a:r>
              <a:rPr lang="en" sz="2300">
                <a:solidFill>
                  <a:schemeClr val="dk1"/>
                </a:solidFill>
                <a:latin typeface="Times New Roman"/>
                <a:ea typeface="Times New Roman"/>
                <a:cs typeface="Times New Roman"/>
                <a:sym typeface="Times New Roman"/>
              </a:rPr>
              <a:t>Y</a:t>
            </a:r>
            <a:r>
              <a:rPr baseline="-25000" lang="en" sz="2300">
                <a:solidFill>
                  <a:schemeClr val="dk1"/>
                </a:solidFill>
                <a:latin typeface="Times New Roman"/>
                <a:ea typeface="Times New Roman"/>
                <a:cs typeface="Times New Roman"/>
                <a:sym typeface="Times New Roman"/>
              </a:rPr>
              <a:t>it</a:t>
            </a:r>
            <a:r>
              <a:rPr lang="en" sz="2300">
                <a:solidFill>
                  <a:schemeClr val="dk1"/>
                </a:solidFill>
                <a:latin typeface="Times New Roman"/>
                <a:ea typeface="Times New Roman"/>
                <a:cs typeface="Times New Roman"/>
                <a:sym typeface="Times New Roman"/>
              </a:rPr>
              <a:t>=β</a:t>
            </a:r>
            <a:r>
              <a:rPr baseline="-25000" lang="en" sz="2300">
                <a:solidFill>
                  <a:schemeClr val="dk1"/>
                </a:solidFill>
                <a:latin typeface="Times New Roman"/>
                <a:ea typeface="Times New Roman"/>
                <a:cs typeface="Times New Roman"/>
                <a:sym typeface="Times New Roman"/>
              </a:rPr>
              <a:t>0</a:t>
            </a:r>
            <a:r>
              <a:rPr lang="en" sz="2300">
                <a:solidFill>
                  <a:schemeClr val="dk1"/>
                </a:solidFill>
                <a:latin typeface="Times New Roman"/>
                <a:ea typeface="Times New Roman"/>
                <a:cs typeface="Times New Roman"/>
                <a:sym typeface="Times New Roman"/>
              </a:rPr>
              <a:t>+β</a:t>
            </a:r>
            <a:r>
              <a:rPr baseline="-25000" lang="en" sz="2300">
                <a:solidFill>
                  <a:schemeClr val="dk1"/>
                </a:solidFill>
                <a:latin typeface="Times New Roman"/>
                <a:ea typeface="Times New Roman"/>
                <a:cs typeface="Times New Roman"/>
                <a:sym typeface="Times New Roman"/>
              </a:rPr>
              <a:t>1</a:t>
            </a:r>
            <a:r>
              <a:rPr lang="en" sz="2300">
                <a:solidFill>
                  <a:schemeClr val="dk1"/>
                </a:solidFill>
                <a:latin typeface="Times New Roman"/>
                <a:ea typeface="Times New Roman"/>
                <a:cs typeface="Times New Roman"/>
                <a:sym typeface="Times New Roman"/>
              </a:rPr>
              <a:t>X</a:t>
            </a:r>
            <a:r>
              <a:rPr baseline="-25000" lang="en" sz="2300">
                <a:solidFill>
                  <a:schemeClr val="dk1"/>
                </a:solidFill>
                <a:latin typeface="Times New Roman"/>
                <a:ea typeface="Times New Roman"/>
                <a:cs typeface="Times New Roman"/>
                <a:sym typeface="Times New Roman"/>
              </a:rPr>
              <a:t>it</a:t>
            </a:r>
            <a:r>
              <a:rPr lang="en" sz="2300">
                <a:solidFill>
                  <a:schemeClr val="dk1"/>
                </a:solidFill>
                <a:latin typeface="Times New Roman"/>
                <a:ea typeface="Times New Roman"/>
                <a:cs typeface="Times New Roman"/>
                <a:sym typeface="Times New Roman"/>
              </a:rPr>
              <a:t> + ∝</a:t>
            </a:r>
            <a:r>
              <a:rPr baseline="-25000" lang="en" sz="2300">
                <a:solidFill>
                  <a:schemeClr val="dk1"/>
                </a:solidFill>
                <a:latin typeface="Times New Roman"/>
                <a:ea typeface="Times New Roman"/>
                <a:cs typeface="Times New Roman"/>
                <a:sym typeface="Times New Roman"/>
              </a:rPr>
              <a:t>i</a:t>
            </a:r>
            <a:r>
              <a:rPr lang="en" sz="2300">
                <a:solidFill>
                  <a:schemeClr val="dk1"/>
                </a:solidFill>
                <a:latin typeface="Times New Roman"/>
                <a:ea typeface="Times New Roman"/>
                <a:cs typeface="Times New Roman"/>
                <a:sym typeface="Times New Roman"/>
              </a:rPr>
              <a:t>+Ɛ</a:t>
            </a:r>
            <a:r>
              <a:rPr baseline="-25000" lang="en" sz="2300">
                <a:solidFill>
                  <a:schemeClr val="dk1"/>
                </a:solidFill>
                <a:latin typeface="Times New Roman"/>
                <a:ea typeface="Times New Roman"/>
                <a:cs typeface="Times New Roman"/>
                <a:sym typeface="Times New Roman"/>
              </a:rPr>
              <a:t>it</a:t>
            </a:r>
            <a:r>
              <a:rPr lang="en" sz="2300">
                <a:latin typeface="Times New Roman"/>
                <a:ea typeface="Times New Roman"/>
                <a:cs typeface="Times New Roman"/>
                <a:sym typeface="Times New Roman"/>
              </a:rPr>
              <a:t>   </a:t>
            </a:r>
            <a:r>
              <a:rPr b="1" lang="en" sz="2300">
                <a:latin typeface="Times New Roman"/>
                <a:ea typeface="Times New Roman"/>
                <a:cs typeface="Times New Roman"/>
                <a:sym typeface="Times New Roman"/>
              </a:rPr>
              <a:t>     </a:t>
            </a:r>
            <a:endParaRPr b="1" sz="23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b="1" lang="en" sz="2300">
                <a:latin typeface="Times New Roman"/>
                <a:ea typeface="Times New Roman"/>
                <a:cs typeface="Times New Roman"/>
                <a:sym typeface="Times New Roman"/>
              </a:rPr>
              <a:t>The entity-specific effect </a:t>
            </a:r>
            <a:r>
              <a:rPr b="1" lang="en" sz="2300">
                <a:solidFill>
                  <a:schemeClr val="dk1"/>
                </a:solidFill>
                <a:latin typeface="Times New Roman"/>
                <a:ea typeface="Times New Roman"/>
                <a:cs typeface="Times New Roman"/>
                <a:sym typeface="Times New Roman"/>
              </a:rPr>
              <a:t>∝</a:t>
            </a:r>
            <a:r>
              <a:rPr b="1" baseline="-25000" lang="en" sz="2300">
                <a:solidFill>
                  <a:schemeClr val="dk1"/>
                </a:solidFill>
                <a:latin typeface="Times New Roman"/>
                <a:ea typeface="Times New Roman"/>
                <a:cs typeface="Times New Roman"/>
                <a:sym typeface="Times New Roman"/>
              </a:rPr>
              <a:t>i</a:t>
            </a:r>
            <a:r>
              <a:rPr lang="en" sz="2300">
                <a:latin typeface="Times New Roman"/>
                <a:ea typeface="Times New Roman"/>
                <a:cs typeface="Times New Roman"/>
                <a:sym typeface="Times New Roman"/>
              </a:rPr>
              <a:t> represents the unique, time-invariant characteristics of a specific cross-sectional unit (such as a person, firm, state, or country) that do not change over time helps us account for characteristics that differ between students but remain relatively stable over time. </a:t>
            </a:r>
            <a:r>
              <a:rPr lang="en" sz="2300">
                <a:solidFill>
                  <a:schemeClr val="dk1"/>
                </a:solidFill>
                <a:latin typeface="Times New Roman"/>
                <a:ea typeface="Times New Roman"/>
                <a:cs typeface="Times New Roman"/>
                <a:sym typeface="Times New Roman"/>
              </a:rPr>
              <a:t>These effects absorb all </a:t>
            </a:r>
            <a:r>
              <a:rPr b="1" lang="en" sz="2300">
                <a:solidFill>
                  <a:schemeClr val="dk1"/>
                </a:solidFill>
                <a:latin typeface="Times New Roman"/>
                <a:ea typeface="Times New Roman"/>
                <a:cs typeface="Times New Roman"/>
                <a:sym typeface="Times New Roman"/>
              </a:rPr>
              <a:t>unobserved factors that are constant over time</a:t>
            </a:r>
            <a:r>
              <a:rPr lang="en" sz="2300">
                <a:solidFill>
                  <a:schemeClr val="dk1"/>
                </a:solidFill>
                <a:latin typeface="Times New Roman"/>
                <a:ea typeface="Times New Roman"/>
                <a:cs typeface="Times New Roman"/>
                <a:sym typeface="Times New Roman"/>
              </a:rPr>
              <a:t> for a given entity, such as:</a:t>
            </a:r>
            <a:endParaRPr sz="2300">
              <a:solidFill>
                <a:schemeClr val="dk1"/>
              </a:solidFill>
              <a:latin typeface="Times New Roman"/>
              <a:ea typeface="Times New Roman"/>
              <a:cs typeface="Times New Roman"/>
              <a:sym typeface="Times New Roman"/>
            </a:endParaRPr>
          </a:p>
          <a:p>
            <a:pPr indent="-374650" lvl="0" marL="457200" rtl="0" algn="l">
              <a:lnSpc>
                <a:spcPct val="115000"/>
              </a:lnSpc>
              <a:spcBef>
                <a:spcPts val="900"/>
              </a:spcBef>
              <a:spcAft>
                <a:spcPts val="0"/>
              </a:spcAft>
              <a:buClr>
                <a:schemeClr val="dk1"/>
              </a:buClr>
              <a:buSzPts val="2300"/>
              <a:buChar char="●"/>
            </a:pPr>
            <a:r>
              <a:rPr b="1" lang="en" sz="2300">
                <a:solidFill>
                  <a:schemeClr val="dk1"/>
                </a:solidFill>
                <a:latin typeface="Times New Roman"/>
                <a:ea typeface="Times New Roman"/>
                <a:cs typeface="Times New Roman"/>
                <a:sym typeface="Times New Roman"/>
              </a:rPr>
              <a:t>For firms:</a:t>
            </a:r>
            <a:r>
              <a:rPr lang="en" sz="2300">
                <a:solidFill>
                  <a:schemeClr val="dk1"/>
                </a:solidFill>
                <a:latin typeface="Times New Roman"/>
                <a:ea typeface="Times New Roman"/>
                <a:cs typeface="Times New Roman"/>
                <a:sym typeface="Times New Roman"/>
              </a:rPr>
              <a:t> Corporate culture, management quality, brand equity or initial location.</a:t>
            </a:r>
            <a:endParaRPr sz="2300">
              <a:solidFill>
                <a:schemeClr val="dk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dk1"/>
              </a:buClr>
              <a:buSzPts val="2300"/>
              <a:buChar char="●"/>
            </a:pPr>
            <a:r>
              <a:rPr b="1" lang="en" sz="2300">
                <a:solidFill>
                  <a:schemeClr val="dk1"/>
                </a:solidFill>
                <a:latin typeface="Times New Roman"/>
                <a:ea typeface="Times New Roman"/>
                <a:cs typeface="Times New Roman"/>
                <a:sym typeface="Times New Roman"/>
              </a:rPr>
              <a:t>For countries:</a:t>
            </a:r>
            <a:r>
              <a:rPr lang="en" sz="2300">
                <a:solidFill>
                  <a:schemeClr val="dk1"/>
                </a:solidFill>
                <a:latin typeface="Times New Roman"/>
                <a:ea typeface="Times New Roman"/>
                <a:cs typeface="Times New Roman"/>
                <a:sym typeface="Times New Roman"/>
              </a:rPr>
              <a:t> Historical background, institutional structure, geography or baseline political systems.</a:t>
            </a:r>
            <a:endParaRPr sz="2300">
              <a:solidFill>
                <a:schemeClr val="dk1"/>
              </a:solidFill>
              <a:latin typeface="Times New Roman"/>
              <a:ea typeface="Times New Roman"/>
              <a:cs typeface="Times New Roman"/>
              <a:sym typeface="Times New Roman"/>
            </a:endParaRPr>
          </a:p>
          <a:p>
            <a:pPr indent="-374650" lvl="0" marL="457200" rtl="0" algn="l">
              <a:lnSpc>
                <a:spcPct val="115000"/>
              </a:lnSpc>
              <a:spcBef>
                <a:spcPts val="0"/>
              </a:spcBef>
              <a:spcAft>
                <a:spcPts val="0"/>
              </a:spcAft>
              <a:buClr>
                <a:schemeClr val="dk1"/>
              </a:buClr>
              <a:buSzPts val="2300"/>
              <a:buChar char="●"/>
            </a:pPr>
            <a:r>
              <a:rPr b="1" lang="en" sz="2300">
                <a:solidFill>
                  <a:schemeClr val="dk1"/>
                </a:solidFill>
                <a:latin typeface="Times New Roman"/>
                <a:ea typeface="Times New Roman"/>
                <a:cs typeface="Times New Roman"/>
                <a:sym typeface="Times New Roman"/>
              </a:rPr>
              <a:t>For individuals:</a:t>
            </a:r>
            <a:r>
              <a:rPr lang="en" sz="2300">
                <a:solidFill>
                  <a:schemeClr val="dk1"/>
                </a:solidFill>
                <a:latin typeface="Times New Roman"/>
                <a:ea typeface="Times New Roman"/>
                <a:cs typeface="Times New Roman"/>
                <a:sym typeface="Times New Roman"/>
              </a:rPr>
              <a:t> Innate ability, background or long-term preferences.</a:t>
            </a:r>
            <a:endParaRPr sz="23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6"/>
          <p:cNvSpPr txBox="1"/>
          <p:nvPr/>
        </p:nvSpPr>
        <p:spPr>
          <a:xfrm>
            <a:off x="243575" y="158900"/>
            <a:ext cx="87825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Fixed Effects and Random Effects models handle these effects differently. </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2400">
                <a:latin typeface="Times New Roman"/>
                <a:ea typeface="Times New Roman"/>
                <a:cs typeface="Times New Roman"/>
                <a:sym typeface="Times New Roman"/>
              </a:rPr>
              <a:t>Why Do We Use Panel Data Models?</a:t>
            </a:r>
            <a:endParaRPr b="1"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b="1" lang="en" sz="2400">
                <a:latin typeface="Times New Roman"/>
                <a:ea typeface="Times New Roman"/>
                <a:cs typeface="Times New Roman"/>
                <a:sym typeface="Times New Roman"/>
              </a:rPr>
              <a:t>Study changes over time</a:t>
            </a:r>
            <a:r>
              <a:rPr lang="en" sz="2400">
                <a:latin typeface="Times New Roman"/>
                <a:ea typeface="Times New Roman"/>
                <a:cs typeface="Times New Roman"/>
                <a:sym typeface="Times New Roman"/>
              </a:rPr>
              <a:t>: Examine how student marks change across semesters.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b="1" lang="en" sz="2400">
                <a:latin typeface="Times New Roman"/>
                <a:ea typeface="Times New Roman"/>
                <a:cs typeface="Times New Roman"/>
                <a:sym typeface="Times New Roman"/>
              </a:rPr>
              <a:t>Compare entities:</a:t>
            </a:r>
            <a:r>
              <a:rPr lang="en" sz="2400">
                <a:latin typeface="Times New Roman"/>
                <a:ea typeface="Times New Roman"/>
                <a:cs typeface="Times New Roman"/>
                <a:sym typeface="Times New Roman"/>
              </a:rPr>
              <a:t> Compare students, colleges, hospitals, companies or countries.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b="1" lang="en" sz="2400">
                <a:latin typeface="Times New Roman"/>
                <a:ea typeface="Times New Roman"/>
                <a:cs typeface="Times New Roman"/>
                <a:sym typeface="Times New Roman"/>
              </a:rPr>
              <a:t>Account for individual differences:</a:t>
            </a:r>
            <a:r>
              <a:rPr lang="en" sz="2400">
                <a:latin typeface="Times New Roman"/>
                <a:ea typeface="Times New Roman"/>
                <a:cs typeface="Times New Roman"/>
                <a:sym typeface="Times New Roman"/>
              </a:rPr>
              <a:t> Some students may perform better consistently for reasons not fully captured by study hours.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b="1" lang="en" sz="2400">
                <a:latin typeface="Times New Roman"/>
                <a:ea typeface="Times New Roman"/>
                <a:cs typeface="Times New Roman"/>
                <a:sym typeface="Times New Roman"/>
              </a:rPr>
              <a:t>Use more information:</a:t>
            </a:r>
            <a:r>
              <a:rPr lang="en" sz="2400">
                <a:latin typeface="Times New Roman"/>
                <a:ea typeface="Times New Roman"/>
                <a:cs typeface="Times New Roman"/>
                <a:sym typeface="Times New Roman"/>
              </a:rPr>
              <a:t> Combining entities and time periods can provide richer information than using only one cross-section.</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AutoNum type="arabicPeriod"/>
            </a:pPr>
            <a:r>
              <a:rPr b="1" lang="en" sz="2400">
                <a:latin typeface="Times New Roman"/>
                <a:ea typeface="Times New Roman"/>
                <a:cs typeface="Times New Roman"/>
                <a:sym typeface="Times New Roman"/>
              </a:rPr>
              <a:t>Support decisions: </a:t>
            </a:r>
            <a:r>
              <a:rPr lang="en" sz="2400">
                <a:latin typeface="Times New Roman"/>
                <a:ea typeface="Times New Roman"/>
                <a:cs typeface="Times New Roman"/>
                <a:sym typeface="Times New Roman"/>
              </a:rPr>
              <a:t>Colleges can identify performance trends and evaluate whether interventions are associated with improvement.</a:t>
            </a:r>
            <a:endParaRPr sz="24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7"/>
          <p:cNvSpPr txBox="1"/>
          <p:nvPr/>
        </p:nvSpPr>
        <p:spPr>
          <a:xfrm>
            <a:off x="218100" y="300875"/>
            <a:ext cx="89259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dk1"/>
                </a:solidFill>
                <a:latin typeface="Times New Roman"/>
                <a:ea typeface="Times New Roman"/>
                <a:cs typeface="Times New Roman"/>
                <a:sym typeface="Times New Roman"/>
              </a:rPr>
              <a:t>Types of Panel Data Model:</a:t>
            </a:r>
            <a:endParaRPr b="1" sz="23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300">
                <a:solidFill>
                  <a:schemeClr val="dk1"/>
                </a:solidFill>
                <a:latin typeface="Times New Roman"/>
                <a:ea typeface="Times New Roman"/>
                <a:cs typeface="Times New Roman"/>
                <a:sym typeface="Times New Roman"/>
              </a:rPr>
              <a:t>Models handle these effects differently. </a:t>
            </a:r>
            <a:endParaRPr sz="2300">
              <a:solidFill>
                <a:schemeClr val="dk1"/>
              </a:solidFill>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AutoNum type="arabicPeriod"/>
            </a:pPr>
            <a:r>
              <a:rPr lang="en" sz="2300">
                <a:solidFill>
                  <a:schemeClr val="dk1"/>
                </a:solidFill>
                <a:latin typeface="Times New Roman"/>
                <a:ea typeface="Times New Roman"/>
                <a:cs typeface="Times New Roman"/>
                <a:sym typeface="Times New Roman"/>
              </a:rPr>
              <a:t>Fixed Effects (FE) Model ("Within" Model) </a:t>
            </a:r>
            <a:endParaRPr sz="2300">
              <a:solidFill>
                <a:schemeClr val="dk1"/>
              </a:solidFill>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AutoNum type="arabicPeriod"/>
            </a:pPr>
            <a:r>
              <a:rPr lang="en" sz="2300">
                <a:solidFill>
                  <a:schemeClr val="dk1"/>
                </a:solidFill>
                <a:latin typeface="Times New Roman"/>
                <a:ea typeface="Times New Roman"/>
                <a:cs typeface="Times New Roman"/>
                <a:sym typeface="Times New Roman"/>
              </a:rPr>
              <a:t>Random Effects (RE) Model </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Fixed Effects Model?</a:t>
            </a:r>
            <a:endParaRPr b="1"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A Fixed Effects Model (FEM) is a panel data model that accounts for differences between entities that remain constant over time. These differences may include a student's natural ability, a company's mgmt. culture or a hospital's permanent infrastructure characteristics.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Example: Suppose we want to study whether additional study hours improve students' marks over three semesters. Some students may consistently score higher because of their existing abilities.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8"/>
          <p:cNvSpPr txBox="1"/>
          <p:nvPr/>
        </p:nvSpPr>
        <p:spPr>
          <a:xfrm>
            <a:off x="315950" y="176925"/>
            <a:ext cx="6116400" cy="394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A Fixed Effects Model accounts for these stable differences when estimating the </a:t>
            </a:r>
            <a:r>
              <a:rPr b="1" lang="en" sz="2400">
                <a:solidFill>
                  <a:schemeClr val="dk1"/>
                </a:solidFill>
                <a:latin typeface="Times New Roman"/>
                <a:ea typeface="Times New Roman"/>
                <a:cs typeface="Times New Roman"/>
                <a:sym typeface="Times New Roman"/>
              </a:rPr>
              <a:t>relationship between study hours and marks.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Both students improve as their study hours increase, but Student B consistently scores 10 marks more than Student A. A </a:t>
            </a:r>
            <a:r>
              <a:rPr b="1" lang="en" sz="2400">
                <a:solidFill>
                  <a:schemeClr val="dk1"/>
                </a:solidFill>
                <a:latin typeface="Times New Roman"/>
                <a:ea typeface="Times New Roman"/>
                <a:cs typeface="Times New Roman"/>
                <a:sym typeface="Times New Roman"/>
              </a:rPr>
              <a:t>basic regression</a:t>
            </a:r>
            <a:r>
              <a:rPr lang="en" sz="2400">
                <a:solidFill>
                  <a:schemeClr val="dk1"/>
                </a:solidFill>
                <a:latin typeface="Times New Roman"/>
                <a:ea typeface="Times New Roman"/>
                <a:cs typeface="Times New Roman"/>
                <a:sym typeface="Times New Roman"/>
              </a:rPr>
              <a:t> might overlook stable differences between the students. Fixed Effects accounts for those student-specific differences.</a:t>
            </a:r>
            <a:endParaRPr sz="2400">
              <a:solidFill>
                <a:schemeClr val="dk1"/>
              </a:solidFill>
              <a:latin typeface="Times New Roman"/>
              <a:ea typeface="Times New Roman"/>
              <a:cs typeface="Times New Roman"/>
              <a:sym typeface="Times New Roman"/>
            </a:endParaRPr>
          </a:p>
        </p:txBody>
      </p:sp>
      <p:graphicFrame>
        <p:nvGraphicFramePr>
          <p:cNvPr id="250" name="Google Shape;250;p48"/>
          <p:cNvGraphicFramePr/>
          <p:nvPr/>
        </p:nvGraphicFramePr>
        <p:xfrm>
          <a:off x="6610250" y="354625"/>
          <a:ext cx="3000000" cy="3000000"/>
        </p:xfrm>
        <a:graphic>
          <a:graphicData uri="http://schemas.openxmlformats.org/drawingml/2006/table">
            <a:tbl>
              <a:tblPr>
                <a:noFill/>
                <a:tableStyleId>{06FBA481-5394-4BA9-8518-3244690B3009}</a:tableStyleId>
              </a:tblPr>
              <a:tblGrid>
                <a:gridCol w="432800"/>
                <a:gridCol w="503600"/>
                <a:gridCol w="821625"/>
                <a:gridCol w="524000"/>
              </a:tblGrid>
              <a:tr h="647525">
                <a:tc>
                  <a:txBody>
                    <a:bodyPr/>
                    <a:lstStyle/>
                    <a:p>
                      <a:pPr indent="0" lvl="0" marL="0" rtl="0" algn="ctr">
                        <a:lnSpc>
                          <a:spcPct val="100000"/>
                        </a:lnSpc>
                        <a:spcBef>
                          <a:spcPts val="0"/>
                        </a:spcBef>
                        <a:spcAft>
                          <a:spcPts val="0"/>
                        </a:spcAft>
                        <a:buNone/>
                      </a:pPr>
                      <a:r>
                        <a:rPr b="1" lang="en" sz="1100"/>
                        <a:t>Student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100"/>
                        <a:t>Sem</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100"/>
                        <a:t>Study hours/week</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 sz="1100"/>
                        <a:t>Marks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4425">
                <a:tc>
                  <a:txBody>
                    <a:bodyPr/>
                    <a:lstStyle/>
                    <a:p>
                      <a:pPr indent="0" lvl="0" marL="0" rtl="0" algn="l">
                        <a:lnSpc>
                          <a:spcPct val="100000"/>
                        </a:lnSpc>
                        <a:spcBef>
                          <a:spcPts val="0"/>
                        </a:spcBef>
                        <a:spcAft>
                          <a:spcPts val="0"/>
                        </a:spcAft>
                        <a:buNone/>
                      </a:pPr>
                      <a:r>
                        <a:rPr lang="en"/>
                        <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60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4425">
                <a:tc>
                  <a:txBody>
                    <a:bodyPr/>
                    <a:lstStyle/>
                    <a:p>
                      <a:pPr indent="0" lvl="0" marL="0" rtl="0" algn="l">
                        <a:lnSpc>
                          <a:spcPct val="100000"/>
                        </a:lnSpc>
                        <a:spcBef>
                          <a:spcPts val="0"/>
                        </a:spcBef>
                        <a:spcAft>
                          <a:spcPts val="0"/>
                        </a:spcAft>
                        <a:buNone/>
                      </a:pPr>
                      <a:r>
                        <a:rPr lang="en"/>
                        <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70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4425">
                <a:tc>
                  <a:txBody>
                    <a:bodyPr/>
                    <a:lstStyle/>
                    <a:p>
                      <a:pPr indent="0" lvl="0" marL="0" rtl="0" algn="l">
                        <a:lnSpc>
                          <a:spcPct val="100000"/>
                        </a:lnSpc>
                        <a:spcBef>
                          <a:spcPts val="0"/>
                        </a:spcBef>
                        <a:spcAft>
                          <a:spcPts val="0"/>
                        </a:spcAft>
                        <a:buNone/>
                      </a:pPr>
                      <a:r>
                        <a:rPr lang="en"/>
                        <a:t>A</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80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4425">
                <a:tc>
                  <a:txBody>
                    <a:bodyPr/>
                    <a:lstStyle/>
                    <a:p>
                      <a:pPr indent="0" lvl="0" marL="0" rtl="0" algn="l">
                        <a:lnSpc>
                          <a:spcPct val="100000"/>
                        </a:lnSpc>
                        <a:spcBef>
                          <a:spcPts val="0"/>
                        </a:spcBef>
                        <a:spcAft>
                          <a:spcPts val="0"/>
                        </a:spcAft>
                        <a:buNone/>
                      </a:pPr>
                      <a:r>
                        <a:rPr lang="en"/>
                        <a:t>B</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70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4425">
                <a:tc>
                  <a:txBody>
                    <a:bodyPr/>
                    <a:lstStyle/>
                    <a:p>
                      <a:pPr indent="0" lvl="0" marL="0" rtl="0" algn="l">
                        <a:lnSpc>
                          <a:spcPct val="100000"/>
                        </a:lnSpc>
                        <a:spcBef>
                          <a:spcPts val="0"/>
                        </a:spcBef>
                        <a:spcAft>
                          <a:spcPts val="0"/>
                        </a:spcAft>
                        <a:buNone/>
                      </a:pPr>
                      <a:r>
                        <a:rPr lang="en"/>
                        <a:t>B</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80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4850">
                <a:tc>
                  <a:txBody>
                    <a:bodyPr/>
                    <a:lstStyle/>
                    <a:p>
                      <a:pPr indent="0" lvl="0" marL="0" rtl="0" algn="l">
                        <a:lnSpc>
                          <a:spcPct val="100000"/>
                        </a:lnSpc>
                        <a:spcBef>
                          <a:spcPts val="0"/>
                        </a:spcBef>
                        <a:spcAft>
                          <a:spcPts val="0"/>
                        </a:spcAft>
                        <a:buNone/>
                      </a:pPr>
                      <a:r>
                        <a:rPr lang="en"/>
                        <a:t>B</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8</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
                        <a:t>90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251" name="Google Shape;251;p48"/>
          <p:cNvSpPr txBox="1"/>
          <p:nvPr/>
        </p:nvSpPr>
        <p:spPr>
          <a:xfrm>
            <a:off x="315950" y="3991050"/>
            <a:ext cx="87360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Times New Roman"/>
                <a:ea typeface="Times New Roman"/>
                <a:cs typeface="Times New Roman"/>
                <a:sym typeface="Times New Roman"/>
              </a:rPr>
              <a:t>The goal is to estimate the relationship between study hours and marks while controlling for characteristics that do not change over time. </a:t>
            </a:r>
            <a:endParaRPr sz="2400">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9"/>
          <p:cNvSpPr txBox="1"/>
          <p:nvPr/>
        </p:nvSpPr>
        <p:spPr>
          <a:xfrm>
            <a:off x="214900" y="272225"/>
            <a:ext cx="8653800" cy="493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Mathematical model</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The Fixed Effects Model can be represented as:</a:t>
            </a:r>
            <a:endParaRPr sz="24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2300">
                <a:solidFill>
                  <a:schemeClr val="dk1"/>
                </a:solidFill>
                <a:latin typeface="Times New Roman"/>
                <a:ea typeface="Times New Roman"/>
                <a:cs typeface="Times New Roman"/>
                <a:sym typeface="Times New Roman"/>
              </a:rPr>
              <a:t>Y</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a:t>
            </a:r>
            <a:r>
              <a:rPr b="1" baseline="-25000" lang="en" sz="2300">
                <a:solidFill>
                  <a:schemeClr val="dk1"/>
                </a:solidFill>
                <a:latin typeface="Times New Roman"/>
                <a:ea typeface="Times New Roman"/>
                <a:cs typeface="Times New Roman"/>
                <a:sym typeface="Times New Roman"/>
              </a:rPr>
              <a:t>i </a:t>
            </a:r>
            <a:r>
              <a:rPr b="1" lang="en" sz="2300">
                <a:solidFill>
                  <a:schemeClr val="dk1"/>
                </a:solidFill>
                <a:latin typeface="Times New Roman"/>
                <a:ea typeface="Times New Roman"/>
                <a:cs typeface="Times New Roman"/>
                <a:sym typeface="Times New Roman"/>
              </a:rPr>
              <a:t>+ β </a:t>
            </a:r>
            <a:r>
              <a:rPr b="1" baseline="-25000" lang="en" sz="2300">
                <a:solidFill>
                  <a:schemeClr val="dk1"/>
                </a:solidFill>
                <a:latin typeface="Times New Roman"/>
                <a:ea typeface="Times New Roman"/>
                <a:cs typeface="Times New Roman"/>
                <a:sym typeface="Times New Roman"/>
              </a:rPr>
              <a:t> </a:t>
            </a:r>
            <a:r>
              <a:rPr b="1" lang="en" sz="2300">
                <a:solidFill>
                  <a:schemeClr val="dk1"/>
                </a:solidFill>
                <a:latin typeface="Times New Roman"/>
                <a:ea typeface="Times New Roman"/>
                <a:cs typeface="Times New Roman"/>
                <a:sym typeface="Times New Roman"/>
              </a:rPr>
              <a:t>X</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 Ɛ</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a:t>
            </a:r>
            <a:r>
              <a:rPr b="1"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            </a:t>
            </a:r>
            <a:r>
              <a:rPr lang="en" sz="2400">
                <a:solidFill>
                  <a:schemeClr val="dk1"/>
                </a:solidFill>
                <a:latin typeface="Times New Roman"/>
                <a:ea typeface="Times New Roman"/>
                <a:cs typeface="Times New Roman"/>
                <a:sym typeface="Times New Roman"/>
              </a:rPr>
              <a:t>Where: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Char char="●"/>
            </a:pPr>
            <a:r>
              <a:rPr lang="en" sz="2300">
                <a:solidFill>
                  <a:schemeClr val="dk1"/>
                </a:solidFill>
                <a:latin typeface="Times New Roman"/>
                <a:ea typeface="Times New Roman"/>
                <a:cs typeface="Times New Roman"/>
                <a:sym typeface="Times New Roman"/>
              </a:rPr>
              <a:t>Y</a:t>
            </a:r>
            <a:r>
              <a:rPr baseline="-25000" lang="en" sz="23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outcome for entity i at time t, such as marks.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300">
                <a:solidFill>
                  <a:schemeClr val="dk1"/>
                </a:solidFill>
                <a:latin typeface="Times New Roman"/>
                <a:ea typeface="Times New Roman"/>
                <a:cs typeface="Times New Roman"/>
                <a:sym typeface="Times New Roman"/>
              </a:rPr>
              <a:t>X</a:t>
            </a:r>
            <a:r>
              <a:rPr baseline="-25000" lang="en" sz="23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predictor, such as study hours.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300">
                <a:solidFill>
                  <a:schemeClr val="dk1"/>
                </a:solidFill>
                <a:latin typeface="Times New Roman"/>
                <a:ea typeface="Times New Roman"/>
                <a:cs typeface="Times New Roman"/>
                <a:sym typeface="Times New Roman"/>
              </a:rPr>
              <a:t>∝</a:t>
            </a:r>
            <a:r>
              <a:rPr baseline="-25000" lang="en" sz="2300">
                <a:solidFill>
                  <a:schemeClr val="dk1"/>
                </a:solidFill>
                <a:latin typeface="Times New Roman"/>
                <a:ea typeface="Times New Roman"/>
                <a:cs typeface="Times New Roman"/>
                <a:sym typeface="Times New Roman"/>
              </a:rPr>
              <a:t>i</a:t>
            </a:r>
            <a:r>
              <a:rPr lang="en" sz="2400">
                <a:solidFill>
                  <a:schemeClr val="dk1"/>
                </a:solidFill>
                <a:latin typeface="Times New Roman"/>
                <a:ea typeface="Times New Roman"/>
                <a:cs typeface="Times New Roman"/>
                <a:sym typeface="Times New Roman"/>
              </a:rPr>
              <a:t>: entity-specific intercept.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300">
                <a:solidFill>
                  <a:schemeClr val="dk1"/>
                </a:solidFill>
                <a:latin typeface="Times New Roman"/>
                <a:ea typeface="Times New Roman"/>
                <a:cs typeface="Times New Roman"/>
                <a:sym typeface="Times New Roman"/>
              </a:rPr>
              <a:t>β</a:t>
            </a:r>
            <a:r>
              <a:rPr lang="en" sz="2400">
                <a:solidFill>
                  <a:schemeClr val="dk1"/>
                </a:solidFill>
                <a:latin typeface="Times New Roman"/>
                <a:ea typeface="Times New Roman"/>
                <a:cs typeface="Times New Roman"/>
                <a:sym typeface="Times New Roman"/>
              </a:rPr>
              <a:t>: estimated effect of the predictor.</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300">
                <a:solidFill>
                  <a:schemeClr val="dk1"/>
                </a:solidFill>
                <a:latin typeface="Times New Roman"/>
                <a:ea typeface="Times New Roman"/>
                <a:cs typeface="Times New Roman"/>
                <a:sym typeface="Times New Roman"/>
              </a:rPr>
              <a:t>Ɛ</a:t>
            </a:r>
            <a:r>
              <a:rPr baseline="-25000" lang="en" sz="2300">
                <a:solidFill>
                  <a:schemeClr val="dk1"/>
                </a:solidFill>
                <a:latin typeface="Times New Roman"/>
                <a:ea typeface="Times New Roman"/>
                <a:cs typeface="Times New Roman"/>
                <a:sym typeface="Times New Roman"/>
              </a:rPr>
              <a:t>it</a:t>
            </a:r>
            <a:r>
              <a:rPr lang="en" sz="2400">
                <a:solidFill>
                  <a:schemeClr val="dk1"/>
                </a:solidFill>
                <a:latin typeface="Times New Roman"/>
                <a:ea typeface="Times New Roman"/>
                <a:cs typeface="Times New Roman"/>
                <a:sym typeface="Times New Roman"/>
              </a:rPr>
              <a:t>: error term.</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2400">
                <a:solidFill>
                  <a:schemeClr val="dk1"/>
                </a:solidFill>
                <a:latin typeface="Times New Roman"/>
                <a:ea typeface="Times New Roman"/>
                <a:cs typeface="Times New Roman"/>
                <a:sym typeface="Times New Roman"/>
              </a:rPr>
              <a:t>Each entity can have its own intercept, but the model commonly estimates a shared slope </a:t>
            </a:r>
            <a:r>
              <a:rPr lang="en" sz="2300">
                <a:solidFill>
                  <a:schemeClr val="dk1"/>
                </a:solidFill>
                <a:latin typeface="Times New Roman"/>
                <a:ea typeface="Times New Roman"/>
                <a:cs typeface="Times New Roman"/>
                <a:sym typeface="Times New Roman"/>
              </a:rPr>
              <a:t>β</a:t>
            </a:r>
            <a:r>
              <a:rPr lang="en"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50"/>
          <p:cNvSpPr txBox="1"/>
          <p:nvPr/>
        </p:nvSpPr>
        <p:spPr>
          <a:xfrm>
            <a:off x="200575" y="263875"/>
            <a:ext cx="8868600" cy="4710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b="1" lang="en" sz="2400">
                <a:solidFill>
                  <a:schemeClr val="dk2"/>
                </a:solidFill>
                <a:latin typeface="Times New Roman"/>
                <a:ea typeface="Times New Roman"/>
                <a:cs typeface="Times New Roman"/>
                <a:sym typeface="Times New Roman"/>
              </a:rPr>
              <a:t>Example:</a:t>
            </a:r>
            <a:r>
              <a:rPr lang="en" sz="2400">
                <a:solidFill>
                  <a:schemeClr val="dk2"/>
                </a:solidFill>
                <a:latin typeface="Times New Roman"/>
                <a:ea typeface="Times New Roman"/>
                <a:cs typeface="Times New Roman"/>
                <a:sym typeface="Times New Roman"/>
              </a:rPr>
              <a:t> Studying the relationship between weekly study hours and student marks across multiple semesters while controlling for </a:t>
            </a:r>
            <a:r>
              <a:rPr b="1" lang="en" sz="2400">
                <a:solidFill>
                  <a:schemeClr val="dk2"/>
                </a:solidFill>
                <a:latin typeface="Times New Roman"/>
                <a:ea typeface="Times New Roman"/>
                <a:cs typeface="Times New Roman"/>
                <a:sym typeface="Times New Roman"/>
              </a:rPr>
              <a:t>stable</a:t>
            </a:r>
            <a:r>
              <a:rPr lang="en" sz="2400">
                <a:solidFill>
                  <a:schemeClr val="dk2"/>
                </a:solidFill>
                <a:latin typeface="Times New Roman"/>
                <a:ea typeface="Times New Roman"/>
                <a:cs typeface="Times New Roman"/>
                <a:sym typeface="Times New Roman"/>
              </a:rPr>
              <a:t> differences between students.</a:t>
            </a:r>
            <a:endParaRPr sz="2400">
              <a:solidFill>
                <a:schemeClr val="dk2"/>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 sz="2400">
                <a:solidFill>
                  <a:schemeClr val="dk2"/>
                </a:solidFill>
                <a:latin typeface="Times New Roman"/>
                <a:ea typeface="Times New Roman"/>
                <a:cs typeface="Times New Roman"/>
                <a:sym typeface="Times New Roman"/>
              </a:rPr>
              <a:t>Working:</a:t>
            </a:r>
            <a:endParaRPr b="1" sz="2400">
              <a:solidFill>
                <a:schemeClr val="dk2"/>
              </a:solidFill>
              <a:latin typeface="Times New Roman"/>
              <a:ea typeface="Times New Roman"/>
              <a:cs typeface="Times New Roman"/>
              <a:sym typeface="Times New Roman"/>
            </a:endParaRPr>
          </a:p>
          <a:p>
            <a:pPr indent="-381000" lvl="0" marL="457200" rtl="0" algn="l">
              <a:lnSpc>
                <a:spcPct val="100000"/>
              </a:lnSpc>
              <a:spcBef>
                <a:spcPts val="1200"/>
              </a:spcBef>
              <a:spcAft>
                <a:spcPts val="0"/>
              </a:spcAft>
              <a:buClr>
                <a:schemeClr val="dk2"/>
              </a:buClr>
              <a:buSzPts val="2400"/>
              <a:buFont typeface="Times New Roman"/>
              <a:buAutoNum type="arabicPeriod"/>
            </a:pPr>
            <a:r>
              <a:rPr lang="en" sz="2400">
                <a:solidFill>
                  <a:schemeClr val="dk2"/>
                </a:solidFill>
                <a:latin typeface="Times New Roman"/>
                <a:ea typeface="Times New Roman"/>
                <a:cs typeface="Times New Roman"/>
                <a:sym typeface="Times New Roman"/>
              </a:rPr>
              <a:t>Collect panel data for multiple students across semesters</a:t>
            </a:r>
            <a:endParaRPr sz="2400">
              <a:solidFill>
                <a:schemeClr val="dk2"/>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2"/>
              </a:buClr>
              <a:buSzPts val="2400"/>
              <a:buFont typeface="Times New Roman"/>
              <a:buAutoNum type="arabicPeriod"/>
            </a:pPr>
            <a:r>
              <a:rPr lang="en" sz="2400">
                <a:solidFill>
                  <a:schemeClr val="dk2"/>
                </a:solidFill>
                <a:latin typeface="Times New Roman"/>
                <a:ea typeface="Times New Roman"/>
                <a:cs typeface="Times New Roman"/>
                <a:sym typeface="Times New Roman"/>
              </a:rPr>
              <a:t>Identify stable differences between students</a:t>
            </a:r>
            <a:endParaRPr sz="2400">
              <a:solidFill>
                <a:schemeClr val="dk2"/>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2"/>
              </a:buClr>
              <a:buSzPts val="2400"/>
              <a:buFont typeface="Times New Roman"/>
              <a:buAutoNum type="arabicPeriod"/>
            </a:pPr>
            <a:r>
              <a:rPr lang="en" sz="2400">
                <a:solidFill>
                  <a:schemeClr val="dk2"/>
                </a:solidFill>
                <a:latin typeface="Times New Roman"/>
                <a:ea typeface="Times New Roman"/>
                <a:cs typeface="Times New Roman"/>
                <a:sym typeface="Times New Roman"/>
              </a:rPr>
              <a:t>Control for student-specific effects</a:t>
            </a:r>
            <a:endParaRPr sz="2400">
              <a:solidFill>
                <a:schemeClr val="dk2"/>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2"/>
              </a:buClr>
              <a:buSzPts val="2400"/>
              <a:buFont typeface="Times New Roman"/>
              <a:buAutoNum type="arabicPeriod"/>
            </a:pPr>
            <a:r>
              <a:rPr lang="en" sz="2400">
                <a:solidFill>
                  <a:schemeClr val="dk2"/>
                </a:solidFill>
                <a:latin typeface="Times New Roman"/>
                <a:ea typeface="Times New Roman"/>
                <a:cs typeface="Times New Roman"/>
                <a:sym typeface="Times New Roman"/>
              </a:rPr>
              <a:t>Estimate how changes in study hours relate to changes in marks</a:t>
            </a:r>
            <a:endParaRPr sz="2400">
              <a:solidFill>
                <a:schemeClr val="dk2"/>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 sz="2400">
                <a:solidFill>
                  <a:schemeClr val="dk2"/>
                </a:solidFill>
                <a:latin typeface="Times New Roman"/>
                <a:ea typeface="Times New Roman"/>
                <a:cs typeface="Times New Roman"/>
                <a:sym typeface="Times New Roman"/>
              </a:rPr>
              <a:t>One common estimation method is the </a:t>
            </a:r>
            <a:r>
              <a:rPr b="1" lang="en" sz="2400">
                <a:solidFill>
                  <a:schemeClr val="dk2"/>
                </a:solidFill>
                <a:latin typeface="Times New Roman"/>
                <a:ea typeface="Times New Roman"/>
                <a:cs typeface="Times New Roman"/>
                <a:sym typeface="Times New Roman"/>
              </a:rPr>
              <a:t>within transformation</a:t>
            </a:r>
            <a:r>
              <a:rPr lang="en" sz="2400">
                <a:solidFill>
                  <a:schemeClr val="dk2"/>
                </a:solidFill>
                <a:latin typeface="Times New Roman"/>
                <a:ea typeface="Times New Roman"/>
                <a:cs typeface="Times New Roman"/>
                <a:sym typeface="Times New Roman"/>
              </a:rPr>
              <a:t>. It subtracts each student's average values from their observations, removing stable student-specific effects.</a:t>
            </a:r>
            <a:endParaRPr sz="2400">
              <a:solidFill>
                <a:schemeClr val="dk2"/>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1"/>
          <p:cNvSpPr txBox="1"/>
          <p:nvPr/>
        </p:nvSpPr>
        <p:spPr>
          <a:xfrm>
            <a:off x="218388" y="176925"/>
            <a:ext cx="8707200" cy="461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400"/>
              </a:spcAft>
              <a:buNone/>
            </a:pPr>
            <a:r>
              <a:t/>
            </a:r>
            <a:endParaRPr sz="1800">
              <a:solidFill>
                <a:schemeClr val="dk1"/>
              </a:solidFill>
              <a:latin typeface="Times New Roman"/>
              <a:ea typeface="Times New Roman"/>
              <a:cs typeface="Times New Roman"/>
              <a:sym typeface="Times New Roman"/>
            </a:endParaRPr>
          </a:p>
        </p:txBody>
      </p:sp>
      <p:graphicFrame>
        <p:nvGraphicFramePr>
          <p:cNvPr id="267" name="Google Shape;267;p51"/>
          <p:cNvGraphicFramePr/>
          <p:nvPr/>
        </p:nvGraphicFramePr>
        <p:xfrm>
          <a:off x="345875" y="391700"/>
          <a:ext cx="3000000" cy="3000000"/>
        </p:xfrm>
        <a:graphic>
          <a:graphicData uri="http://schemas.openxmlformats.org/drawingml/2006/table">
            <a:tbl>
              <a:tblPr>
                <a:noFill/>
                <a:tableStyleId>{4E31AA02-684E-4BD6-8366-59B88660C896}</a:tableStyleId>
              </a:tblPr>
              <a:tblGrid>
                <a:gridCol w="3859650"/>
                <a:gridCol w="4870625"/>
              </a:tblGrid>
              <a:tr h="500475">
                <a:tc>
                  <a:txBody>
                    <a:bodyPr/>
                    <a:lstStyle/>
                    <a:p>
                      <a:pPr indent="0" lvl="0" marL="0" rtl="0" algn="l">
                        <a:spcBef>
                          <a:spcPts val="0"/>
                        </a:spcBef>
                        <a:spcAft>
                          <a:spcPts val="0"/>
                        </a:spcAft>
                        <a:buNone/>
                      </a:pPr>
                      <a:r>
                        <a:rPr b="1" lang="en" sz="2400">
                          <a:latin typeface="Times New Roman"/>
                          <a:ea typeface="Times New Roman"/>
                          <a:cs typeface="Times New Roman"/>
                          <a:sym typeface="Times New Roman"/>
                        </a:rPr>
                        <a:t>Advantages </a:t>
                      </a:r>
                      <a:endParaRPr b="1"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 sz="2400">
                          <a:latin typeface="Times New Roman"/>
                          <a:ea typeface="Times New Roman"/>
                          <a:cs typeface="Times New Roman"/>
                          <a:sym typeface="Times New Roman"/>
                        </a:rPr>
                        <a:t>Limitations </a:t>
                      </a:r>
                      <a:endParaRPr b="1" sz="2400">
                        <a:latin typeface="Times New Roman"/>
                        <a:ea typeface="Times New Roman"/>
                        <a:cs typeface="Times New Roman"/>
                        <a:sym typeface="Times New Roman"/>
                      </a:endParaRPr>
                    </a:p>
                  </a:txBody>
                  <a:tcPr marT="91425" marB="91425" marR="91425" marL="91425"/>
                </a:tc>
              </a:tr>
              <a:tr h="772550">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Controls for stable entity-specific differences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Can’t estimate the separate effects of characteristics that never change within an entity</a:t>
                      </a:r>
                      <a:endParaRPr sz="2400">
                        <a:latin typeface="Times New Roman"/>
                        <a:ea typeface="Times New Roman"/>
                        <a:cs typeface="Times New Roman"/>
                        <a:sym typeface="Times New Roman"/>
                      </a:endParaRPr>
                    </a:p>
                  </a:txBody>
                  <a:tcPr marT="91425" marB="91425" marR="91425" marL="91425"/>
                </a:tc>
              </a:tr>
              <a:tr h="446950">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Useful for tracking entities over time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Requires repeated observations </a:t>
                      </a:r>
                      <a:endParaRPr sz="2400">
                        <a:latin typeface="Times New Roman"/>
                        <a:ea typeface="Times New Roman"/>
                        <a:cs typeface="Times New Roman"/>
                        <a:sym typeface="Times New Roman"/>
                      </a:endParaRPr>
                    </a:p>
                  </a:txBody>
                  <a:tcPr marT="91425" marB="91425" marR="91425" marL="91425"/>
                </a:tc>
              </a:tr>
              <a:tr h="747275">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Helps reduce bias from omitted, time-invariant characteristics </a:t>
                      </a:r>
                      <a:endParaRPr sz="24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400">
                          <a:latin typeface="Times New Roman"/>
                          <a:ea typeface="Times New Roman"/>
                          <a:cs typeface="Times New Roman"/>
                          <a:sym typeface="Times New Roman"/>
                        </a:rPr>
                        <a:t>Does not automatically remove bias from time-varying omitted variables </a:t>
                      </a:r>
                      <a:endParaRPr sz="24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52"/>
          <p:cNvSpPr txBox="1"/>
          <p:nvPr/>
        </p:nvSpPr>
        <p:spPr>
          <a:xfrm>
            <a:off x="302500" y="229225"/>
            <a:ext cx="85518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Random Effects Model:</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A Random Effects Model is a panel data model that accounts for differences between </a:t>
            </a:r>
            <a:r>
              <a:rPr b="1" lang="en" sz="2400">
                <a:latin typeface="Times New Roman"/>
                <a:ea typeface="Times New Roman"/>
                <a:cs typeface="Times New Roman"/>
                <a:sym typeface="Times New Roman"/>
              </a:rPr>
              <a:t>entities by treating those differences</a:t>
            </a:r>
            <a:r>
              <a:rPr lang="en" sz="2400">
                <a:latin typeface="Times New Roman"/>
                <a:ea typeface="Times New Roman"/>
                <a:cs typeface="Times New Roman"/>
                <a:sym typeface="Times New Roman"/>
              </a:rPr>
              <a:t> as random effects.</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In simple words, different companies, colleges, hospitals, or stores may have different characteristics. The Random Effects Model accounts for these differences by assuming they are </a:t>
            </a:r>
            <a:r>
              <a:rPr b="1" lang="en" sz="2400">
                <a:latin typeface="Times New Roman"/>
                <a:ea typeface="Times New Roman"/>
                <a:cs typeface="Times New Roman"/>
                <a:sym typeface="Times New Roman"/>
              </a:rPr>
              <a:t>random and uncorrelated with the explanatory variables.</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solidFill>
                  <a:schemeClr val="dk1"/>
                </a:solidFill>
                <a:latin typeface="Times New Roman"/>
                <a:ea typeface="Times New Roman"/>
                <a:cs typeface="Times New Roman"/>
                <a:sym typeface="Times New Roman"/>
              </a:rPr>
              <a:t>is a statistical approach where group- or subject-specific effects are treated as random variables drawn from a larger population. Unlike fixed effects models, it assumes unobserved individual or study differences are uncorrelated with your independent variables and accounts for both within-group and between-group variance. </a:t>
            </a:r>
            <a:endParaRPr sz="24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3"/>
          <p:cNvSpPr txBox="1"/>
          <p:nvPr/>
        </p:nvSpPr>
        <p:spPr>
          <a:xfrm>
            <a:off x="288150" y="358175"/>
            <a:ext cx="8567700" cy="463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2400">
                <a:latin typeface="Times New Roman"/>
                <a:ea typeface="Times New Roman"/>
                <a:cs typeface="Times New Roman"/>
                <a:sym typeface="Times New Roman"/>
              </a:rPr>
              <a:t>Example: </a:t>
            </a:r>
            <a:r>
              <a:rPr lang="en" sz="2400">
                <a:latin typeface="Times New Roman"/>
                <a:ea typeface="Times New Roman"/>
                <a:cs typeface="Times New Roman"/>
                <a:sym typeface="Times New Roman"/>
              </a:rPr>
              <a:t>Suppose we study the relationship between advertising expenditure and sales for 10 stores over 5 years. Some stores may naturally have better locations or more loyal customers. The Random Effects Model accounts for such store-specific differences.</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en" sz="2500">
                <a:latin typeface="Times New Roman"/>
                <a:ea typeface="Times New Roman"/>
                <a:cs typeface="Times New Roman"/>
                <a:sym typeface="Times New Roman"/>
              </a:rPr>
              <a:t>Mathematical model: </a:t>
            </a:r>
            <a:r>
              <a:rPr lang="en" sz="2400">
                <a:latin typeface="Times New Roman"/>
                <a:ea typeface="Times New Roman"/>
                <a:cs typeface="Times New Roman"/>
                <a:sym typeface="Times New Roman"/>
              </a:rPr>
              <a:t>        </a:t>
            </a:r>
            <a:r>
              <a:rPr b="1" lang="en" sz="2300">
                <a:solidFill>
                  <a:schemeClr val="dk1"/>
                </a:solidFill>
                <a:latin typeface="Times New Roman"/>
                <a:ea typeface="Times New Roman"/>
                <a:cs typeface="Times New Roman"/>
                <a:sym typeface="Times New Roman"/>
              </a:rPr>
              <a:t>Y</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β</a:t>
            </a:r>
            <a:r>
              <a:rPr b="1" baseline="-25000" lang="en" sz="2300">
                <a:solidFill>
                  <a:schemeClr val="dk1"/>
                </a:solidFill>
                <a:latin typeface="Times New Roman"/>
                <a:ea typeface="Times New Roman"/>
                <a:cs typeface="Times New Roman"/>
                <a:sym typeface="Times New Roman"/>
              </a:rPr>
              <a:t>0 </a:t>
            </a:r>
            <a:r>
              <a:rPr b="1" lang="en" sz="2300">
                <a:solidFill>
                  <a:schemeClr val="dk1"/>
                </a:solidFill>
                <a:latin typeface="Times New Roman"/>
                <a:ea typeface="Times New Roman"/>
                <a:cs typeface="Times New Roman"/>
                <a:sym typeface="Times New Roman"/>
              </a:rPr>
              <a:t>+ β</a:t>
            </a:r>
            <a:r>
              <a:rPr b="1" baseline="-25000" lang="en" sz="2300">
                <a:solidFill>
                  <a:schemeClr val="dk1"/>
                </a:solidFill>
                <a:latin typeface="Times New Roman"/>
                <a:ea typeface="Times New Roman"/>
                <a:cs typeface="Times New Roman"/>
                <a:sym typeface="Times New Roman"/>
              </a:rPr>
              <a:t>1</a:t>
            </a:r>
            <a:r>
              <a:rPr b="1" lang="en" sz="2300">
                <a:solidFill>
                  <a:schemeClr val="dk1"/>
                </a:solidFill>
                <a:latin typeface="Times New Roman"/>
                <a:ea typeface="Times New Roman"/>
                <a:cs typeface="Times New Roman"/>
                <a:sym typeface="Times New Roman"/>
              </a:rPr>
              <a:t> </a:t>
            </a:r>
            <a:r>
              <a:rPr b="1" baseline="-25000" lang="en" sz="2300">
                <a:solidFill>
                  <a:schemeClr val="dk1"/>
                </a:solidFill>
                <a:latin typeface="Times New Roman"/>
                <a:ea typeface="Times New Roman"/>
                <a:cs typeface="Times New Roman"/>
                <a:sym typeface="Times New Roman"/>
              </a:rPr>
              <a:t> </a:t>
            </a:r>
            <a:r>
              <a:rPr b="1" lang="en" sz="2300">
                <a:solidFill>
                  <a:schemeClr val="dk1"/>
                </a:solidFill>
                <a:latin typeface="Times New Roman"/>
                <a:ea typeface="Times New Roman"/>
                <a:cs typeface="Times New Roman"/>
                <a:sym typeface="Times New Roman"/>
              </a:rPr>
              <a:t>X</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  μ</a:t>
            </a:r>
            <a:r>
              <a:rPr b="1" baseline="-25000" lang="en" sz="2300">
                <a:solidFill>
                  <a:schemeClr val="dk1"/>
                </a:solidFill>
                <a:latin typeface="Times New Roman"/>
                <a:ea typeface="Times New Roman"/>
                <a:cs typeface="Times New Roman"/>
                <a:sym typeface="Times New Roman"/>
              </a:rPr>
              <a:t>i</a:t>
            </a:r>
            <a:r>
              <a:rPr b="1" lang="en" sz="2300">
                <a:solidFill>
                  <a:schemeClr val="dk1"/>
                </a:solidFill>
                <a:latin typeface="Times New Roman"/>
                <a:ea typeface="Times New Roman"/>
                <a:cs typeface="Times New Roman"/>
                <a:sym typeface="Times New Roman"/>
              </a:rPr>
              <a:t>+Ɛ</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a:t>
            </a:r>
            <a:r>
              <a:rPr lang="en" sz="2400">
                <a:latin typeface="Times New Roman"/>
                <a:ea typeface="Times New Roman"/>
                <a:cs typeface="Times New Roman"/>
                <a:sym typeface="Times New Roman"/>
              </a:rPr>
              <a:t>       Where:</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Y</a:t>
            </a:r>
            <a:r>
              <a:rPr b="1" baseline="-25000" lang="en" sz="2300">
                <a:solidFill>
                  <a:schemeClr val="dk1"/>
                </a:solidFill>
                <a:latin typeface="Times New Roman"/>
                <a:ea typeface="Times New Roman"/>
                <a:cs typeface="Times New Roman"/>
                <a:sym typeface="Times New Roman"/>
              </a:rPr>
              <a:t>it</a:t>
            </a:r>
            <a:r>
              <a:rPr lang="en" sz="2400">
                <a:latin typeface="Times New Roman"/>
                <a:ea typeface="Times New Roman"/>
                <a:cs typeface="Times New Roman"/>
                <a:sym typeface="Times New Roman"/>
              </a:rPr>
              <a:t>: outcome for entity i at time t</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X</a:t>
            </a:r>
            <a:r>
              <a:rPr b="1" baseline="-25000" lang="en" sz="2300">
                <a:solidFill>
                  <a:schemeClr val="dk1"/>
                </a:solidFill>
                <a:latin typeface="Times New Roman"/>
                <a:ea typeface="Times New Roman"/>
                <a:cs typeface="Times New Roman"/>
                <a:sym typeface="Times New Roman"/>
              </a:rPr>
              <a:t>it</a:t>
            </a:r>
            <a:r>
              <a:rPr lang="en" sz="2400">
                <a:latin typeface="Times New Roman"/>
                <a:ea typeface="Times New Roman"/>
                <a:cs typeface="Times New Roman"/>
                <a:sym typeface="Times New Roman"/>
              </a:rPr>
              <a:t>: explanatory variable</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β</a:t>
            </a:r>
            <a:r>
              <a:rPr b="1" baseline="-25000" lang="en" sz="2300">
                <a:solidFill>
                  <a:schemeClr val="dk1"/>
                </a:solidFill>
                <a:latin typeface="Times New Roman"/>
                <a:ea typeface="Times New Roman"/>
                <a:cs typeface="Times New Roman"/>
                <a:sym typeface="Times New Roman"/>
              </a:rPr>
              <a:t>0</a:t>
            </a:r>
            <a:r>
              <a:rPr lang="en" sz="2400">
                <a:latin typeface="Times New Roman"/>
                <a:ea typeface="Times New Roman"/>
                <a:cs typeface="Times New Roman"/>
                <a:sym typeface="Times New Roman"/>
              </a:rPr>
              <a:t>: common intercept</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β</a:t>
            </a:r>
            <a:r>
              <a:rPr b="1" baseline="-25000" lang="en" sz="2300">
                <a:solidFill>
                  <a:schemeClr val="dk1"/>
                </a:solidFill>
                <a:latin typeface="Times New Roman"/>
                <a:ea typeface="Times New Roman"/>
                <a:cs typeface="Times New Roman"/>
                <a:sym typeface="Times New Roman"/>
              </a:rPr>
              <a:t>1</a:t>
            </a:r>
            <a:r>
              <a:rPr lang="en" sz="2400">
                <a:latin typeface="Times New Roman"/>
                <a:ea typeface="Times New Roman"/>
                <a:cs typeface="Times New Roman"/>
                <a:sym typeface="Times New Roman"/>
              </a:rPr>
              <a:t>: effect of the explanatory variable</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μ</a:t>
            </a:r>
            <a:r>
              <a:rPr b="1" baseline="-25000" lang="en" sz="2300">
                <a:solidFill>
                  <a:schemeClr val="dk1"/>
                </a:solidFill>
                <a:latin typeface="Times New Roman"/>
                <a:ea typeface="Times New Roman"/>
                <a:cs typeface="Times New Roman"/>
                <a:sym typeface="Times New Roman"/>
              </a:rPr>
              <a:t>i</a:t>
            </a:r>
            <a:r>
              <a:rPr lang="en" sz="2400">
                <a:latin typeface="Times New Roman"/>
                <a:ea typeface="Times New Roman"/>
                <a:cs typeface="Times New Roman"/>
                <a:sym typeface="Times New Roman"/>
              </a:rPr>
              <a:t>: entity-specific random effect</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b="1" lang="en" sz="2300">
                <a:solidFill>
                  <a:schemeClr val="dk1"/>
                </a:solidFill>
                <a:latin typeface="Times New Roman"/>
                <a:ea typeface="Times New Roman"/>
                <a:cs typeface="Times New Roman"/>
                <a:sym typeface="Times New Roman"/>
              </a:rPr>
              <a:t>Ɛ</a:t>
            </a:r>
            <a:r>
              <a:rPr b="1" baseline="-25000" lang="en" sz="2300">
                <a:solidFill>
                  <a:schemeClr val="dk1"/>
                </a:solidFill>
                <a:latin typeface="Times New Roman"/>
                <a:ea typeface="Times New Roman"/>
                <a:cs typeface="Times New Roman"/>
                <a:sym typeface="Times New Roman"/>
              </a:rPr>
              <a:t>it</a:t>
            </a:r>
            <a:r>
              <a:rPr lang="en" sz="2400">
                <a:latin typeface="Times New Roman"/>
                <a:ea typeface="Times New Roman"/>
                <a:cs typeface="Times New Roman"/>
                <a:sym typeface="Times New Roman"/>
              </a:rPr>
              <a:t>: remaining error.</a:t>
            </a:r>
            <a:endParaRPr sz="24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graphicFrame>
        <p:nvGraphicFramePr>
          <p:cNvPr id="282" name="Google Shape;282;p54"/>
          <p:cNvGraphicFramePr/>
          <p:nvPr/>
        </p:nvGraphicFramePr>
        <p:xfrm>
          <a:off x="424088" y="117225"/>
          <a:ext cx="3000000" cy="3000000"/>
        </p:xfrm>
        <a:graphic>
          <a:graphicData uri="http://schemas.openxmlformats.org/drawingml/2006/table">
            <a:tbl>
              <a:tblPr>
                <a:noFill/>
                <a:tableStyleId>{06FBA481-5394-4BA9-8518-3244690B3009}</a:tableStyleId>
              </a:tblPr>
              <a:tblGrid>
                <a:gridCol w="1514475"/>
                <a:gridCol w="3181350"/>
                <a:gridCol w="3771900"/>
              </a:tblGrid>
              <a:tr h="520400">
                <a:tc>
                  <a:txBody>
                    <a:bodyPr/>
                    <a:lstStyle/>
                    <a:p>
                      <a:pPr indent="0" lvl="0" marL="0" rtl="0" algn="ctr">
                        <a:lnSpc>
                          <a:spcPct val="115000"/>
                        </a:lnSpc>
                        <a:spcBef>
                          <a:spcPts val="0"/>
                        </a:spcBef>
                        <a:spcAft>
                          <a:spcPts val="0"/>
                        </a:spcAft>
                        <a:buNone/>
                      </a:pPr>
                      <a:r>
                        <a:rPr b="1" lang="en" sz="1900">
                          <a:latin typeface="Times New Roman"/>
                          <a:ea typeface="Times New Roman"/>
                          <a:cs typeface="Times New Roman"/>
                          <a:sym typeface="Times New Roman"/>
                        </a:rPr>
                        <a:t>Basis</a:t>
                      </a:r>
                      <a:endParaRPr b="1"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900">
                          <a:latin typeface="Times New Roman"/>
                          <a:ea typeface="Times New Roman"/>
                          <a:cs typeface="Times New Roman"/>
                          <a:sym typeface="Times New Roman"/>
                        </a:rPr>
                        <a:t>Fixed Effects (FEM)</a:t>
                      </a:r>
                      <a:endParaRPr b="1"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900">
                          <a:latin typeface="Times New Roman"/>
                          <a:ea typeface="Times New Roman"/>
                          <a:cs typeface="Times New Roman"/>
                          <a:sym typeface="Times New Roman"/>
                        </a:rPr>
                        <a:t>Random Effects (REM)</a:t>
                      </a:r>
                      <a:endParaRPr b="1"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Entity differences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Allows entity-specific intercepts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Models entity differences as random effects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Main assumption</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Entity effects may correlate with predictors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Entity effects are uncorrelated with predictors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Time-invariant variables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Their separate effects cannot generally be estimated</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Their effects may be estimated if the model assumptions hold</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Typical application</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Controlling for stable differences between entities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Estimating effects while accounting for entity-level variation</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Estimation</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Within transformation or entity indicators</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900">
                          <a:latin typeface="Times New Roman"/>
                          <a:ea typeface="Times New Roman"/>
                          <a:cs typeface="Times New Roman"/>
                          <a:sym typeface="Times New Roman"/>
                        </a:rPr>
                        <a:t>Variance-components-based estimation</a:t>
                      </a:r>
                      <a:endParaRPr sz="19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5"/>
          <p:cNvSpPr txBox="1"/>
          <p:nvPr/>
        </p:nvSpPr>
        <p:spPr>
          <a:xfrm>
            <a:off x="-150" y="161400"/>
            <a:ext cx="9144000" cy="491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 sz="2400">
                <a:solidFill>
                  <a:schemeClr val="dk1"/>
                </a:solidFill>
                <a:latin typeface="Times New Roman"/>
                <a:ea typeface="Times New Roman"/>
                <a:cs typeface="Times New Roman"/>
                <a:sym typeface="Times New Roman"/>
              </a:rPr>
              <a:t>Key Diagnostic Tests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Breusch-Pagan Test:</a:t>
            </a:r>
            <a:r>
              <a:rPr lang="en" sz="2400">
                <a:solidFill>
                  <a:schemeClr val="dk1"/>
                </a:solidFill>
                <a:latin typeface="Times New Roman"/>
                <a:ea typeface="Times New Roman"/>
                <a:cs typeface="Times New Roman"/>
                <a:sym typeface="Times New Roman"/>
              </a:rPr>
              <a:t> Compares a random effects model against a simple Pooled OLS (Ordinary Least Squares) model to see if variance across groups is significant.</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Hausman Test:</a:t>
            </a:r>
            <a:r>
              <a:rPr lang="en" sz="2400">
                <a:solidFill>
                  <a:schemeClr val="dk1"/>
                </a:solidFill>
                <a:latin typeface="Times New Roman"/>
                <a:ea typeface="Times New Roman"/>
                <a:cs typeface="Times New Roman"/>
                <a:sym typeface="Times New Roman"/>
              </a:rPr>
              <a:t> Compares random effects against fixed effects to check whether the unobserved individual effects are correlated with the predictors.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Intraclass Correlation Coefficient (ICC):</a:t>
            </a:r>
            <a:r>
              <a:rPr lang="en" sz="2400">
                <a:solidFill>
                  <a:schemeClr val="dk1"/>
                </a:solidFill>
                <a:latin typeface="Times New Roman"/>
                <a:ea typeface="Times New Roman"/>
                <a:cs typeface="Times New Roman"/>
                <a:sym typeface="Times New Roman"/>
              </a:rPr>
              <a:t> Measures how much of the total variance is explained by the group-level random effect. A high ICC means data points within the same group cluster tightly together.</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6"/>
          <p:cNvSpPr txBox="1"/>
          <p:nvPr/>
        </p:nvSpPr>
        <p:spPr>
          <a:xfrm>
            <a:off x="340050" y="326700"/>
            <a:ext cx="8883000" cy="510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How do we choose between FEM and REM?</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A commonly used method is the Hausman Test.</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H</a:t>
            </a:r>
            <a:r>
              <a:rPr baseline="-25000" lang="en" sz="2400">
                <a:latin typeface="Times New Roman"/>
                <a:ea typeface="Times New Roman"/>
                <a:cs typeface="Times New Roman"/>
                <a:sym typeface="Times New Roman"/>
              </a:rPr>
              <a:t>0</a:t>
            </a:r>
            <a:r>
              <a:rPr lang="en" sz="2400">
                <a:latin typeface="Times New Roman"/>
                <a:ea typeface="Times New Roman"/>
                <a:cs typeface="Times New Roman"/>
                <a:sym typeface="Times New Roman"/>
              </a:rPr>
              <a:t>: Random Effects is consistent and appropriate under the model assumptions.</a:t>
            </a:r>
            <a:endParaRPr sz="2400">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 sz="2400">
                <a:latin typeface="Times New Roman"/>
                <a:ea typeface="Times New Roman"/>
                <a:cs typeface="Times New Roman"/>
                <a:sym typeface="Times New Roman"/>
              </a:rPr>
              <a:t>H</a:t>
            </a:r>
            <a:r>
              <a:rPr baseline="-25000" lang="en" sz="2400">
                <a:latin typeface="Times New Roman"/>
                <a:ea typeface="Times New Roman"/>
                <a:cs typeface="Times New Roman"/>
                <a:sym typeface="Times New Roman"/>
              </a:rPr>
              <a:t>1</a:t>
            </a:r>
            <a:r>
              <a:rPr lang="en" sz="2400">
                <a:latin typeface="Times New Roman"/>
                <a:ea typeface="Times New Roman"/>
                <a:cs typeface="Times New Roman"/>
                <a:sym typeface="Times New Roman"/>
              </a:rPr>
              <a:t>: Random Effects is inconsistent; Fixed Effects is preferred.</a:t>
            </a:r>
            <a:endParaRPr sz="24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 sz="2400">
                <a:solidFill>
                  <a:schemeClr val="dk1"/>
                </a:solidFill>
                <a:latin typeface="Times New Roman"/>
                <a:ea typeface="Times New Roman"/>
                <a:cs typeface="Times New Roman"/>
                <a:sym typeface="Times New Roman"/>
              </a:rPr>
              <a:t>At the 5% significance level:</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If (p &lt; 0.05): Reject H</a:t>
            </a:r>
            <a:r>
              <a:rPr baseline="-25000" lang="en" sz="2400">
                <a:solidFill>
                  <a:schemeClr val="dk1"/>
                </a:solidFill>
                <a:latin typeface="Times New Roman"/>
                <a:ea typeface="Times New Roman"/>
                <a:cs typeface="Times New Roman"/>
                <a:sym typeface="Times New Roman"/>
              </a:rPr>
              <a:t>0</a:t>
            </a:r>
            <a:r>
              <a:rPr lang="en" sz="2400">
                <a:solidFill>
                  <a:schemeClr val="dk1"/>
                </a:solidFill>
                <a:latin typeface="Times New Roman"/>
                <a:ea typeface="Times New Roman"/>
                <a:cs typeface="Times New Roman"/>
                <a:sym typeface="Times New Roman"/>
              </a:rPr>
              <a:t>; generally prefer Fixed Effects.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If \(p &gt; 0.05): Do not reject H</a:t>
            </a:r>
            <a:r>
              <a:rPr baseline="-25000" lang="en" sz="2400">
                <a:solidFill>
                  <a:schemeClr val="dk1"/>
                </a:solidFill>
                <a:latin typeface="Times New Roman"/>
                <a:ea typeface="Times New Roman"/>
                <a:cs typeface="Times New Roman"/>
                <a:sym typeface="Times New Roman"/>
              </a:rPr>
              <a:t>1</a:t>
            </a:r>
            <a:r>
              <a:rPr lang="en" sz="2400">
                <a:solidFill>
                  <a:schemeClr val="dk1"/>
                </a:solidFill>
                <a:latin typeface="Times New Roman"/>
                <a:ea typeface="Times New Roman"/>
                <a:cs typeface="Times New Roman"/>
                <a:sym typeface="Times New Roman"/>
              </a:rPr>
              <a:t>; Random Effects may be appropriate.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2400">
                <a:solidFill>
                  <a:schemeClr val="dk1"/>
                </a:solidFill>
                <a:latin typeface="Times New Roman"/>
                <a:ea typeface="Times New Roman"/>
                <a:cs typeface="Times New Roman"/>
                <a:sym typeface="Times New Roman"/>
              </a:rPr>
              <a:t>A large p-value does not prove that Random Effects is correct; the assumptions and study design still matter.</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4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7"/>
          <p:cNvSpPr txBox="1"/>
          <p:nvPr/>
        </p:nvSpPr>
        <p:spPr>
          <a:xfrm>
            <a:off x="190500" y="0"/>
            <a:ext cx="8401200" cy="4647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en" sz="2400">
                <a:solidFill>
                  <a:schemeClr val="dk1"/>
                </a:solidFill>
                <a:latin typeface="Times New Roman"/>
                <a:ea typeface="Times New Roman"/>
                <a:cs typeface="Times New Roman"/>
                <a:sym typeface="Times New Roman"/>
              </a:rPr>
              <a:t>Applications:</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210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Panel Data (Econometrics &amp; Social Science):</a:t>
            </a:r>
            <a:r>
              <a:rPr lang="en" sz="2400">
                <a:solidFill>
                  <a:schemeClr val="dk1"/>
                </a:solidFill>
                <a:latin typeface="Times New Roman"/>
                <a:ea typeface="Times New Roman"/>
                <a:cs typeface="Times New Roman"/>
                <a:sym typeface="Times New Roman"/>
              </a:rPr>
              <a:t> Analyzes repeated observations on the same individuals, firms, or countries over time while handling group-level noise.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Meta-Analysis:</a:t>
            </a:r>
            <a:r>
              <a:rPr lang="en" sz="2400">
                <a:solidFill>
                  <a:schemeClr val="dk1"/>
                </a:solidFill>
                <a:latin typeface="Times New Roman"/>
                <a:ea typeface="Times New Roman"/>
                <a:cs typeface="Times New Roman"/>
                <a:sym typeface="Times New Roman"/>
              </a:rPr>
              <a:t> Combines multiple independent studies that estimate varying true effect sizes due to real clinical or methodological heterogeneity.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 sz="2400">
                <a:solidFill>
                  <a:schemeClr val="dk1"/>
                </a:solidFill>
                <a:latin typeface="Times New Roman"/>
                <a:ea typeface="Times New Roman"/>
                <a:cs typeface="Times New Roman"/>
                <a:sym typeface="Times New Roman"/>
              </a:rPr>
              <a:t>Hierarchical / Multilevel Data:</a:t>
            </a:r>
            <a:r>
              <a:rPr lang="en" sz="2400">
                <a:solidFill>
                  <a:schemeClr val="dk1"/>
                </a:solidFill>
                <a:latin typeface="Times New Roman"/>
                <a:ea typeface="Times New Roman"/>
                <a:cs typeface="Times New Roman"/>
                <a:sym typeface="Times New Roman"/>
              </a:rPr>
              <a:t> Models nested structures, such as students grouped inside classrooms or patients grouped inside hospitals.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graphicFrame>
        <p:nvGraphicFramePr>
          <p:cNvPr id="302" name="Google Shape;302;p58"/>
          <p:cNvGraphicFramePr/>
          <p:nvPr/>
        </p:nvGraphicFramePr>
        <p:xfrm>
          <a:off x="457175" y="323850"/>
          <a:ext cx="3000000" cy="3000000"/>
        </p:xfrm>
        <a:graphic>
          <a:graphicData uri="http://schemas.openxmlformats.org/drawingml/2006/table">
            <a:tbl>
              <a:tblPr>
                <a:noFill/>
                <a:tableStyleId>{06FBA481-5394-4BA9-8518-3244690B3009}</a:tableStyleId>
              </a:tblPr>
              <a:tblGrid>
                <a:gridCol w="1533175"/>
                <a:gridCol w="1533175"/>
                <a:gridCol w="2094100"/>
                <a:gridCol w="2916775"/>
              </a:tblGrid>
              <a:tr h="190500">
                <a:tc>
                  <a:txBody>
                    <a:bodyPr/>
                    <a:lstStyle/>
                    <a:p>
                      <a:pPr indent="0" lvl="0" marL="0" rtl="0" algn="ctr">
                        <a:lnSpc>
                          <a:spcPct val="115000"/>
                        </a:lnSpc>
                        <a:spcBef>
                          <a:spcPts val="0"/>
                        </a:spcBef>
                        <a:spcAft>
                          <a:spcPts val="0"/>
                        </a:spcAft>
                        <a:buNone/>
                      </a:pPr>
                      <a:r>
                        <a:rPr b="1" lang="en" sz="1800">
                          <a:latin typeface="Times New Roman"/>
                          <a:ea typeface="Times New Roman"/>
                          <a:cs typeface="Times New Roman"/>
                          <a:sym typeface="Times New Roman"/>
                        </a:rPr>
                        <a:t>Application</a:t>
                      </a:r>
                      <a:endParaRPr b="1"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latin typeface="Times New Roman"/>
                          <a:ea typeface="Times New Roman"/>
                          <a:cs typeface="Times New Roman"/>
                          <a:sym typeface="Times New Roman"/>
                        </a:rPr>
                        <a:t>Entity</a:t>
                      </a:r>
                      <a:endParaRPr b="1"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latin typeface="Times New Roman"/>
                          <a:ea typeface="Times New Roman"/>
                          <a:cs typeface="Times New Roman"/>
                          <a:sym typeface="Times New Roman"/>
                        </a:rPr>
                        <a:t>Time dimension</a:t>
                      </a:r>
                      <a:endParaRPr b="1"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800">
                          <a:latin typeface="Times New Roman"/>
                          <a:ea typeface="Times New Roman"/>
                          <a:cs typeface="Times New Roman"/>
                          <a:sym typeface="Times New Roman"/>
                        </a:rPr>
                        <a:t>Example outcome</a:t>
                      </a:r>
                      <a:endParaRPr b="1"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Education</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Colleges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Academic years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Student pass percentage</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Business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Retail stores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Months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Sales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Banking</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Banks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Years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Profit</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Healthcare</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Hospitals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Months or years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Patient outcomes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Economics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States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Years</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800">
                          <a:latin typeface="Times New Roman"/>
                          <a:ea typeface="Times New Roman"/>
                          <a:cs typeface="Times New Roman"/>
                          <a:sym typeface="Times New Roman"/>
                        </a:rPr>
                        <a:t>State GDP</a:t>
                      </a:r>
                      <a:endParaRPr sz="1800">
                        <a:latin typeface="Times New Roman"/>
                        <a:ea typeface="Times New Roman"/>
                        <a:cs typeface="Times New Roman"/>
                        <a:sym typeface="Times New Roman"/>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303" name="Google Shape;303;p58"/>
          <p:cNvSpPr txBox="1"/>
          <p:nvPr/>
        </p:nvSpPr>
        <p:spPr>
          <a:xfrm>
            <a:off x="457175" y="3472725"/>
            <a:ext cx="82107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Times New Roman"/>
                <a:ea typeface="Times New Roman"/>
                <a:cs typeface="Times New Roman"/>
                <a:sym typeface="Times New Roman"/>
              </a:rPr>
              <a:t>Summary:</a:t>
            </a:r>
            <a:endParaRPr b="1"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Fixed Effects: Each entity can have its own fixed baseline.</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Random Effects: Entity-specific differences are treated as random variation.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9"/>
          <p:cNvSpPr txBox="1"/>
          <p:nvPr/>
        </p:nvSpPr>
        <p:spPr>
          <a:xfrm>
            <a:off x="514350" y="419100"/>
            <a:ext cx="8001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sp>
        <p:nvSpPr>
          <p:cNvPr id="309" name="Google Shape;309;p59"/>
          <p:cNvSpPr txBox="1"/>
          <p:nvPr/>
        </p:nvSpPr>
        <p:spPr>
          <a:xfrm>
            <a:off x="514350" y="419100"/>
            <a:ext cx="84774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310" name="Google Shape;310;p59"/>
          <p:cNvSpPr txBox="1"/>
          <p:nvPr/>
        </p:nvSpPr>
        <p:spPr>
          <a:xfrm>
            <a:off x="304800" y="419100"/>
            <a:ext cx="8477400" cy="422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2400">
                <a:solidFill>
                  <a:schemeClr val="dk1"/>
                </a:solidFill>
                <a:latin typeface="Times New Roman"/>
                <a:ea typeface="Times New Roman"/>
                <a:cs typeface="Times New Roman"/>
                <a:sym typeface="Times New Roman"/>
              </a:rPr>
              <a:t>Forms of Panel Data Models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 sz="2400">
                <a:solidFill>
                  <a:schemeClr val="dk1"/>
                </a:solidFill>
                <a:latin typeface="Times New Roman"/>
                <a:ea typeface="Times New Roman"/>
                <a:cs typeface="Times New Roman"/>
                <a:sym typeface="Times New Roman"/>
              </a:rPr>
              <a:t>1. What are the forms of panel data models?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Panel data combines observations on multiple entities over multiple time periods. The main model forms we have discussed are: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Pooled Ordinary Least Squares (Pooled OLS)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Fixed Effects Model (FEM)</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AutoNum type="arabicPeriod"/>
            </a:pPr>
            <a:r>
              <a:rPr lang="en" sz="2400">
                <a:solidFill>
                  <a:schemeClr val="dk1"/>
                </a:solidFill>
                <a:latin typeface="Times New Roman"/>
                <a:ea typeface="Times New Roman"/>
                <a:cs typeface="Times New Roman"/>
                <a:sym typeface="Times New Roman"/>
              </a:rPr>
              <a:t>Random Effects Model (REM)</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0"/>
          <p:cNvSpPr txBox="1"/>
          <p:nvPr/>
        </p:nvSpPr>
        <p:spPr>
          <a:xfrm>
            <a:off x="0" y="0"/>
            <a:ext cx="8439300" cy="34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2400">
                <a:solidFill>
                  <a:schemeClr val="dk1"/>
                </a:solidFill>
                <a:latin typeface="Times New Roman"/>
                <a:ea typeface="Times New Roman"/>
                <a:cs typeface="Times New Roman"/>
                <a:sym typeface="Times New Roman"/>
              </a:rPr>
              <a:t>Suppose we want to study the effect of advertising expenditure on sales for five retail stores over three years.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Dependent variable Y: Sales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Independent variable X: Advertising expenditure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Entity: Retail store</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Time dimension: Year</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61"/>
          <p:cNvSpPr txBox="1"/>
          <p:nvPr/>
        </p:nvSpPr>
        <p:spPr>
          <a:xfrm>
            <a:off x="247650" y="247650"/>
            <a:ext cx="8553600" cy="482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Pooled OLS Model</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       Pooled OLS combines all entity-time observations into one dataset and estimates a common regression equation, without explicitly modelling store-specific effects.</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                          Sales</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β</a:t>
            </a:r>
            <a:r>
              <a:rPr baseline="-25000" lang="en" sz="2400">
                <a:latin typeface="Times New Roman"/>
                <a:ea typeface="Times New Roman"/>
                <a:cs typeface="Times New Roman"/>
                <a:sym typeface="Times New Roman"/>
              </a:rPr>
              <a:t>0 </a:t>
            </a:r>
            <a:r>
              <a:rPr lang="en" sz="2400">
                <a:latin typeface="Times New Roman"/>
                <a:ea typeface="Times New Roman"/>
                <a:cs typeface="Times New Roman"/>
                <a:sym typeface="Times New Roman"/>
              </a:rPr>
              <a:t>+ β</a:t>
            </a:r>
            <a:r>
              <a:rPr baseline="-25000" lang="en" sz="2400">
                <a:latin typeface="Times New Roman"/>
                <a:ea typeface="Times New Roman"/>
                <a:cs typeface="Times New Roman"/>
                <a:sym typeface="Times New Roman"/>
              </a:rPr>
              <a:t>1</a:t>
            </a:r>
            <a:r>
              <a:rPr lang="en" sz="2400">
                <a:latin typeface="Times New Roman"/>
                <a:ea typeface="Times New Roman"/>
                <a:cs typeface="Times New Roman"/>
                <a:sym typeface="Times New Roman"/>
              </a:rPr>
              <a:t> </a:t>
            </a:r>
            <a:r>
              <a:rPr baseline="-25000"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Adverstising</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 Ɛ</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Example: All five stores are treated as observations from one pooled dataset, with a common intercept and advertising coefficient.</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Assumption: </a:t>
            </a:r>
            <a:r>
              <a:rPr lang="en" sz="2400">
                <a:latin typeface="Times New Roman"/>
                <a:ea typeface="Times New Roman"/>
                <a:cs typeface="Times New Roman"/>
                <a:sym typeface="Times New Roman"/>
              </a:rPr>
              <a:t>Any store-specific differences that matter are handled by the model's error structure; simply pooling observations does not automatically account for persistent store differences.</a:t>
            </a:r>
            <a:endParaRPr sz="2400">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b="1" lang="en" sz="2400">
                <a:solidFill>
                  <a:schemeClr val="dk1"/>
                </a:solidFill>
                <a:latin typeface="Times New Roman"/>
                <a:ea typeface="Times New Roman"/>
                <a:cs typeface="Times New Roman"/>
                <a:sym typeface="Times New Roman"/>
              </a:rPr>
              <a:t>Limitation:</a:t>
            </a:r>
            <a:r>
              <a:rPr lang="en" sz="2400">
                <a:solidFill>
                  <a:schemeClr val="dk1"/>
                </a:solidFill>
                <a:latin typeface="Times New Roman"/>
                <a:ea typeface="Times New Roman"/>
                <a:cs typeface="Times New Roman"/>
                <a:sym typeface="Times New Roman"/>
              </a:rPr>
              <a:t> If important store-specific characteristics are omitted and correlated with advertising, the estimates may be biased.</a:t>
            </a:r>
            <a:endParaRPr sz="2400">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2"/>
          <p:cNvSpPr txBox="1"/>
          <p:nvPr/>
        </p:nvSpPr>
        <p:spPr>
          <a:xfrm>
            <a:off x="0" y="0"/>
            <a:ext cx="69723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p>
        </p:txBody>
      </p:sp>
      <p:sp>
        <p:nvSpPr>
          <p:cNvPr id="326" name="Google Shape;326;p62"/>
          <p:cNvSpPr txBox="1"/>
          <p:nvPr/>
        </p:nvSpPr>
        <p:spPr>
          <a:xfrm>
            <a:off x="161850" y="266700"/>
            <a:ext cx="88203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Fixed Effects Model (FEM)</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 Fixed Effects Model accounts for stable, unobserved differences between entities, such as store location, established reputation or customer loyalty.      Sales</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a:t>
            </a:r>
            <a:r>
              <a:rPr baseline="-25000" lang="en" sz="2400">
                <a:latin typeface="Times New Roman"/>
                <a:ea typeface="Times New Roman"/>
                <a:cs typeface="Times New Roman"/>
                <a:sym typeface="Times New Roman"/>
              </a:rPr>
              <a:t>i </a:t>
            </a:r>
            <a:r>
              <a:rPr lang="en" sz="2400">
                <a:latin typeface="Times New Roman"/>
                <a:ea typeface="Times New Roman"/>
                <a:cs typeface="Times New Roman"/>
                <a:sym typeface="Times New Roman"/>
              </a:rPr>
              <a:t>+ β </a:t>
            </a:r>
            <a:r>
              <a:rPr baseline="-25000" lang="en" sz="2400">
                <a:latin typeface="Times New Roman"/>
                <a:ea typeface="Times New Roman"/>
                <a:cs typeface="Times New Roman"/>
                <a:sym typeface="Times New Roman"/>
              </a:rPr>
              <a:t> </a:t>
            </a:r>
            <a:r>
              <a:rPr lang="en" sz="2400">
                <a:latin typeface="Times New Roman"/>
                <a:ea typeface="Times New Roman"/>
                <a:cs typeface="Times New Roman"/>
                <a:sym typeface="Times New Roman"/>
              </a:rPr>
              <a:t>Adverstising</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 Ɛ</a:t>
            </a:r>
            <a:r>
              <a:rPr baseline="-25000" lang="en" sz="2400">
                <a:latin typeface="Times New Roman"/>
                <a:ea typeface="Times New Roman"/>
                <a:cs typeface="Times New Roman"/>
                <a:sym typeface="Times New Roman"/>
              </a:rPr>
              <a:t>it</a:t>
            </a:r>
            <a:r>
              <a:rPr lang="en" sz="2400">
                <a:latin typeface="Times New Roman"/>
                <a:ea typeface="Times New Roman"/>
                <a:cs typeface="Times New Roman"/>
                <a:sym typeface="Times New Roman"/>
              </a:rPr>
              <a:t> </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Here, ∝</a:t>
            </a:r>
            <a:r>
              <a:rPr baseline="-25000" lang="en" sz="2400">
                <a:latin typeface="Times New Roman"/>
                <a:ea typeface="Times New Roman"/>
                <a:cs typeface="Times New Roman"/>
                <a:sym typeface="Times New Roman"/>
              </a:rPr>
              <a:t>i</a:t>
            </a:r>
            <a:r>
              <a:rPr lang="en" sz="2400">
                <a:latin typeface="Times New Roman"/>
                <a:ea typeface="Times New Roman"/>
                <a:cs typeface="Times New Roman"/>
                <a:sym typeface="Times New Roman"/>
              </a:rPr>
              <a:t> is the store-specific intercept.</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Example:</a:t>
            </a:r>
            <a:r>
              <a:rPr lang="en" sz="2400">
                <a:latin typeface="Times New Roman"/>
                <a:ea typeface="Times New Roman"/>
                <a:cs typeface="Times New Roman"/>
                <a:sym typeface="Times New Roman"/>
              </a:rPr>
              <a:t> Store A may have a lower baseline sales level than Store B because of its location. FEM allows each store to have its own intercept.</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Key feature:</a:t>
            </a:r>
            <a:r>
              <a:rPr lang="en" sz="2400">
                <a:latin typeface="Times New Roman"/>
                <a:ea typeface="Times New Roman"/>
                <a:cs typeface="Times New Roman"/>
                <a:sym typeface="Times New Roman"/>
              </a:rPr>
              <a:t> Entity-specific effects may be correlated with the explanatory variables.</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Limitation:</a:t>
            </a:r>
            <a:r>
              <a:rPr lang="en" sz="2400">
                <a:latin typeface="Times New Roman"/>
                <a:ea typeface="Times New Roman"/>
                <a:cs typeface="Times New Roman"/>
                <a:sym typeface="Times New Roman"/>
              </a:rPr>
              <a:t> The separate effects of time-invariant predictors, such as a store's permanently fixed location category, cannot generally be estimated in the standard entity fixed-effects model.</a:t>
            </a:r>
            <a:endParaRPr sz="2400">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63"/>
          <p:cNvSpPr txBox="1"/>
          <p:nvPr/>
        </p:nvSpPr>
        <p:spPr>
          <a:xfrm>
            <a:off x="228600" y="304800"/>
            <a:ext cx="89154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latin typeface="Times New Roman"/>
                <a:ea typeface="Times New Roman"/>
                <a:cs typeface="Times New Roman"/>
                <a:sym typeface="Times New Roman"/>
              </a:rPr>
              <a:t>Random Effects Model (REM)</a:t>
            </a:r>
            <a:endParaRPr b="1"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The Random Effects Model treats entity-specific differences as random effects. </a:t>
            </a:r>
            <a:r>
              <a:rPr lang="en" sz="2400">
                <a:solidFill>
                  <a:schemeClr val="dk1"/>
                </a:solidFill>
                <a:latin typeface="Times New Roman"/>
                <a:ea typeface="Times New Roman"/>
                <a:cs typeface="Times New Roman"/>
                <a:sym typeface="Times New Roman"/>
              </a:rPr>
              <a:t> </a:t>
            </a:r>
            <a:r>
              <a:rPr b="1" lang="en" sz="2300">
                <a:solidFill>
                  <a:schemeClr val="dk1"/>
                </a:solidFill>
                <a:latin typeface="Times New Roman"/>
                <a:ea typeface="Times New Roman"/>
                <a:cs typeface="Times New Roman"/>
                <a:sym typeface="Times New Roman"/>
              </a:rPr>
              <a:t>Sales</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β</a:t>
            </a:r>
            <a:r>
              <a:rPr b="1" baseline="-25000" lang="en" sz="2300">
                <a:solidFill>
                  <a:schemeClr val="dk1"/>
                </a:solidFill>
                <a:latin typeface="Times New Roman"/>
                <a:ea typeface="Times New Roman"/>
                <a:cs typeface="Times New Roman"/>
                <a:sym typeface="Times New Roman"/>
              </a:rPr>
              <a:t>0 </a:t>
            </a:r>
            <a:r>
              <a:rPr b="1" lang="en" sz="2300">
                <a:solidFill>
                  <a:schemeClr val="dk1"/>
                </a:solidFill>
                <a:latin typeface="Times New Roman"/>
                <a:ea typeface="Times New Roman"/>
                <a:cs typeface="Times New Roman"/>
                <a:sym typeface="Times New Roman"/>
              </a:rPr>
              <a:t>+ β</a:t>
            </a:r>
            <a:r>
              <a:rPr b="1" baseline="-25000" lang="en" sz="2300">
                <a:solidFill>
                  <a:schemeClr val="dk1"/>
                </a:solidFill>
                <a:latin typeface="Times New Roman"/>
                <a:ea typeface="Times New Roman"/>
                <a:cs typeface="Times New Roman"/>
                <a:sym typeface="Times New Roman"/>
              </a:rPr>
              <a:t>1</a:t>
            </a:r>
            <a:r>
              <a:rPr b="1" lang="en" sz="2300">
                <a:solidFill>
                  <a:schemeClr val="dk1"/>
                </a:solidFill>
                <a:latin typeface="Times New Roman"/>
                <a:ea typeface="Times New Roman"/>
                <a:cs typeface="Times New Roman"/>
                <a:sym typeface="Times New Roman"/>
              </a:rPr>
              <a:t> </a:t>
            </a:r>
            <a:r>
              <a:rPr b="1" baseline="-25000" lang="en" sz="2300">
                <a:solidFill>
                  <a:schemeClr val="dk1"/>
                </a:solidFill>
                <a:latin typeface="Times New Roman"/>
                <a:ea typeface="Times New Roman"/>
                <a:cs typeface="Times New Roman"/>
                <a:sym typeface="Times New Roman"/>
              </a:rPr>
              <a:t> </a:t>
            </a:r>
            <a:r>
              <a:rPr b="1" lang="en" sz="2300">
                <a:solidFill>
                  <a:schemeClr val="dk1"/>
                </a:solidFill>
                <a:latin typeface="Times New Roman"/>
                <a:ea typeface="Times New Roman"/>
                <a:cs typeface="Times New Roman"/>
                <a:sym typeface="Times New Roman"/>
              </a:rPr>
              <a:t>Advertising</a:t>
            </a:r>
            <a:r>
              <a:rPr b="1" baseline="-25000" lang="en" sz="2300">
                <a:solidFill>
                  <a:schemeClr val="dk1"/>
                </a:solidFill>
                <a:latin typeface="Times New Roman"/>
                <a:ea typeface="Times New Roman"/>
                <a:cs typeface="Times New Roman"/>
                <a:sym typeface="Times New Roman"/>
              </a:rPr>
              <a:t>it</a:t>
            </a:r>
            <a:r>
              <a:rPr b="1" lang="en" sz="2300">
                <a:solidFill>
                  <a:schemeClr val="dk1"/>
                </a:solidFill>
                <a:latin typeface="Times New Roman"/>
                <a:ea typeface="Times New Roman"/>
                <a:cs typeface="Times New Roman"/>
                <a:sym typeface="Times New Roman"/>
              </a:rPr>
              <a:t> +  μ</a:t>
            </a:r>
            <a:r>
              <a:rPr b="1" baseline="-25000" lang="en" sz="2300">
                <a:solidFill>
                  <a:schemeClr val="dk1"/>
                </a:solidFill>
                <a:latin typeface="Times New Roman"/>
                <a:ea typeface="Times New Roman"/>
                <a:cs typeface="Times New Roman"/>
                <a:sym typeface="Times New Roman"/>
              </a:rPr>
              <a:t>i</a:t>
            </a:r>
            <a:r>
              <a:rPr b="1" lang="en" sz="2300">
                <a:solidFill>
                  <a:schemeClr val="dk1"/>
                </a:solidFill>
                <a:latin typeface="Times New Roman"/>
                <a:ea typeface="Times New Roman"/>
                <a:cs typeface="Times New Roman"/>
                <a:sym typeface="Times New Roman"/>
              </a:rPr>
              <a:t>+Ɛ</a:t>
            </a:r>
            <a:r>
              <a:rPr b="1" baseline="-25000" lang="en" sz="2300">
                <a:solidFill>
                  <a:schemeClr val="dk1"/>
                </a:solidFill>
                <a:latin typeface="Times New Roman"/>
                <a:ea typeface="Times New Roman"/>
                <a:cs typeface="Times New Roman"/>
                <a:sym typeface="Times New Roman"/>
              </a:rPr>
              <a:t>it</a:t>
            </a:r>
            <a:endParaRPr sz="2400">
              <a:latin typeface="Times New Roman"/>
              <a:ea typeface="Times New Roman"/>
              <a:cs typeface="Times New Roman"/>
              <a:sym typeface="Times New Roman"/>
            </a:endParaRPr>
          </a:p>
          <a:p>
            <a:pPr indent="0" lvl="0" marL="0" rtl="0" algn="l">
              <a:spcBef>
                <a:spcPts val="0"/>
              </a:spcBef>
              <a:spcAft>
                <a:spcPts val="0"/>
              </a:spcAft>
              <a:buNone/>
            </a:pPr>
            <a:r>
              <a:rPr lang="en" sz="2400">
                <a:latin typeface="Times New Roman"/>
                <a:ea typeface="Times New Roman"/>
                <a:cs typeface="Times New Roman"/>
                <a:sym typeface="Times New Roman"/>
              </a:rPr>
              <a:t>Here, </a:t>
            </a:r>
            <a:r>
              <a:rPr b="1" lang="en" sz="2300">
                <a:solidFill>
                  <a:schemeClr val="dk1"/>
                </a:solidFill>
                <a:latin typeface="Times New Roman"/>
                <a:ea typeface="Times New Roman"/>
                <a:cs typeface="Times New Roman"/>
                <a:sym typeface="Times New Roman"/>
              </a:rPr>
              <a:t>μ</a:t>
            </a:r>
            <a:r>
              <a:rPr b="1" baseline="-25000" lang="en" sz="2300">
                <a:solidFill>
                  <a:schemeClr val="dk1"/>
                </a:solidFill>
                <a:latin typeface="Times New Roman"/>
                <a:ea typeface="Times New Roman"/>
                <a:cs typeface="Times New Roman"/>
                <a:sym typeface="Times New Roman"/>
              </a:rPr>
              <a:t>i</a:t>
            </a:r>
            <a:r>
              <a:rPr lang="en" sz="2400">
                <a:latin typeface="Times New Roman"/>
                <a:ea typeface="Times New Roman"/>
                <a:cs typeface="Times New Roman"/>
                <a:sym typeface="Times New Roman"/>
              </a:rPr>
              <a:t> represents the store-specific random effect.</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b="1"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Key assumption:</a:t>
            </a:r>
            <a:r>
              <a:rPr lang="en" sz="2400">
                <a:latin typeface="Times New Roman"/>
                <a:ea typeface="Times New Roman"/>
                <a:cs typeface="Times New Roman"/>
                <a:sym typeface="Times New Roman"/>
              </a:rPr>
              <a:t> The random effects are uncorrelated with the explanatory variables.</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Advantage: </a:t>
            </a:r>
            <a:r>
              <a:rPr lang="en" sz="2400">
                <a:latin typeface="Times New Roman"/>
                <a:ea typeface="Times New Roman"/>
                <a:cs typeface="Times New Roman"/>
                <a:sym typeface="Times New Roman"/>
              </a:rPr>
              <a:t>Under the model assumptions, REM can estimate the effects of time-invariant predictors and may be more efficient than FEM.</a:t>
            </a:r>
            <a:endParaRPr sz="2400">
              <a:latin typeface="Times New Roman"/>
              <a:ea typeface="Times New Roman"/>
              <a:cs typeface="Times New Roman"/>
              <a:sym typeface="Times New Roman"/>
            </a:endParaRPr>
          </a:p>
          <a:p>
            <a:pPr indent="0" lvl="0" marL="0" rtl="0" algn="l">
              <a:spcBef>
                <a:spcPts val="0"/>
              </a:spcBef>
              <a:spcAft>
                <a:spcPts val="0"/>
              </a:spcAft>
              <a:buNone/>
            </a:pPr>
            <a:r>
              <a:rPr b="1" lang="en" sz="2400">
                <a:latin typeface="Times New Roman"/>
                <a:ea typeface="Times New Roman"/>
                <a:cs typeface="Times New Roman"/>
                <a:sym typeface="Times New Roman"/>
              </a:rPr>
              <a:t>Limitation:</a:t>
            </a:r>
            <a:r>
              <a:rPr lang="en" sz="2400">
                <a:latin typeface="Times New Roman"/>
                <a:ea typeface="Times New Roman"/>
                <a:cs typeface="Times New Roman"/>
                <a:sym typeface="Times New Roman"/>
              </a:rPr>
              <a:t> If the random effects are correlated with the predictors, the standard REM estimator may be inconsistent.</a:t>
            </a:r>
            <a:endParaRPr sz="24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