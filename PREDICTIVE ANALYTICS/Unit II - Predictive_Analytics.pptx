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6858000" cx="12191675"/>
  <p:notesSz cx="6858000" cy="9144000"/>
  <p:embeddedFontLst>
    <p:embeddedFont>
      <p:font typeface="Roboto"/>
      <p:regular r:id="rId46"/>
      <p:bold r:id="rId47"/>
      <p:italic r:id="rId48"/>
      <p:boldItalic r:id="rId49"/>
    </p:embeddedFont>
    <p:embeddedFont>
      <p:font typeface="Nunito"/>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4" roundtripDataSignature="AMtx7miwbzps4ysJSJwzxPb1lB0dxEiP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8E0F4F-5B93-4366-B9F5-AB34FFFCB298}">
  <a:tblStyle styleId="{118E0F4F-5B93-4366-B9F5-AB34FFFCB29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D6FB90C-68D5-4DC2-8CC6-06CA0C885E98}"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Roboto-regular.fntdata"/><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Nunito-bold.fntdata"/><Relationship Id="rId50" Type="http://schemas.openxmlformats.org/officeDocument/2006/relationships/font" Target="fonts/Nunito-regular.fntdata"/><Relationship Id="rId53" Type="http://schemas.openxmlformats.org/officeDocument/2006/relationships/font" Target="fonts/Nunito-boldItalic.fntdata"/><Relationship Id="rId52" Type="http://schemas.openxmlformats.org/officeDocument/2006/relationships/font" Target="fonts/Nunito-italic.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ha7d38579d64536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ha7d38579d64536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a7d38579d64536_0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a7d38579d6453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a7d38579d64536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ha7d38579d64536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a7d38579d64536_0_1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a7d38579d64536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ha7d38579d64536_0_1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ha7d38579d6453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a7d38579d64536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a7d38579d6453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a7d38579d64536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a7d38579d6453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h62b2205ea301b09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h62b2205ea301b0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h62b2205ea301b09f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h62b2205ea301b09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62b2205ea301b09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62b2205ea301b09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62b2205ea301b09f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h62b2205ea301b09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62b2205ea301b09f_0_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62b2205ea301b09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62b2205ea301b09f_0_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62b2205ea301b09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h62b2205ea301b09f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h62b2205ea301b09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h62b2205ea301b09f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h62b2205ea301b09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62b2205ea301b09f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62b2205ea301b09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h62b2205ea301b09f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h62b2205ea301b09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h62b2205ea301b09f_0_1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h62b2205ea301b09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62b2205ea301b09f_0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h62b2205ea301b09f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2205aeae9b1c56d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2205aeae9b1c56d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h2205aeae9b1c56da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h2205aeae9b1c56d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h2205aeae9b1c56da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h2205aeae9b1c56d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h62b2205ea301b09f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h62b2205ea301b09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h2205aeae9b1c56da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h2205aeae9b1c56d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62b2205ea301b09f_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62b2205ea301b09f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62b2205ea301b09f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62b2205ea301b09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h62b2205ea301b09f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h62b2205ea301b09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h2205aeae9b1c56da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h2205aeae9b1c56da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h2205aeae9b1c56da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h2205aeae9b1c56d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36dc2ce36be3d2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h36dc2ce36be3d2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h36dc2ce36be3d24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h36dc2ce36be3d2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h2205aeae9b1c56da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h2205aeae9b1c56da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h7ea41d1a13685d4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h7ea41d1a13685d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54bad88e4038c33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h54bad88e4038c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630db3fd719f6c7e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630db3fd719f6c7e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h54bad88e4038c330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h54bad88e4038c33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630db3fd719f6c7e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630db3fd719f6c7e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630db3fd719f6c7e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630db3fd719f6c7e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630db3fd719f6c7e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630db3fd719f6c7e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5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5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5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5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5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7"/>
          <p:cNvSpPr/>
          <p:nvPr>
            <p:ph idx="2" type="pic"/>
          </p:nvPr>
        </p:nvSpPr>
        <p:spPr>
          <a:xfrm>
            <a:off x="1792288" y="612775"/>
            <a:ext cx="5486400" cy="4114800"/>
          </a:xfrm>
          <a:prstGeom prst="rect">
            <a:avLst/>
          </a:prstGeom>
          <a:noFill/>
          <a:ln>
            <a:noFill/>
          </a:ln>
        </p:spPr>
      </p:sp>
      <p:sp>
        <p:nvSpPr>
          <p:cNvPr id="64" name="Google Shape;64;p5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5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en.wikipedia.org/wiki/Homoscedasticity_and_heteroscedasticity" TargetMode="External"/><Relationship Id="rId4" Type="http://schemas.openxmlformats.org/officeDocument/2006/relationships/hyperlink" Target="https://en.wikipedia.org/wiki/Homoscedasticity_and_heteroscedasticit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displayr.com/what-is-heteroscedasticity/" TargetMode="External"/><Relationship Id="rId4" Type="http://schemas.openxmlformats.org/officeDocument/2006/relationships/hyperlink" Target="https://www.displayr.com/what-is-heteroscedasticity/" TargetMode="External"/><Relationship Id="rId5" Type="http://schemas.openxmlformats.org/officeDocument/2006/relationships/hyperlink" Target="https://medium.com/@ghofrantalaat/understanding-heteroscedasticity-meaning-ways-of-detection-and-solutions-905605a22eba" TargetMode="External"/><Relationship Id="rId6" Type="http://schemas.openxmlformats.org/officeDocument/2006/relationships/hyperlink" Target="https://medium.com/@ghofrantalaat/understanding-heteroscedasticity-meaning-ways-of-detection-and-solutions-905605a22eba"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support.minitab.com/en-us/minitab/help-and-how-to/statistical-modeling/regression/how-to/nonlinear-regression/interpret-the-results/all-statistics-and-graphs/residual-plots/" TargetMode="External"/><Relationship Id="rId4" Type="http://schemas.openxmlformats.org/officeDocument/2006/relationships/hyperlink" Target="https://www.graphpad.com/support/faq/why-does-a-normality-test-of-residuals-from-nonlinear-regression-give-different-results-than-a-normality-test-of-the-raw-data/"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geeksforgeeks.org/physics/power/"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ha7d38579d64536_0_89"/>
          <p:cNvSpPr txBox="1"/>
          <p:nvPr/>
        </p:nvSpPr>
        <p:spPr>
          <a:xfrm>
            <a:off x="876025" y="595450"/>
            <a:ext cx="10891500" cy="364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alibri"/>
                <a:ea typeface="Calibri"/>
                <a:cs typeface="Calibri"/>
                <a:sym typeface="Calibri"/>
              </a:rPr>
              <a:t>Unit II - Non-Linear Regression Analysis          9Hrs.</a:t>
            </a:r>
            <a:endParaRPr b="1" sz="3200">
              <a:solidFill>
                <a:schemeClr val="dk1"/>
              </a:solidFill>
              <a:latin typeface="Calibri"/>
              <a:ea typeface="Calibri"/>
              <a:cs typeface="Calibri"/>
              <a:sym typeface="Calibri"/>
            </a:endParaRPr>
          </a:p>
          <a:p>
            <a:pPr indent="0" lvl="0" marL="0" rtl="0" algn="l">
              <a:spcBef>
                <a:spcPts val="0"/>
              </a:spcBef>
              <a:spcAft>
                <a:spcPts val="0"/>
              </a:spcAft>
              <a:buNone/>
            </a:pPr>
            <a:r>
              <a:rPr b="1" lang="en-US" sz="3200">
                <a:solidFill>
                  <a:schemeClr val="dk1"/>
                </a:solidFill>
                <a:latin typeface="Calibri"/>
                <a:ea typeface="Calibri"/>
                <a:cs typeface="Calibri"/>
                <a:sym typeface="Calibri"/>
              </a:rPr>
              <a:t>Concept: </a:t>
            </a:r>
            <a:r>
              <a:rPr lang="en-US" sz="3200">
                <a:solidFill>
                  <a:schemeClr val="dk1"/>
                </a:solidFill>
                <a:latin typeface="Calibri"/>
                <a:ea typeface="Calibri"/>
                <a:cs typeface="Calibri"/>
                <a:sym typeface="Calibri"/>
              </a:rPr>
              <a:t>Types of Non-Linear </a:t>
            </a:r>
            <a:r>
              <a:rPr lang="en-US" sz="3200">
                <a:solidFill>
                  <a:schemeClr val="dk1"/>
                </a:solidFill>
                <a:latin typeface="Calibri"/>
                <a:ea typeface="Calibri"/>
                <a:cs typeface="Calibri"/>
                <a:sym typeface="Calibri"/>
              </a:rPr>
              <a:t>Regression</a:t>
            </a:r>
            <a:r>
              <a:rPr lang="en-US" sz="3200">
                <a:solidFill>
                  <a:schemeClr val="dk1"/>
                </a:solidFill>
                <a:latin typeface="Calibri"/>
                <a:ea typeface="Calibri"/>
                <a:cs typeface="Calibri"/>
                <a:sym typeface="Calibri"/>
              </a:rPr>
              <a:t> Models - Model Transformation - Difference between Linear and Non-Linear Regression Models.</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b="1" lang="en-US" sz="3200">
                <a:solidFill>
                  <a:schemeClr val="dk1"/>
                </a:solidFill>
                <a:latin typeface="Calibri"/>
                <a:ea typeface="Calibri"/>
                <a:cs typeface="Calibri"/>
                <a:sym typeface="Calibri"/>
              </a:rPr>
              <a:t>Diagnostics of Regression Modelling</a:t>
            </a:r>
            <a:r>
              <a:rPr lang="en-US" sz="3200">
                <a:solidFill>
                  <a:schemeClr val="dk1"/>
                </a:solidFill>
                <a:latin typeface="Calibri"/>
                <a:ea typeface="Calibri"/>
                <a:cs typeface="Calibri"/>
                <a:sym typeface="Calibri"/>
              </a:rPr>
              <a:t> - Model Diagnostics - Multicollinarty - Auto correlation.</a:t>
            </a:r>
            <a:endParaRPr sz="3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ha7d38579d64536_0_112"/>
          <p:cNvSpPr txBox="1"/>
          <p:nvPr/>
        </p:nvSpPr>
        <p:spPr>
          <a:xfrm>
            <a:off x="611300" y="592200"/>
            <a:ext cx="11289900" cy="598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What is Non-Linear Regression?</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Non-linear regression</a:t>
            </a:r>
            <a:r>
              <a:rPr lang="en-US" sz="2400">
                <a:solidFill>
                  <a:schemeClr val="dk1"/>
                </a:solidFill>
              </a:rPr>
              <a:t> is a regression technique used when the relationship between the </a:t>
            </a:r>
            <a:r>
              <a:rPr b="1" lang="en-US" sz="2400">
                <a:solidFill>
                  <a:schemeClr val="dk1"/>
                </a:solidFill>
              </a:rPr>
              <a:t>dependent variable (Y)</a:t>
            </a:r>
            <a:r>
              <a:rPr lang="en-US" sz="2400">
                <a:solidFill>
                  <a:schemeClr val="dk1"/>
                </a:solidFill>
              </a:rPr>
              <a:t> and one or more </a:t>
            </a:r>
            <a:r>
              <a:rPr b="1" lang="en-US" sz="2400">
                <a:solidFill>
                  <a:schemeClr val="dk1"/>
                </a:solidFill>
              </a:rPr>
              <a:t>independent variables (X)</a:t>
            </a:r>
            <a:r>
              <a:rPr lang="en-US" sz="2400">
                <a:solidFill>
                  <a:schemeClr val="dk1"/>
                </a:solidFill>
              </a:rPr>
              <a:t> cannot be adequately represented by a straight-line relationship.</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Simple linear regression</a:t>
            </a:r>
            <a:endParaRPr b="1" sz="2400">
              <a:solidFill>
                <a:schemeClr val="dk1"/>
              </a:solidFill>
            </a:endParaRPr>
          </a:p>
          <a:p>
            <a:pPr indent="0" lvl="0" marL="0" rtl="0" algn="l">
              <a:lnSpc>
                <a:spcPct val="115000"/>
              </a:lnSpc>
              <a:spcBef>
                <a:spcPts val="400"/>
              </a:spcBef>
              <a:spcAft>
                <a:spcPts val="0"/>
              </a:spcAft>
              <a:buNone/>
            </a:pPr>
            <a:r>
              <a:rPr lang="en-US" sz="2400">
                <a:solidFill>
                  <a:schemeClr val="dk1"/>
                </a:solidFill>
              </a:rPr>
              <a:t>Y = </a:t>
            </a:r>
            <a:r>
              <a:rPr lang="en-US" sz="2400">
                <a:solidFill>
                  <a:schemeClr val="dk1"/>
                </a:solidFill>
              </a:rPr>
              <a:t>β</a:t>
            </a:r>
            <a:r>
              <a:rPr baseline="-25000" lang="en-US" sz="2400">
                <a:solidFill>
                  <a:schemeClr val="dk1"/>
                </a:solidFill>
              </a:rPr>
              <a:t>0</a:t>
            </a:r>
            <a:r>
              <a:rPr lang="en-US" sz="2400">
                <a:solidFill>
                  <a:schemeClr val="dk1"/>
                </a:solidFill>
              </a:rPr>
              <a:t>+</a:t>
            </a:r>
            <a:r>
              <a:rPr lang="en-US" sz="2400">
                <a:solidFill>
                  <a:schemeClr val="dk1"/>
                </a:solidFill>
              </a:rPr>
              <a:t>β</a:t>
            </a:r>
            <a:r>
              <a:rPr baseline="-25000" lang="en-US" sz="2400">
                <a:solidFill>
                  <a:schemeClr val="dk1"/>
                </a:solidFill>
              </a:rPr>
              <a:t>1 </a:t>
            </a:r>
            <a:r>
              <a:rPr lang="en-US" sz="2400">
                <a:solidFill>
                  <a:schemeClr val="dk1"/>
                </a:solidFill>
              </a:rPr>
              <a:t>X + ϵ</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Here, the relationship between X and Y is represented by a </a:t>
            </a:r>
            <a:r>
              <a:rPr b="1" lang="en-US" sz="2400">
                <a:solidFill>
                  <a:schemeClr val="dk1"/>
                </a:solidFill>
              </a:rPr>
              <a:t>straight line</a:t>
            </a:r>
            <a:r>
              <a:rPr lang="en-US" sz="2400">
                <a:solidFill>
                  <a:schemeClr val="dk1"/>
                </a:solidFill>
              </a:rPr>
              <a:t>.</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Non-linear relationship</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Y = β</a:t>
            </a:r>
            <a:r>
              <a:rPr baseline="-25000" lang="en-US" sz="2400">
                <a:solidFill>
                  <a:schemeClr val="dk1"/>
                </a:solidFill>
              </a:rPr>
              <a:t>0</a:t>
            </a:r>
            <a:r>
              <a:rPr lang="en-US" sz="2400">
                <a:solidFill>
                  <a:schemeClr val="dk1"/>
                </a:solidFill>
              </a:rPr>
              <a:t>+ β</a:t>
            </a:r>
            <a:r>
              <a:rPr baseline="-25000" lang="en-US" sz="2400">
                <a:solidFill>
                  <a:schemeClr val="dk1"/>
                </a:solidFill>
              </a:rPr>
              <a:t>1 </a:t>
            </a:r>
            <a:r>
              <a:rPr lang="en-US" sz="2400">
                <a:solidFill>
                  <a:schemeClr val="dk1"/>
                </a:solidFill>
              </a:rPr>
              <a:t>X</a:t>
            </a:r>
            <a:r>
              <a:rPr baseline="30000" lang="en-US" sz="2400">
                <a:solidFill>
                  <a:schemeClr val="dk1"/>
                </a:solidFill>
              </a:rPr>
              <a:t>2 </a:t>
            </a:r>
            <a:r>
              <a:rPr lang="en-US" sz="2400">
                <a:solidFill>
                  <a:schemeClr val="dk1"/>
                </a:solidFill>
              </a:rPr>
              <a:t>+ ϵ             or       Y = β</a:t>
            </a:r>
            <a:r>
              <a:rPr baseline="-25000" lang="en-US" sz="2400">
                <a:solidFill>
                  <a:schemeClr val="dk1"/>
                </a:solidFill>
              </a:rPr>
              <a:t>0</a:t>
            </a:r>
            <a:r>
              <a:rPr lang="en-US" sz="2400">
                <a:solidFill>
                  <a:schemeClr val="dk1"/>
                </a:solidFill>
              </a:rPr>
              <a:t>​e</a:t>
            </a:r>
            <a:r>
              <a:rPr baseline="30000" lang="en-US" sz="2400">
                <a:solidFill>
                  <a:schemeClr val="dk1"/>
                </a:solidFill>
              </a:rPr>
              <a:t>β1​X </a:t>
            </a:r>
            <a:r>
              <a:rPr lang="en-US" sz="2400">
                <a:solidFill>
                  <a:schemeClr val="dk1"/>
                </a:solidFill>
              </a:rPr>
              <a:t>+ ϵ </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These can produce </a:t>
            </a:r>
            <a:r>
              <a:rPr b="1" lang="en-US" sz="2400">
                <a:solidFill>
                  <a:schemeClr val="dk1"/>
                </a:solidFill>
              </a:rPr>
              <a:t>curved relationships</a:t>
            </a:r>
            <a:r>
              <a:rPr lang="en-US" sz="2400">
                <a:solidFill>
                  <a:schemeClr val="dk1"/>
                </a:solidFill>
              </a:rPr>
              <a:t> between X and Y.</a:t>
            </a:r>
            <a:endParaRPr sz="2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ha7d38579d64536_0_115"/>
          <p:cNvSpPr txBox="1"/>
          <p:nvPr/>
        </p:nvSpPr>
        <p:spPr>
          <a:xfrm>
            <a:off x="498588" y="362975"/>
            <a:ext cx="11194500" cy="640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rPr>
              <a:t>Suppose we want to study:</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Study Hours → Exam Marks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a simple linear relationship, we might assume:</a:t>
            </a:r>
            <a:endParaRPr sz="2400">
              <a:solidFill>
                <a:schemeClr val="dk1"/>
              </a:solidFill>
            </a:endParaRPr>
          </a:p>
          <a:p>
            <a:pPr indent="0" lvl="0" marL="0" rtl="0" algn="l">
              <a:spcBef>
                <a:spcPts val="1200"/>
              </a:spcBef>
              <a:spcAft>
                <a:spcPts val="0"/>
              </a:spcAft>
              <a:buNone/>
            </a:pPr>
            <a:r>
              <a:rPr lang="en-US" sz="2400">
                <a:solidFill>
                  <a:schemeClr val="dk1"/>
                </a:solidFill>
              </a:rPr>
              <a:t>Marks=30+5(StudyHours)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This assumes that every additional hour of study produces approximately the same increase in marks. But in reality, the relationship might look like this:</a:t>
            </a:r>
            <a:endParaRPr sz="2400">
              <a:solidFill>
                <a:schemeClr val="dk1"/>
              </a:solidFill>
            </a:endParaRPr>
          </a:p>
          <a:p>
            <a:pPr indent="0" lvl="0" marL="0" rtl="0" algn="l">
              <a:spcBef>
                <a:spcPts val="1200"/>
              </a:spcBef>
              <a:spcAft>
                <a:spcPts val="0"/>
              </a:spcAft>
              <a:buClr>
                <a:schemeClr val="dk1"/>
              </a:buClr>
              <a:buSzPts val="1100"/>
              <a:buFont typeface="Arial"/>
              <a:buNone/>
            </a:pPr>
            <a:r>
              <a:rPr lang="en-US" sz="2400">
                <a:solidFill>
                  <a:schemeClr val="dk1"/>
                </a:solidFill>
              </a:rPr>
              <a:t>1 → 40 marks</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2 → 50</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3 → 59</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4 → 67</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5 → 74</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6 → 79</a:t>
            </a:r>
            <a:endParaRPr sz="2400">
              <a:solidFill>
                <a:schemeClr val="dk1"/>
              </a:solidFill>
            </a:endParaRPr>
          </a:p>
          <a:p>
            <a:pPr indent="0" lvl="0" marL="0" rtl="0" algn="l">
              <a:spcBef>
                <a:spcPts val="0"/>
              </a:spcBef>
              <a:spcAft>
                <a:spcPts val="0"/>
              </a:spcAft>
              <a:buClr>
                <a:schemeClr val="dk1"/>
              </a:buClr>
              <a:buSzPts val="1100"/>
              <a:buFont typeface="Arial"/>
              <a:buNone/>
            </a:pPr>
            <a:r>
              <a:rPr lang="en-US" sz="2400">
                <a:solidFill>
                  <a:schemeClr val="dk1"/>
                </a:solidFill>
              </a:rPr>
              <a:t>7 → 83</a:t>
            </a:r>
            <a:endParaRPr sz="2400">
              <a:solidFill>
                <a:schemeClr val="dk1"/>
              </a:solidFill>
            </a:endParaRPr>
          </a:p>
          <a:p>
            <a:pPr indent="0" lvl="0" marL="0" rtl="0" algn="l">
              <a:spcBef>
                <a:spcPts val="0"/>
              </a:spcBef>
              <a:spcAft>
                <a:spcPts val="0"/>
              </a:spcAft>
              <a:buNone/>
            </a:pPr>
            <a:r>
              <a:rPr lang="en-US" sz="2400">
                <a:solidFill>
                  <a:schemeClr val="dk1"/>
                </a:solidFill>
              </a:rPr>
              <a:t>The improvement becomes smaller as study hours increase. </a:t>
            </a:r>
            <a:endParaRPr sz="24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ha7d38579d64536_0_118"/>
          <p:cNvSpPr txBox="1"/>
          <p:nvPr/>
        </p:nvSpPr>
        <p:spPr>
          <a:xfrm>
            <a:off x="611300" y="362975"/>
            <a:ext cx="11003400" cy="560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t>A curved model may represent this better, for example:</a:t>
            </a:r>
            <a:endParaRPr sz="2400"/>
          </a:p>
          <a:p>
            <a:pPr indent="0" lvl="0" marL="0" rtl="0" algn="l">
              <a:lnSpc>
                <a:spcPct val="115000"/>
              </a:lnSpc>
              <a:spcBef>
                <a:spcPts val="1200"/>
              </a:spcBef>
              <a:spcAft>
                <a:spcPts val="0"/>
              </a:spcAft>
              <a:buNone/>
            </a:pPr>
            <a:r>
              <a:rPr lang="en-US" sz="2400"/>
              <a:t>Marks=30+10X-0.5X^2, where X = study hours.</a:t>
            </a:r>
            <a:endParaRPr sz="2400"/>
          </a:p>
          <a:p>
            <a:pPr indent="0" lvl="0" marL="0" rtl="0" algn="l">
              <a:lnSpc>
                <a:spcPct val="115000"/>
              </a:lnSpc>
              <a:spcBef>
                <a:spcPts val="1200"/>
              </a:spcBef>
              <a:spcAft>
                <a:spcPts val="0"/>
              </a:spcAft>
              <a:buNone/>
            </a:pPr>
            <a:r>
              <a:rPr lang="en-US" sz="2400"/>
              <a:t>y=30+5x  ( 0&lt;=x&lt;=10)</a:t>
            </a:r>
            <a:endParaRPr sz="2400"/>
          </a:p>
          <a:p>
            <a:pPr indent="0" lvl="0" marL="0" rtl="0" algn="l">
              <a:lnSpc>
                <a:spcPct val="115000"/>
              </a:lnSpc>
              <a:spcBef>
                <a:spcPts val="1200"/>
              </a:spcBef>
              <a:spcAft>
                <a:spcPts val="0"/>
              </a:spcAft>
              <a:buNone/>
            </a:pPr>
            <a:r>
              <a:rPr lang="en-US" sz="2400"/>
              <a:t>y=30+10x-0.5x^2    </a:t>
            </a:r>
            <a:r>
              <a:rPr lang="en-US" sz="2400">
                <a:solidFill>
                  <a:schemeClr val="dk1"/>
                </a:solidFill>
              </a:rPr>
              <a:t>( 0&lt;=x&lt;=10)</a:t>
            </a:r>
            <a:endParaRPr sz="2400"/>
          </a:p>
          <a:p>
            <a:pPr indent="0" lvl="0" marL="0" rtl="0" algn="l">
              <a:lnSpc>
                <a:spcPct val="115000"/>
              </a:lnSpc>
              <a:spcBef>
                <a:spcPts val="1200"/>
              </a:spcBef>
              <a:spcAft>
                <a:spcPts val="0"/>
              </a:spcAft>
              <a:buNone/>
            </a:pPr>
            <a:r>
              <a:rPr lang="en-US" sz="2400">
                <a:solidFill>
                  <a:schemeClr val="dk1"/>
                </a:solidFill>
              </a:rPr>
              <a:t>The straight line represents a </a:t>
            </a:r>
            <a:r>
              <a:rPr b="1" lang="en-US" sz="2400">
                <a:solidFill>
                  <a:schemeClr val="dk1"/>
                </a:solidFill>
              </a:rPr>
              <a:t>linear relationship</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while the curved line represents a </a:t>
            </a:r>
            <a:r>
              <a:rPr b="1" lang="en-US" sz="2400">
                <a:solidFill>
                  <a:schemeClr val="dk1"/>
                </a:solidFill>
              </a:rPr>
              <a:t>non-linear relationship</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t/>
            </a:r>
            <a:endParaRPr sz="2400"/>
          </a:p>
          <a:p>
            <a:pPr indent="0" lvl="0" marL="0" rtl="0" algn="l">
              <a:lnSpc>
                <a:spcPct val="115000"/>
              </a:lnSpc>
              <a:spcBef>
                <a:spcPts val="1200"/>
              </a:spcBef>
              <a:spcAft>
                <a:spcPts val="0"/>
              </a:spcAft>
              <a:buNone/>
            </a:pPr>
            <a:r>
              <a:rPr lang="en-US" sz="2400"/>
              <a:t>Nonlinear regression models are used when the relationship between variables is better represented by a curve rather than a straight line. </a:t>
            </a:r>
            <a:endParaRPr sz="2400"/>
          </a:p>
          <a:p>
            <a:pPr indent="0" lvl="0" marL="0" rtl="0" algn="l">
              <a:lnSpc>
                <a:spcPct val="115000"/>
              </a:lnSpc>
              <a:spcBef>
                <a:spcPts val="1200"/>
              </a:spcBef>
              <a:spcAft>
                <a:spcPts val="1200"/>
              </a:spcAft>
              <a:buNone/>
            </a:pPr>
            <a:r>
              <a:t/>
            </a:r>
            <a:endParaRPr sz="2400"/>
          </a:p>
        </p:txBody>
      </p:sp>
      <p:pic>
        <p:nvPicPr>
          <p:cNvPr id="100" name="Google Shape;100;ha7d38579d64536_0_118"/>
          <p:cNvPicPr preferRelativeResize="0"/>
          <p:nvPr/>
        </p:nvPicPr>
        <p:blipFill>
          <a:blip r:embed="rId3">
            <a:alphaModFix/>
          </a:blip>
          <a:stretch>
            <a:fillRect/>
          </a:stretch>
        </p:blipFill>
        <p:spPr>
          <a:xfrm>
            <a:off x="7408375" y="925850"/>
            <a:ext cx="3431325" cy="2321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ha7d38579d64536_0_140"/>
          <p:cNvSpPr txBox="1"/>
          <p:nvPr/>
        </p:nvSpPr>
        <p:spPr>
          <a:xfrm>
            <a:off x="592200" y="236700"/>
            <a:ext cx="10831500" cy="63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Why do we need Non-Linear Regression?</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A linear model may not adequately capture patterns such as:</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Growth that accelerates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Growth that slows down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Saturation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Diminishing returns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Exponential growth or decay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U-shaped or inverted-U relationships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Example</a:t>
            </a:r>
            <a:endParaRPr b="1"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Study Hours vs Marks</a:t>
            </a:r>
            <a:endParaRPr b="1"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Initially, increasing study hours may substantially improve marks.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But after a certain point, additional study hours may produce smaller improvements.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 curved model can represent this pattern better than a straight line.</a:t>
            </a:r>
            <a:endParaRPr sz="24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ha7d38579d64536_0_143"/>
          <p:cNvSpPr txBox="1"/>
          <p:nvPr/>
        </p:nvSpPr>
        <p:spPr>
          <a:xfrm>
            <a:off x="439350" y="362975"/>
            <a:ext cx="10888800" cy="539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Common Types of Non-Linear Models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your next PPT slide, introduce these:</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1. Polynomial Model</a:t>
            </a:r>
            <a:endParaRPr b="1" sz="2400">
              <a:solidFill>
                <a:schemeClr val="dk1"/>
              </a:solidFill>
            </a:endParaRPr>
          </a:p>
          <a:p>
            <a:pPr indent="0" lvl="0" marL="0" rtl="0" algn="l">
              <a:spcBef>
                <a:spcPts val="400"/>
              </a:spcBef>
              <a:spcAft>
                <a:spcPts val="0"/>
              </a:spcAft>
              <a:buNone/>
            </a:pPr>
            <a:r>
              <a:rPr lang="en-US" sz="2400">
                <a:solidFill>
                  <a:schemeClr val="dk1"/>
                </a:solidFill>
              </a:rPr>
              <a:t>Y=β0​+β1​X+β2​X2+ϵ,           </a:t>
            </a:r>
            <a:r>
              <a:rPr lang="en-US" sz="2400">
                <a:solidFill>
                  <a:schemeClr val="dk1"/>
                </a:solidFill>
              </a:rPr>
              <a:t>Used for curved relationships. </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Exponential Model: </a:t>
            </a:r>
            <a:r>
              <a:rPr lang="en-US" sz="2400">
                <a:solidFill>
                  <a:schemeClr val="dk1"/>
                </a:solidFill>
              </a:rPr>
              <a:t>Y=β0eβ1X+ϵ       Used for rapid growth or decay.</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Logarithmic Model: </a:t>
            </a:r>
            <a:r>
              <a:rPr lang="en-US" sz="2400">
                <a:solidFill>
                  <a:schemeClr val="dk1"/>
                </a:solidFill>
              </a:rPr>
              <a:t>Y=β0​+β1​ln(X)+ϵ      Useful when Y changes rapidly initially and then changes more slowly. </a:t>
            </a:r>
            <a:endParaRPr sz="2400" u="sng">
              <a:solidFill>
                <a:schemeClr val="dk1"/>
              </a:solidFill>
            </a:endParaRPr>
          </a:p>
          <a:p>
            <a:pPr indent="0" lvl="0" marL="0" rtl="0" algn="l">
              <a:lnSpc>
                <a:spcPct val="115000"/>
              </a:lnSpc>
              <a:spcBef>
                <a:spcPts val="1400"/>
              </a:spcBef>
              <a:spcAft>
                <a:spcPts val="0"/>
              </a:spcAft>
              <a:buNone/>
            </a:pPr>
            <a:r>
              <a:rPr b="1" lang="en-US" sz="2400">
                <a:solidFill>
                  <a:schemeClr val="dk1"/>
                </a:solidFill>
              </a:rPr>
              <a:t>Power Model: </a:t>
            </a:r>
            <a:r>
              <a:rPr lang="en-US" sz="2400">
                <a:solidFill>
                  <a:schemeClr val="dk1"/>
                </a:solidFill>
              </a:rPr>
              <a:t>Y=β0​Xβ1​+ϵ        Useful for relationships involving proportional or scaling effects.</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Useful for relationships involving proportional or scaling effects.</a:t>
            </a:r>
            <a:endParaRPr sz="24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ha7d38579d64536_0_146"/>
          <p:cNvSpPr txBox="1"/>
          <p:nvPr/>
        </p:nvSpPr>
        <p:spPr>
          <a:xfrm>
            <a:off x="510013" y="438100"/>
            <a:ext cx="11475000" cy="206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300">
                <a:solidFill>
                  <a:schemeClr val="dk1"/>
                </a:solidFill>
              </a:rPr>
              <a:t>Linear vs Non-Linear Regression:</a:t>
            </a:r>
            <a:endParaRPr b="1" sz="2300">
              <a:solidFill>
                <a:schemeClr val="dk1"/>
              </a:solidFill>
            </a:endParaRPr>
          </a:p>
          <a:p>
            <a:pPr indent="0" lvl="0" marL="0" rtl="0" algn="l">
              <a:lnSpc>
                <a:spcPct val="115000"/>
              </a:lnSpc>
              <a:spcBef>
                <a:spcPts val="2400"/>
              </a:spcBef>
              <a:spcAft>
                <a:spcPts val="600"/>
              </a:spcAft>
              <a:buNone/>
            </a:pPr>
            <a:r>
              <a:rPr lang="en-US" sz="2300">
                <a:solidFill>
                  <a:schemeClr val="dk1"/>
                </a:solidFill>
              </a:rPr>
              <a:t>Use </a:t>
            </a:r>
            <a:r>
              <a:rPr b="1" lang="en-US" sz="2300">
                <a:solidFill>
                  <a:schemeClr val="dk1"/>
                </a:solidFill>
              </a:rPr>
              <a:t>linear regression</a:t>
            </a:r>
            <a:r>
              <a:rPr lang="en-US" sz="2300">
                <a:solidFill>
                  <a:schemeClr val="dk1"/>
                </a:solidFill>
              </a:rPr>
              <a:t> when a straight-line relationship is adequate; use a </a:t>
            </a:r>
            <a:r>
              <a:rPr b="1" lang="en-US" sz="2300">
                <a:solidFill>
                  <a:schemeClr val="dk1"/>
                </a:solidFill>
              </a:rPr>
              <a:t>nonlinear form</a:t>
            </a:r>
            <a:r>
              <a:rPr lang="en-US" sz="2300">
                <a:solidFill>
                  <a:schemeClr val="dk1"/>
                </a:solidFill>
              </a:rPr>
              <a:t> when the relationship shows systematic curvature that the linear form does not capture. </a:t>
            </a:r>
            <a:endParaRPr b="1" sz="2300">
              <a:solidFill>
                <a:schemeClr val="dk1"/>
              </a:solidFill>
            </a:endParaRPr>
          </a:p>
        </p:txBody>
      </p:sp>
      <p:graphicFrame>
        <p:nvGraphicFramePr>
          <p:cNvPr id="116" name="Google Shape;116;ha7d38579d64536_0_146"/>
          <p:cNvGraphicFramePr/>
          <p:nvPr/>
        </p:nvGraphicFramePr>
        <p:xfrm>
          <a:off x="952488" y="2857500"/>
          <a:ext cx="3000000" cy="3000000"/>
        </p:xfrm>
        <a:graphic>
          <a:graphicData uri="http://schemas.openxmlformats.org/drawingml/2006/table">
            <a:tbl>
              <a:tblPr>
                <a:noFill/>
                <a:tableStyleId>{118E0F4F-5B93-4366-B9F5-AB34FFFCB298}</a:tableStyleId>
              </a:tblPr>
              <a:tblGrid>
                <a:gridCol w="2030350"/>
                <a:gridCol w="4827450"/>
                <a:gridCol w="3428900"/>
              </a:tblGrid>
              <a:tr h="381000">
                <a:tc>
                  <a:txBody>
                    <a:bodyPr/>
                    <a:lstStyle/>
                    <a:p>
                      <a:pPr indent="0" lvl="0" marL="0" rtl="0" algn="l">
                        <a:spcBef>
                          <a:spcPts val="0"/>
                        </a:spcBef>
                        <a:spcAft>
                          <a:spcPts val="0"/>
                        </a:spcAft>
                        <a:buNone/>
                      </a:pPr>
                      <a:r>
                        <a:rPr b="1" lang="en-US" sz="2400"/>
                        <a:t>Feature </a:t>
                      </a:r>
                      <a:endParaRPr b="1" sz="2400"/>
                    </a:p>
                  </a:txBody>
                  <a:tcPr marT="91425" marB="91425" marR="91425" marL="91425"/>
                </a:tc>
                <a:tc>
                  <a:txBody>
                    <a:bodyPr/>
                    <a:lstStyle/>
                    <a:p>
                      <a:pPr indent="0" lvl="0" marL="0" rtl="0" algn="l">
                        <a:spcBef>
                          <a:spcPts val="0"/>
                        </a:spcBef>
                        <a:spcAft>
                          <a:spcPts val="0"/>
                        </a:spcAft>
                        <a:buNone/>
                      </a:pPr>
                      <a:r>
                        <a:rPr b="1" lang="en-US" sz="2400"/>
                        <a:t>Linear Regression </a:t>
                      </a:r>
                      <a:endParaRPr b="1" sz="2400"/>
                    </a:p>
                  </a:txBody>
                  <a:tcPr marT="91425" marB="91425" marR="91425" marL="91425"/>
                </a:tc>
                <a:tc>
                  <a:txBody>
                    <a:bodyPr/>
                    <a:lstStyle/>
                    <a:p>
                      <a:pPr indent="0" lvl="0" marL="0" rtl="0" algn="l">
                        <a:spcBef>
                          <a:spcPts val="0"/>
                        </a:spcBef>
                        <a:spcAft>
                          <a:spcPts val="0"/>
                        </a:spcAft>
                        <a:buNone/>
                      </a:pPr>
                      <a:r>
                        <a:rPr b="1" lang="en-US" sz="2400"/>
                        <a:t>Non-Linear Regression </a:t>
                      </a:r>
                      <a:endParaRPr b="1" sz="2400"/>
                    </a:p>
                  </a:txBody>
                  <a:tcPr marT="91425" marB="91425" marR="91425" marL="91425"/>
                </a:tc>
              </a:tr>
              <a:tr h="381000">
                <a:tc>
                  <a:txBody>
                    <a:bodyPr/>
                    <a:lstStyle/>
                    <a:p>
                      <a:pPr indent="0" lvl="0" marL="0" rtl="0" algn="l">
                        <a:spcBef>
                          <a:spcPts val="0"/>
                        </a:spcBef>
                        <a:spcAft>
                          <a:spcPts val="0"/>
                        </a:spcAft>
                        <a:buNone/>
                      </a:pPr>
                      <a:r>
                        <a:rPr lang="en-US" sz="2400"/>
                        <a:t>Relationship </a:t>
                      </a:r>
                      <a:endParaRPr sz="2400"/>
                    </a:p>
                  </a:txBody>
                  <a:tcPr marT="91425" marB="91425" marR="91425" marL="91425"/>
                </a:tc>
                <a:tc>
                  <a:txBody>
                    <a:bodyPr/>
                    <a:lstStyle/>
                    <a:p>
                      <a:pPr indent="0" lvl="0" marL="0" rtl="0" algn="l">
                        <a:spcBef>
                          <a:spcPts val="0"/>
                        </a:spcBef>
                        <a:spcAft>
                          <a:spcPts val="0"/>
                        </a:spcAft>
                        <a:buNone/>
                      </a:pPr>
                      <a:r>
                        <a:rPr lang="en-US" sz="2400"/>
                        <a:t>Straight-line form </a:t>
                      </a:r>
                      <a:endParaRPr sz="2400"/>
                    </a:p>
                  </a:txBody>
                  <a:tcPr marT="91425" marB="91425" marR="91425" marL="91425"/>
                </a:tc>
                <a:tc>
                  <a:txBody>
                    <a:bodyPr/>
                    <a:lstStyle/>
                    <a:p>
                      <a:pPr indent="0" lvl="0" marL="0" rtl="0" algn="l">
                        <a:spcBef>
                          <a:spcPts val="0"/>
                        </a:spcBef>
                        <a:spcAft>
                          <a:spcPts val="0"/>
                        </a:spcAft>
                        <a:buNone/>
                      </a:pPr>
                      <a:r>
                        <a:rPr lang="en-US" sz="2400"/>
                        <a:t>Curved/nonlinear form </a:t>
                      </a:r>
                      <a:endParaRPr sz="2400"/>
                    </a:p>
                  </a:txBody>
                  <a:tcPr marT="91425" marB="91425" marR="91425" marL="91425"/>
                </a:tc>
              </a:tr>
              <a:tr h="381000">
                <a:tc>
                  <a:txBody>
                    <a:bodyPr/>
                    <a:lstStyle/>
                    <a:p>
                      <a:pPr indent="0" lvl="0" marL="0" rtl="0" algn="l">
                        <a:spcBef>
                          <a:spcPts val="0"/>
                        </a:spcBef>
                        <a:spcAft>
                          <a:spcPts val="0"/>
                        </a:spcAft>
                        <a:buNone/>
                      </a:pPr>
                      <a:r>
                        <a:rPr lang="en-US" sz="2400"/>
                        <a:t>Example </a:t>
                      </a:r>
                      <a:endParaRPr sz="2400"/>
                    </a:p>
                  </a:txBody>
                  <a:tcPr marT="91425" marB="91425" marR="91425" marL="91425"/>
                </a:tc>
                <a:tc>
                  <a:txBody>
                    <a:bodyPr/>
                    <a:lstStyle/>
                    <a:p>
                      <a:pPr indent="0" lvl="0" marL="0" rtl="0" algn="l">
                        <a:spcBef>
                          <a:spcPts val="0"/>
                        </a:spcBef>
                        <a:spcAft>
                          <a:spcPts val="0"/>
                        </a:spcAft>
                        <a:buNone/>
                      </a:pPr>
                      <a:r>
                        <a:rPr lang="en-US" sz="2400"/>
                        <a:t>Y=β0​+β1​X </a:t>
                      </a:r>
                      <a:endParaRPr sz="2400"/>
                    </a:p>
                  </a:txBody>
                  <a:tcPr marT="91425" marB="91425" marR="91425" marL="91425"/>
                </a:tc>
                <a:tc>
                  <a:txBody>
                    <a:bodyPr/>
                    <a:lstStyle/>
                    <a:p>
                      <a:pPr indent="0" lvl="0" marL="0" rtl="0" algn="l">
                        <a:spcBef>
                          <a:spcPts val="0"/>
                        </a:spcBef>
                        <a:spcAft>
                          <a:spcPts val="0"/>
                        </a:spcAft>
                        <a:buNone/>
                      </a:pPr>
                      <a:r>
                        <a:rPr lang="en-US" sz="2400"/>
                        <a:t>Y=β0​+β1​X2 </a:t>
                      </a:r>
                      <a:endParaRPr sz="2400"/>
                    </a:p>
                  </a:txBody>
                  <a:tcPr marT="91425" marB="91425" marR="91425" marL="91425"/>
                </a:tc>
              </a:tr>
              <a:tr h="381000">
                <a:tc>
                  <a:txBody>
                    <a:bodyPr/>
                    <a:lstStyle/>
                    <a:p>
                      <a:pPr indent="0" lvl="0" marL="0" rtl="0" algn="l">
                        <a:spcBef>
                          <a:spcPts val="0"/>
                        </a:spcBef>
                        <a:spcAft>
                          <a:spcPts val="0"/>
                        </a:spcAft>
                        <a:buNone/>
                      </a:pPr>
                      <a:r>
                        <a:rPr lang="en-US" sz="2400"/>
                        <a:t>Pattern </a:t>
                      </a:r>
                      <a:endParaRPr sz="2400"/>
                    </a:p>
                  </a:txBody>
                  <a:tcPr marT="91425" marB="91425" marR="91425" marL="91425"/>
                </a:tc>
                <a:tc>
                  <a:txBody>
                    <a:bodyPr/>
                    <a:lstStyle/>
                    <a:p>
                      <a:pPr indent="0" lvl="0" marL="0" rtl="0" algn="l">
                        <a:spcBef>
                          <a:spcPts val="0"/>
                        </a:spcBef>
                        <a:spcAft>
                          <a:spcPts val="0"/>
                        </a:spcAft>
                        <a:buNone/>
                      </a:pPr>
                      <a:r>
                        <a:rPr lang="en-US" sz="2400"/>
                        <a:t>Constant rate of change in basic linear form </a:t>
                      </a:r>
                      <a:endParaRPr sz="2400"/>
                    </a:p>
                  </a:txBody>
                  <a:tcPr marT="91425" marB="91425" marR="91425" marL="91425"/>
                </a:tc>
                <a:tc>
                  <a:txBody>
                    <a:bodyPr/>
                    <a:lstStyle/>
                    <a:p>
                      <a:pPr indent="0" lvl="0" marL="0" rtl="0" algn="l">
                        <a:spcBef>
                          <a:spcPts val="0"/>
                        </a:spcBef>
                        <a:spcAft>
                          <a:spcPts val="0"/>
                        </a:spcAft>
                        <a:buNone/>
                      </a:pPr>
                      <a:r>
                        <a:rPr lang="en-US" sz="2400"/>
                        <a:t>Rate of change can vary </a:t>
                      </a:r>
                      <a:endParaRPr sz="2400"/>
                    </a:p>
                  </a:txBody>
                  <a:tcPr marT="91425" marB="91425" marR="91425" marL="91425"/>
                </a:tc>
              </a:tr>
              <a:tr h="381000">
                <a:tc>
                  <a:txBody>
                    <a:bodyPr/>
                    <a:lstStyle/>
                    <a:p>
                      <a:pPr indent="0" lvl="0" marL="0" rtl="0" algn="l">
                        <a:spcBef>
                          <a:spcPts val="0"/>
                        </a:spcBef>
                        <a:spcAft>
                          <a:spcPts val="0"/>
                        </a:spcAft>
                        <a:buNone/>
                      </a:pPr>
                      <a:r>
                        <a:rPr lang="en-US" sz="2400"/>
                        <a:t>Graph </a:t>
                      </a:r>
                      <a:endParaRPr sz="2400"/>
                    </a:p>
                  </a:txBody>
                  <a:tcPr marT="91425" marB="91425" marR="91425" marL="91425"/>
                </a:tc>
                <a:tc>
                  <a:txBody>
                    <a:bodyPr/>
                    <a:lstStyle/>
                    <a:p>
                      <a:pPr indent="0" lvl="0" marL="0" rtl="0" algn="l">
                        <a:spcBef>
                          <a:spcPts val="0"/>
                        </a:spcBef>
                        <a:spcAft>
                          <a:spcPts val="0"/>
                        </a:spcAft>
                        <a:buNone/>
                      </a:pPr>
                      <a:r>
                        <a:rPr lang="en-US" sz="2400"/>
                        <a:t>Straight line </a:t>
                      </a:r>
                      <a:endParaRPr sz="2400"/>
                    </a:p>
                  </a:txBody>
                  <a:tcPr marT="91425" marB="91425" marR="91425" marL="91425"/>
                </a:tc>
                <a:tc>
                  <a:txBody>
                    <a:bodyPr/>
                    <a:lstStyle/>
                    <a:p>
                      <a:pPr indent="0" lvl="0" marL="0" rtl="0" algn="l">
                        <a:spcBef>
                          <a:spcPts val="0"/>
                        </a:spcBef>
                        <a:spcAft>
                          <a:spcPts val="0"/>
                        </a:spcAft>
                        <a:buNone/>
                      </a:pPr>
                      <a:r>
                        <a:rPr lang="en-US" sz="2400"/>
                        <a:t>Curve </a:t>
                      </a:r>
                      <a:endParaRPr sz="2400"/>
                    </a:p>
                  </a:txBody>
                  <a:tcPr marT="91425" marB="91425" marR="91425" marL="91425"/>
                </a:tc>
              </a:tr>
              <a:tr h="381000">
                <a:tc>
                  <a:txBody>
                    <a:bodyPr/>
                    <a:lstStyle/>
                    <a:p>
                      <a:pPr indent="0" lvl="0" marL="0" rtl="0" algn="l">
                        <a:spcBef>
                          <a:spcPts val="0"/>
                        </a:spcBef>
                        <a:spcAft>
                          <a:spcPts val="0"/>
                        </a:spcAft>
                        <a:buNone/>
                      </a:pPr>
                      <a:r>
                        <a:rPr lang="en-US" sz="2400"/>
                        <a:t>Use </a:t>
                      </a:r>
                      <a:endParaRPr sz="2400"/>
                    </a:p>
                  </a:txBody>
                  <a:tcPr marT="91425" marB="91425" marR="91425" marL="91425"/>
                </a:tc>
                <a:tc>
                  <a:txBody>
                    <a:bodyPr/>
                    <a:lstStyle/>
                    <a:p>
                      <a:pPr indent="0" lvl="0" marL="0" rtl="0" algn="l">
                        <a:spcBef>
                          <a:spcPts val="0"/>
                        </a:spcBef>
                        <a:spcAft>
                          <a:spcPts val="0"/>
                        </a:spcAft>
                        <a:buNone/>
                      </a:pPr>
                      <a:r>
                        <a:rPr lang="en-US" sz="2400"/>
                        <a:t>Approximately linear relationships </a:t>
                      </a:r>
                      <a:endParaRPr sz="2400"/>
                    </a:p>
                  </a:txBody>
                  <a:tcPr marT="91425" marB="91425" marR="91425" marL="91425"/>
                </a:tc>
                <a:tc>
                  <a:txBody>
                    <a:bodyPr/>
                    <a:lstStyle/>
                    <a:p>
                      <a:pPr indent="0" lvl="0" marL="0" rtl="0" algn="l">
                        <a:spcBef>
                          <a:spcPts val="0"/>
                        </a:spcBef>
                        <a:spcAft>
                          <a:spcPts val="0"/>
                        </a:spcAft>
                        <a:buNone/>
                      </a:pPr>
                      <a:r>
                        <a:rPr lang="en-US" sz="2400"/>
                        <a:t>Curved relationships </a:t>
                      </a:r>
                      <a:endParaRPr sz="2400"/>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h62b2205ea301b09f_0_0"/>
          <p:cNvSpPr txBox="1"/>
          <p:nvPr/>
        </p:nvSpPr>
        <p:spPr>
          <a:xfrm>
            <a:off x="0" y="0"/>
            <a:ext cx="11809800" cy="6561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Model Diagnostics: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          A</a:t>
            </a:r>
            <a:r>
              <a:rPr lang="en-US" sz="2400">
                <a:solidFill>
                  <a:schemeClr val="dk1"/>
                </a:solidFill>
              </a:rPr>
              <a:t>fter building a model, we must check whether the model is </a:t>
            </a:r>
            <a:r>
              <a:rPr b="1" lang="en-US" sz="2400">
                <a:solidFill>
                  <a:schemeClr val="dk1"/>
                </a:solidFill>
              </a:rPr>
              <a:t>appropriate and reliable</a:t>
            </a:r>
            <a:r>
              <a:rPr lang="en-US" sz="2400">
                <a:solidFill>
                  <a:schemeClr val="dk1"/>
                </a:solidFill>
              </a:rPr>
              <a:t> before using its results for prediction or decision-making.</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Basic definition: </a:t>
            </a:r>
            <a:r>
              <a:rPr lang="en-US" sz="2400">
                <a:solidFill>
                  <a:schemeClr val="dk1"/>
                </a:solidFill>
              </a:rPr>
              <a:t>Model diagnostics is the process of checking whether a fitted regression model satisfies the required assumptions and whether there are problems such as unusual observations, non-constant variance, or correlated errors.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key idea is:</a:t>
            </a:r>
            <a:endParaRPr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Build Model → Diagnose Model → Validate Model → Interpret/Use Model</a:t>
            </a:r>
            <a:endParaRPr b="1" sz="2400">
              <a:solidFill>
                <a:schemeClr val="dk1"/>
              </a:solidFill>
            </a:endParaRPr>
          </a:p>
          <a:p>
            <a:pPr indent="0" lvl="0" marL="0" rtl="0" algn="l">
              <a:lnSpc>
                <a:spcPct val="115000"/>
              </a:lnSpc>
              <a:spcBef>
                <a:spcPts val="2400"/>
              </a:spcBef>
              <a:spcAft>
                <a:spcPts val="0"/>
              </a:spcAft>
              <a:buNone/>
            </a:pPr>
            <a:r>
              <a:rPr b="1" lang="en-US" sz="2400">
                <a:solidFill>
                  <a:schemeClr val="dk1"/>
                </a:solidFill>
              </a:rPr>
              <a:t>Why do we need Model Diagnostics?</a:t>
            </a:r>
            <a:r>
              <a:rPr lang="en-US" sz="2400">
                <a:solidFill>
                  <a:schemeClr val="dk1"/>
                </a:solidFill>
              </a:rPr>
              <a:t>Suppose we build this model:</a:t>
            </a:r>
            <a:endParaRPr sz="2400">
              <a:solidFill>
                <a:schemeClr val="dk1"/>
              </a:solidFill>
            </a:endParaRPr>
          </a:p>
          <a:p>
            <a:pPr indent="0" lvl="0" marL="0" rtl="0" algn="l">
              <a:lnSpc>
                <a:spcPct val="115000"/>
              </a:lnSpc>
              <a:spcBef>
                <a:spcPts val="600"/>
              </a:spcBef>
              <a:spcAft>
                <a:spcPts val="0"/>
              </a:spcAft>
              <a:buNone/>
            </a:pPr>
            <a:r>
              <a:rPr lang="en-US" sz="2400">
                <a:solidFill>
                  <a:schemeClr val="dk1"/>
                </a:solidFill>
              </a:rPr>
              <a:t>Marks=β0+β1StudyHours+β2Attendance+β3InternalMarks+ϵ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software may give us coefficients, R2R^2, p-values, etc.</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But can we immediately trust the model?     </a:t>
            </a:r>
            <a:r>
              <a:rPr b="1" lang="en-US" sz="2400">
                <a:solidFill>
                  <a:schemeClr val="dk1"/>
                </a:solidFill>
              </a:rPr>
              <a:t>No.</a:t>
            </a:r>
            <a:endParaRPr b="1" sz="2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h62b2205ea301b09f_0_3"/>
          <p:cNvSpPr txBox="1"/>
          <p:nvPr/>
        </p:nvSpPr>
        <p:spPr>
          <a:xfrm>
            <a:off x="98250" y="0"/>
            <a:ext cx="12093300" cy="700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solidFill>
                  <a:schemeClr val="dk1"/>
                </a:solidFill>
              </a:rPr>
              <a:t>W</a:t>
            </a:r>
            <a:r>
              <a:rPr lang="en-US" sz="2400">
                <a:solidFill>
                  <a:schemeClr val="dk1"/>
                </a:solidFill>
              </a:rPr>
              <a:t>e need to check whether the model assumptions are reasonably satisfied.</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Is the relationship approximately linear?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the errors independent?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Is the variance of errors constant?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residuals approximately normally distributed?</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there unusual/outlier observations?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Are predictors highly correlated with each other?</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These checks are called </a:t>
            </a:r>
            <a:r>
              <a:rPr b="1" lang="en-US" sz="2400">
                <a:solidFill>
                  <a:schemeClr val="dk1"/>
                </a:solidFill>
              </a:rPr>
              <a:t>model diagnostics</a:t>
            </a:r>
            <a:endParaRPr b="1" sz="2400">
              <a:solidFill>
                <a:schemeClr val="dk1"/>
              </a:solidFill>
            </a:endParaRPr>
          </a:p>
          <a:p>
            <a:pPr indent="0" lvl="0" marL="0" rtl="0" algn="l">
              <a:lnSpc>
                <a:spcPct val="115000"/>
              </a:lnSpc>
              <a:spcBef>
                <a:spcPts val="2400"/>
              </a:spcBef>
              <a:spcAft>
                <a:spcPts val="0"/>
              </a:spcAft>
              <a:buNone/>
            </a:pPr>
            <a:r>
              <a:rPr b="1" lang="en-US" sz="2400">
                <a:solidFill>
                  <a:schemeClr val="dk1"/>
                </a:solidFill>
              </a:rPr>
              <a:t>The Most Important Role: Residual : </a:t>
            </a:r>
            <a:r>
              <a:rPr lang="en-US" sz="2400">
                <a:solidFill>
                  <a:schemeClr val="dk1"/>
                </a:solidFill>
              </a:rPr>
              <a:t>A residual is the difference between the </a:t>
            </a:r>
            <a:r>
              <a:rPr b="1" lang="en-US" sz="2400">
                <a:solidFill>
                  <a:schemeClr val="dk1"/>
                </a:solidFill>
              </a:rPr>
              <a:t>actual value</a:t>
            </a:r>
            <a:r>
              <a:rPr lang="en-US" sz="2400">
                <a:solidFill>
                  <a:schemeClr val="dk1"/>
                </a:solidFill>
              </a:rPr>
              <a:t> and the </a:t>
            </a:r>
            <a:r>
              <a:rPr b="1" lang="en-US" sz="2400">
                <a:solidFill>
                  <a:schemeClr val="dk1"/>
                </a:solidFill>
              </a:rPr>
              <a:t>predicted value</a:t>
            </a:r>
            <a:r>
              <a:rPr lang="en-US" sz="2400">
                <a:solidFill>
                  <a:schemeClr val="dk1"/>
                </a:solidFill>
              </a:rPr>
              <a:t>.            ei​=Yi​−Y^i​ .              Where:</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YiY_i = actual value        </a:t>
            </a:r>
            <a:r>
              <a:rPr b="1" lang="en-US" sz="2400">
                <a:solidFill>
                  <a:schemeClr val="dk1"/>
                </a:solidFill>
              </a:rPr>
              <a:t>Actual marks = 80</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Y^i\hat{Y}_i = predicted value        </a:t>
            </a:r>
            <a:r>
              <a:rPr b="1" lang="en-US" sz="2400">
                <a:solidFill>
                  <a:schemeClr val="dk1"/>
                </a:solidFill>
              </a:rPr>
              <a:t>Predicted marks = 75</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eie_i = residual/error for observation i           e=80−75=5e=80-75=5</a:t>
            </a:r>
            <a:endParaRPr sz="2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h62b2205ea301b09f_0_6"/>
          <p:cNvSpPr txBox="1"/>
          <p:nvPr/>
        </p:nvSpPr>
        <p:spPr>
          <a:xfrm>
            <a:off x="210588" y="335100"/>
            <a:ext cx="11770500" cy="618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Why are Residuals Important?</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A good regression model should leave behind </a:t>
            </a:r>
            <a:r>
              <a:rPr b="1" lang="en-US" sz="2400">
                <a:solidFill>
                  <a:schemeClr val="dk1"/>
                </a:solidFill>
              </a:rPr>
              <a:t>random-looking residuals</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residuals show a systematic pattern, it indicates that the model may not be capturing something important.</a:t>
            </a:r>
            <a:endParaRPr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t/>
            </a:r>
            <a:endParaRPr b="1"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Good residual pattern:</a:t>
            </a:r>
            <a:r>
              <a:rPr b="1" lang="en-US" sz="2400">
                <a:solidFill>
                  <a:schemeClr val="dk1"/>
                </a:solidFill>
              </a:rPr>
              <a:t>Residual::Randomly scattered around zero → generally desirable. </a:t>
            </a:r>
            <a:endParaRPr b="1" sz="2400">
              <a:solidFill>
                <a:schemeClr val="dk1"/>
              </a:solidFill>
            </a:endParaRPr>
          </a:p>
          <a:p>
            <a:pPr indent="0" lvl="0" marL="0" rtl="0" algn="l">
              <a:lnSpc>
                <a:spcPct val="115000"/>
              </a:lnSpc>
              <a:spcBef>
                <a:spcPts val="1400"/>
              </a:spcBef>
              <a:spcAft>
                <a:spcPts val="400"/>
              </a:spcAft>
              <a:buNone/>
            </a:pPr>
            <a:r>
              <a:rPr b="1" lang="en-US" sz="2400">
                <a:solidFill>
                  <a:schemeClr val="dk1"/>
                </a:solidFill>
              </a:rPr>
              <a:t>Problematic pattern : A systematic curve/trend → possible model problem. </a:t>
            </a:r>
            <a:endParaRPr b="1" sz="2400">
              <a:solidFill>
                <a:schemeClr val="dk1"/>
              </a:solidFill>
            </a:endParaRPr>
          </a:p>
        </p:txBody>
      </p:sp>
      <p:pic>
        <p:nvPicPr>
          <p:cNvPr id="132" name="Google Shape;132;h62b2205ea301b09f_0_6"/>
          <p:cNvPicPr preferRelativeResize="0"/>
          <p:nvPr/>
        </p:nvPicPr>
        <p:blipFill>
          <a:blip r:embed="rId3">
            <a:alphaModFix/>
          </a:blip>
          <a:stretch>
            <a:fillRect/>
          </a:stretch>
        </p:blipFill>
        <p:spPr>
          <a:xfrm>
            <a:off x="5019225" y="2175103"/>
            <a:ext cx="5847475" cy="25077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h62b2205ea301b09f_0_9"/>
          <p:cNvSpPr txBox="1"/>
          <p:nvPr/>
        </p:nvSpPr>
        <p:spPr>
          <a:xfrm>
            <a:off x="432300" y="526625"/>
            <a:ext cx="11004300" cy="595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900" u="sng"/>
              <a:t>Main Model Diagnostics</a:t>
            </a:r>
            <a:endParaRPr b="1" sz="2900" u="sng"/>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1. Linearity:  </a:t>
            </a:r>
            <a:r>
              <a:rPr lang="en-US" sz="2400">
                <a:solidFill>
                  <a:schemeClr val="dk1"/>
                </a:solidFill>
              </a:rPr>
              <a:t>Is the relationship between predictors and dependent variable appropriately modeled?</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2. Homoscedasticity: </a:t>
            </a:r>
            <a:r>
              <a:rPr lang="en-US" sz="2400">
                <a:solidFill>
                  <a:schemeClr val="dk1"/>
                </a:solidFill>
              </a:rPr>
              <a:t>Is the variance of residuals approximately constant?</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3. Normality of Residuals: </a:t>
            </a:r>
            <a:r>
              <a:rPr lang="en-US" sz="2400">
                <a:solidFill>
                  <a:schemeClr val="dk1"/>
                </a:solidFill>
              </a:rPr>
              <a:t>Are residuals approximately normally distributed?</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4. Autocorrelation: </a:t>
            </a:r>
            <a:r>
              <a:rPr lang="en-US" sz="2400">
                <a:solidFill>
                  <a:schemeClr val="dk1"/>
                </a:solidFill>
              </a:rPr>
              <a:t>Are residuals independent of one another?</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5. Outliers and Influential Observations : </a:t>
            </a:r>
            <a:r>
              <a:rPr lang="en-US" sz="2400">
                <a:solidFill>
                  <a:schemeClr val="dk1"/>
                </a:solidFill>
              </a:rPr>
              <a:t>Are some observations unusually far from the rest or disproportionately affecting the fitted model?</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6. Multicollinearity: </a:t>
            </a:r>
            <a:r>
              <a:rPr lang="en-US" sz="2400">
                <a:solidFill>
                  <a:schemeClr val="dk1"/>
                </a:solidFill>
              </a:rPr>
              <a:t>Are independent variables highly correlated with one another?</a:t>
            </a:r>
            <a:endParaRPr sz="2400">
              <a:solidFill>
                <a:schemeClr val="dk1"/>
              </a:solidFill>
            </a:endParaRPr>
          </a:p>
          <a:p>
            <a:pPr indent="0" lvl="0" marL="0" rtl="0" algn="l">
              <a:spcBef>
                <a:spcPts val="400"/>
              </a:spcBef>
              <a:spcAft>
                <a:spcPts val="0"/>
              </a:spcAft>
              <a:buNone/>
            </a:pPr>
            <a:r>
              <a:rPr lang="en-US" sz="2400"/>
              <a:t> </a:t>
            </a: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h62b2205ea301b09f_0_61"/>
          <p:cNvSpPr txBox="1"/>
          <p:nvPr/>
        </p:nvSpPr>
        <p:spPr>
          <a:xfrm>
            <a:off x="357876" y="249300"/>
            <a:ext cx="11451900" cy="678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Diagnostic 1 — Linearity: </a:t>
            </a:r>
            <a:r>
              <a:rPr lang="en-US" sz="2400">
                <a:solidFill>
                  <a:schemeClr val="dk1"/>
                </a:solidFill>
              </a:rPr>
              <a:t>L</a:t>
            </a:r>
            <a:r>
              <a:rPr lang="en-US" sz="2400">
                <a:solidFill>
                  <a:schemeClr val="dk1"/>
                </a:solidFill>
              </a:rPr>
              <a:t>inear regression assumes that the relationship between the predictors and the dependent variable is adequately represented by the specified linear model.</a:t>
            </a:r>
            <a:endParaRPr sz="2400">
              <a:solidFill>
                <a:schemeClr val="dk1"/>
              </a:solidFill>
            </a:endParaRPr>
          </a:p>
          <a:p>
            <a:pPr indent="0" lvl="0" marL="0" rtl="0" algn="l">
              <a:lnSpc>
                <a:spcPct val="115000"/>
              </a:lnSpc>
              <a:spcBef>
                <a:spcPts val="2400"/>
              </a:spcBef>
              <a:spcAft>
                <a:spcPts val="0"/>
              </a:spcAft>
              <a:buNone/>
            </a:pPr>
            <a:r>
              <a:rPr b="1" lang="en-US" sz="2400">
                <a:solidFill>
                  <a:schemeClr val="dk1"/>
                </a:solidFill>
              </a:rPr>
              <a:t>Linearity diagnostics</a:t>
            </a:r>
            <a:r>
              <a:rPr lang="en-US" sz="2400">
                <a:solidFill>
                  <a:schemeClr val="dk1"/>
                </a:solidFill>
              </a:rPr>
              <a:t> for complex or non-linear predictive setups involve checking whether the modeled relationships or residual behaviors deviate from linear assumptions, or linearizing components to evaluate model fit.</a:t>
            </a:r>
            <a:r>
              <a:rPr lang="en-US" sz="11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            </a:t>
            </a:r>
            <a:r>
              <a:rPr lang="en-US" sz="2400">
                <a:solidFill>
                  <a:schemeClr val="dk1"/>
                </a:solidFill>
              </a:rPr>
              <a:t>Marks=β0​+β1​StudyHours+ϵ</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the actual relationship is strongly curved, a simple linear model may not be appropriate.</a:t>
            </a:r>
            <a:endParaRPr sz="2400">
              <a:solidFill>
                <a:schemeClr val="dk1"/>
              </a:solidFill>
            </a:endParaRPr>
          </a:p>
          <a:p>
            <a:pPr indent="0" lvl="0" marL="0" rtl="0" algn="l">
              <a:lnSpc>
                <a:spcPct val="115000"/>
              </a:lnSpc>
              <a:spcBef>
                <a:spcPts val="1400"/>
              </a:spcBef>
              <a:spcAft>
                <a:spcPts val="0"/>
              </a:spcAft>
              <a:buNone/>
            </a:pPr>
            <a:r>
              <a:rPr b="1" lang="en-US" sz="2400">
                <a:solidFill>
                  <a:schemeClr val="dk1"/>
                </a:solidFill>
              </a:rPr>
              <a:t>How do we check?</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Commonly using: Scatter plot, Residual vs fitted-value plot,Residual plots against predictors</a:t>
            </a:r>
            <a:endParaRPr sz="2400">
              <a:solidFill>
                <a:schemeClr val="dk1"/>
              </a:solidFill>
            </a:endParaRPr>
          </a:p>
          <a:p>
            <a:pPr indent="0" lvl="0" marL="0" rtl="0" algn="l">
              <a:lnSpc>
                <a:spcPct val="115000"/>
              </a:lnSpc>
              <a:spcBef>
                <a:spcPts val="1400"/>
              </a:spcBef>
              <a:spcAft>
                <a:spcPts val="400"/>
              </a:spcAft>
              <a:buNone/>
            </a:pPr>
            <a:r>
              <a:rPr b="1" lang="en-US" sz="2400">
                <a:solidFill>
                  <a:schemeClr val="dk1"/>
                </a:solidFill>
              </a:rPr>
              <a:t>Good indication               </a:t>
            </a:r>
            <a:r>
              <a:rPr lang="en-US" sz="2400">
                <a:solidFill>
                  <a:schemeClr val="dk1"/>
                </a:solidFill>
              </a:rPr>
              <a:t>Residuals show </a:t>
            </a:r>
            <a:r>
              <a:rPr b="1" lang="en-US" sz="2400">
                <a:solidFill>
                  <a:schemeClr val="dk1"/>
                </a:solidFill>
              </a:rPr>
              <a:t>no systematic pattern</a:t>
            </a:r>
            <a:r>
              <a:rPr lang="en-US" sz="2400">
                <a:solidFill>
                  <a:schemeClr val="dk1"/>
                </a:solidFill>
              </a:rPr>
              <a:t>.                             </a:t>
            </a:r>
            <a:endParaRPr sz="24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h62b2205ea301b09f_0_96"/>
          <p:cNvSpPr txBox="1"/>
          <p:nvPr/>
        </p:nvSpPr>
        <p:spPr>
          <a:xfrm>
            <a:off x="432325" y="334025"/>
            <a:ext cx="11475900" cy="619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400">
                <a:solidFill>
                  <a:schemeClr val="dk1"/>
                </a:solidFill>
              </a:rPr>
              <a:t>Linearity in Diagnostics</a:t>
            </a:r>
            <a:endParaRPr b="1"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Residual Analysis:</a:t>
            </a:r>
            <a:r>
              <a:rPr lang="en-US" sz="2400">
                <a:solidFill>
                  <a:schemeClr val="dk1"/>
                </a:solidFill>
              </a:rPr>
              <a:t> Plotting residuals against predicted (fitted) values helps detect hidden non-linear patterns or curvature that a straight-line model misses.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Linear-in-Parameters vs. Functional Linearity:</a:t>
            </a:r>
            <a:r>
              <a:rPr lang="en-US" sz="2400">
                <a:solidFill>
                  <a:schemeClr val="dk1"/>
                </a:solidFill>
              </a:rPr>
              <a:t> Models like polynomials use transformed features (X², X³) to capture curves while remaining linear in their coefficients.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Partial Residual Plots:</a:t>
            </a:r>
            <a:r>
              <a:rPr lang="en-US" sz="2400">
                <a:solidFill>
                  <a:schemeClr val="dk1"/>
                </a:solidFill>
              </a:rPr>
              <a:t> Visual tools (like component-plus-residual plots) isolate the linear or non-linear effect of a single predictor variable while holding others constant.</a:t>
            </a:r>
            <a:endParaRPr sz="2400">
              <a:solidFill>
                <a:schemeClr val="dk1"/>
              </a:solidFill>
            </a:endParaRPr>
          </a:p>
          <a:p>
            <a:pPr indent="0" lvl="0" marL="0" rtl="0" algn="l">
              <a:lnSpc>
                <a:spcPct val="115000"/>
              </a:lnSpc>
              <a:spcBef>
                <a:spcPts val="2100"/>
              </a:spcBef>
              <a:spcAft>
                <a:spcPts val="0"/>
              </a:spcAft>
              <a:buNone/>
            </a:pPr>
            <a:r>
              <a:rPr b="1" lang="en-US" sz="2400">
                <a:solidFill>
                  <a:schemeClr val="dk1"/>
                </a:solidFill>
              </a:rPr>
              <a:t>Problem:</a:t>
            </a:r>
            <a:r>
              <a:rPr lang="en-US" sz="2400">
                <a:solidFill>
                  <a:schemeClr val="dk1"/>
                </a:solidFill>
              </a:rPr>
              <a:t>A clear curve or systematic pattern suggests that the model may be missing nonlinear structure.</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Possible Solutions: Transform variables, Add polynomial terms, Consider a nonlinear model</a:t>
            </a:r>
            <a:endParaRPr sz="24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h62b2205ea301b09f_0_64"/>
          <p:cNvSpPr txBox="1"/>
          <p:nvPr/>
        </p:nvSpPr>
        <p:spPr>
          <a:xfrm>
            <a:off x="393025" y="432300"/>
            <a:ext cx="11181000" cy="62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Diagnostic 2 — Homoscedasticity: </a:t>
            </a:r>
            <a:r>
              <a:rPr lang="en-US" sz="2400">
                <a:solidFill>
                  <a:schemeClr val="dk1"/>
                </a:solidFill>
              </a:rPr>
              <a:t>The variance of residuals remains approximately </a:t>
            </a:r>
            <a:r>
              <a:rPr b="1" lang="en-US" sz="2400">
                <a:solidFill>
                  <a:schemeClr val="dk1"/>
                </a:solidFill>
              </a:rPr>
              <a:t>constant</a:t>
            </a:r>
            <a:r>
              <a:rPr lang="en-US" sz="2400">
                <a:solidFill>
                  <a:schemeClr val="dk1"/>
                </a:solidFill>
              </a:rPr>
              <a:t> across the range of predicted values or predictors.</a:t>
            </a:r>
            <a:endParaRPr sz="2400">
              <a:solidFill>
                <a:schemeClr val="dk1"/>
              </a:solidFill>
            </a:endParaRPr>
          </a:p>
          <a:p>
            <a:pPr indent="-381000" lvl="0" marL="457200" rtl="0" algn="l">
              <a:lnSpc>
                <a:spcPct val="115000"/>
              </a:lnSpc>
              <a:spcBef>
                <a:spcPts val="2400"/>
              </a:spcBef>
              <a:spcAft>
                <a:spcPts val="0"/>
              </a:spcAft>
              <a:buClr>
                <a:schemeClr val="dk1"/>
              </a:buClr>
              <a:buSzPts val="2400"/>
              <a:buChar char="●"/>
            </a:pPr>
            <a:r>
              <a:rPr lang="en-US" sz="2400">
                <a:solidFill>
                  <a:schemeClr val="dk1"/>
                </a:solidFill>
              </a:rPr>
              <a:t>For example, residuals should not be: Small spread → → → Very large spread. A funnel-shaped residual plot may indicate </a:t>
            </a:r>
            <a:r>
              <a:rPr b="1" lang="en-US" sz="2400">
                <a:solidFill>
                  <a:schemeClr val="dk1"/>
                </a:solidFill>
              </a:rPr>
              <a:t>heteroscedasticity</a:t>
            </a:r>
            <a:r>
              <a:rPr lang="en-US" sz="2400">
                <a:solidFill>
                  <a:schemeClr val="dk1"/>
                </a:solidFill>
              </a:rPr>
              <a:t>.</a:t>
            </a:r>
            <a:endParaRPr sz="2400">
              <a:solidFill>
                <a:schemeClr val="dk1"/>
              </a:solidFill>
            </a:endParaRPr>
          </a:p>
          <a:p>
            <a:pPr indent="0" lvl="0" marL="0" rtl="0" algn="l">
              <a:lnSpc>
                <a:spcPct val="115000"/>
              </a:lnSpc>
              <a:spcBef>
                <a:spcPts val="1400"/>
              </a:spcBef>
              <a:spcAft>
                <a:spcPts val="0"/>
              </a:spcAft>
              <a:buNone/>
            </a:pPr>
            <a:r>
              <a:rPr lang="en-US" sz="2400">
                <a:solidFill>
                  <a:schemeClr val="dk1"/>
                </a:solidFill>
              </a:rPr>
              <a:t>If the variance is not constant, the estimated standard errors and statistical tests can be affected. </a:t>
            </a:r>
            <a:r>
              <a:rPr b="1" lang="en-US" sz="2400">
                <a:solidFill>
                  <a:schemeClr val="dk1"/>
                </a:solidFill>
              </a:rPr>
              <a:t>Heteroscedasticity</a:t>
            </a:r>
            <a:r>
              <a:rPr lang="en-US" sz="2400">
                <a:solidFill>
                  <a:schemeClr val="dk1"/>
                </a:solidFill>
              </a:rPr>
              <a:t> means that the variance (spread) of prediction errors (residuals) is not constant across all values of an independent variable or predicted value.</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Unequal Spread:</a:t>
            </a:r>
            <a:r>
              <a:rPr lang="en-US" sz="2400">
                <a:solidFill>
                  <a:schemeClr val="dk1"/>
                </a:solidFill>
              </a:rPr>
              <a:t> Errors grow larger or smaller as the predicted values increase or decrease (often showing a fan or cone shape on a graph).</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Violated Assumptions:</a:t>
            </a:r>
            <a:r>
              <a:rPr lang="en-US" sz="2400">
                <a:solidFill>
                  <a:schemeClr val="dk1"/>
                </a:solidFill>
              </a:rPr>
              <a:t> Standard predictive models like</a:t>
            </a:r>
            <a:r>
              <a:rPr lang="en-US" sz="2400">
                <a:solidFill>
                  <a:schemeClr val="dk1"/>
                </a:solidFill>
                <a:uFill>
                  <a:noFill/>
                </a:uFill>
                <a:hlinkClick r:id="rId3">
                  <a:extLst>
                    <a:ext uri="{A12FA001-AC4F-418D-AE19-62706E023703}">
                      <ahyp:hlinkClr val="tx"/>
                    </a:ext>
                  </a:extLst>
                </a:hlinkClick>
              </a:rPr>
              <a:t> </a:t>
            </a:r>
            <a:r>
              <a:rPr lang="en-US" sz="2400" u="sng">
                <a:solidFill>
                  <a:schemeClr val="hlink"/>
                </a:solidFill>
                <a:hlinkClick r:id="rId4"/>
              </a:rPr>
              <a:t>Ordinary Least Squares (OLS)</a:t>
            </a:r>
            <a:r>
              <a:rPr lang="en-US" sz="2400">
                <a:solidFill>
                  <a:schemeClr val="dk1"/>
                </a:solidFill>
              </a:rPr>
              <a:t> assume homoscedasticity—meaning errors have uniform variance everywhere.</a:t>
            </a:r>
            <a:endParaRPr sz="24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h62b2205ea301b09f_0_67"/>
          <p:cNvSpPr txBox="1"/>
          <p:nvPr/>
        </p:nvSpPr>
        <p:spPr>
          <a:xfrm>
            <a:off x="353700" y="393025"/>
            <a:ext cx="11554500" cy="71160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Impact on Models:</a:t>
            </a:r>
            <a:r>
              <a:rPr lang="en-US" sz="2400">
                <a:solidFill>
                  <a:schemeClr val="dk1"/>
                </a:solidFill>
              </a:rPr>
              <a:t> While coefficient estimates remain unbiased, their standard errors become inaccurate. This makes p-values, confidence intervals, and hypothesis tests untrustworthy, lowering model reliability.</a:t>
            </a:r>
            <a:endParaRPr sz="24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lang="en-US" sz="2400">
                <a:solidFill>
                  <a:schemeClr val="dk1"/>
                </a:solidFill>
              </a:rPr>
              <a:t>How to Detect It</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Residual Plots:</a:t>
            </a:r>
            <a:r>
              <a:rPr lang="en-US" sz="2400">
                <a:solidFill>
                  <a:schemeClr val="dk1"/>
                </a:solidFill>
              </a:rPr>
              <a:t> Plot residuals against predicted values; look for funnel or cone shapes rather than a random, even scatter.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Statistical Tests:</a:t>
            </a:r>
            <a:r>
              <a:rPr lang="en-US" sz="2400">
                <a:solidFill>
                  <a:schemeClr val="dk1"/>
                </a:solidFill>
              </a:rPr>
              <a:t> Use formal checks like the</a:t>
            </a:r>
            <a:r>
              <a:rPr lang="en-US" sz="2400">
                <a:solidFill>
                  <a:schemeClr val="dk1"/>
                </a:solidFill>
                <a:uFill>
                  <a:noFill/>
                </a:uFill>
                <a:hlinkClick r:id="rId3">
                  <a:extLst>
                    <a:ext uri="{A12FA001-AC4F-418D-AE19-62706E023703}">
                      <ahyp:hlinkClr val="tx"/>
                    </a:ext>
                  </a:extLst>
                </a:hlinkClick>
              </a:rPr>
              <a:t> </a:t>
            </a:r>
            <a:r>
              <a:rPr lang="en-US" sz="2400" u="sng">
                <a:solidFill>
                  <a:schemeClr val="hlink"/>
                </a:solidFill>
                <a:hlinkClick r:id="rId4"/>
              </a:rPr>
              <a:t>Breusch-Pagan Test</a:t>
            </a:r>
            <a:r>
              <a:rPr lang="en-US" sz="2400">
                <a:solidFill>
                  <a:schemeClr val="dk1"/>
                </a:solidFill>
              </a:rPr>
              <a:t> or</a:t>
            </a:r>
            <a:r>
              <a:rPr lang="en-US" sz="2400">
                <a:solidFill>
                  <a:schemeClr val="dk1"/>
                </a:solidFill>
                <a:uFill>
                  <a:noFill/>
                </a:uFill>
                <a:hlinkClick r:id="rId5">
                  <a:extLst>
                    <a:ext uri="{A12FA001-AC4F-418D-AE19-62706E023703}">
                      <ahyp:hlinkClr val="tx"/>
                    </a:ext>
                  </a:extLst>
                </a:hlinkClick>
              </a:rPr>
              <a:t> </a:t>
            </a:r>
            <a:r>
              <a:rPr lang="en-US" sz="2400" u="sng">
                <a:solidFill>
                  <a:schemeClr val="hlink"/>
                </a:solidFill>
                <a:hlinkClick r:id="rId6"/>
              </a:rPr>
              <a:t>White Test</a:t>
            </a:r>
            <a:r>
              <a:rPr lang="en-US" sz="2400">
                <a:solidFill>
                  <a:schemeClr val="dk1"/>
                </a:solidFill>
              </a:rPr>
              <a:t>. </a:t>
            </a:r>
            <a:endParaRPr sz="2400">
              <a:solidFill>
                <a:schemeClr val="dk1"/>
              </a:solidFill>
            </a:endParaRPr>
          </a:p>
          <a:p>
            <a:pPr indent="0" lvl="0" marL="0" rtl="0" algn="l">
              <a:lnSpc>
                <a:spcPct val="115000"/>
              </a:lnSpc>
              <a:spcBef>
                <a:spcPts val="2100"/>
              </a:spcBef>
              <a:spcAft>
                <a:spcPts val="0"/>
              </a:spcAft>
              <a:buClr>
                <a:schemeClr val="dk1"/>
              </a:buClr>
              <a:buSzPts val="1100"/>
              <a:buFont typeface="Arial"/>
              <a:buNone/>
            </a:pPr>
            <a:r>
              <a:rPr lang="en-US" sz="2400">
                <a:solidFill>
                  <a:schemeClr val="dk1"/>
                </a:solidFill>
              </a:rPr>
              <a:t>How to Fix It</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Data Transformation:</a:t>
            </a:r>
            <a:r>
              <a:rPr lang="en-US" sz="2400">
                <a:solidFill>
                  <a:schemeClr val="dk1"/>
                </a:solidFill>
              </a:rPr>
              <a:t> Apply a logarithmic or square-root transformation to the dependent variable.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rgbClr val="333333"/>
                </a:solidFill>
                <a:highlight>
                  <a:srgbClr val="FFFFFF"/>
                </a:highlight>
                <a:latin typeface="Roboto"/>
                <a:ea typeface="Roboto"/>
                <a:cs typeface="Roboto"/>
                <a:sym typeface="Roboto"/>
              </a:rPr>
              <a:t>Weighted regression</a:t>
            </a:r>
            <a:r>
              <a:rPr lang="en-US" sz="2400">
                <a:solidFill>
                  <a:srgbClr val="333333"/>
                </a:solidFill>
                <a:highlight>
                  <a:srgbClr val="FFFFFF"/>
                </a:highlight>
                <a:latin typeface="Roboto"/>
                <a:ea typeface="Roboto"/>
                <a:cs typeface="Roboto"/>
                <a:sym typeface="Roboto"/>
              </a:rPr>
              <a:t> (</a:t>
            </a:r>
            <a:r>
              <a:rPr b="1" lang="en-US" sz="2400">
                <a:solidFill>
                  <a:srgbClr val="333333"/>
                </a:solidFill>
                <a:highlight>
                  <a:srgbClr val="FFFFFF"/>
                </a:highlight>
                <a:latin typeface="Roboto"/>
                <a:ea typeface="Roboto"/>
                <a:cs typeface="Roboto"/>
                <a:sym typeface="Roboto"/>
              </a:rPr>
              <a:t>weighted least squares</a:t>
            </a:r>
            <a:r>
              <a:rPr lang="en-US" sz="2400">
                <a:solidFill>
                  <a:srgbClr val="333333"/>
                </a:solidFill>
                <a:highlight>
                  <a:srgbClr val="FFFFFF"/>
                </a:highlight>
                <a:latin typeface="Roboto"/>
                <a:ea typeface="Roboto"/>
                <a:cs typeface="Roboto"/>
                <a:sym typeface="Roboto"/>
              </a:rPr>
              <a:t>) is a regression model where each observation is given a certain weight that tells the software how important it should be in the model fit.</a:t>
            </a:r>
            <a:r>
              <a:rPr lang="en-US" sz="2400">
                <a:solidFill>
                  <a:schemeClr val="dk1"/>
                </a:solidFill>
              </a:rPr>
              <a:t> </a:t>
            </a:r>
            <a:endParaRPr sz="2400">
              <a:solidFill>
                <a:schemeClr val="dk1"/>
              </a:solidFill>
            </a:endParaRPr>
          </a:p>
          <a:p>
            <a:pPr indent="0" lvl="0" marL="457200" rtl="0" algn="l">
              <a:lnSpc>
                <a:spcPct val="115000"/>
              </a:lnSpc>
              <a:spcBef>
                <a:spcPts val="2100"/>
              </a:spcBef>
              <a:spcAft>
                <a:spcPts val="1200"/>
              </a:spcAft>
              <a:buNone/>
            </a:pPr>
            <a:r>
              <a:t/>
            </a:r>
            <a:endParaRPr sz="24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aphicFrame>
        <p:nvGraphicFramePr>
          <p:cNvPr id="162" name="Google Shape;162;h62b2205ea301b09f_0_105"/>
          <p:cNvGraphicFramePr/>
          <p:nvPr/>
        </p:nvGraphicFramePr>
        <p:xfrm>
          <a:off x="665050" y="421178"/>
          <a:ext cx="3000000" cy="3000000"/>
        </p:xfrm>
        <a:graphic>
          <a:graphicData uri="http://schemas.openxmlformats.org/drawingml/2006/table">
            <a:tbl>
              <a:tblPr>
                <a:solidFill>
                  <a:srgbClr val="FFFFFF"/>
                </a:solidFill>
                <a:tableStyleId>{6D6FB90C-68D5-4DC2-8CC6-06CA0C885E98}</a:tableStyleId>
              </a:tblPr>
              <a:tblGrid>
                <a:gridCol w="3078200"/>
                <a:gridCol w="3375250"/>
                <a:gridCol w="4191925"/>
              </a:tblGrid>
              <a:tr h="381000">
                <a:tc>
                  <a:txBody>
                    <a:bodyPr/>
                    <a:lstStyle/>
                    <a:p>
                      <a:pPr indent="0" lvl="0" marL="0" rtl="0" algn="l">
                        <a:spcBef>
                          <a:spcPts val="0"/>
                        </a:spcBef>
                        <a:spcAft>
                          <a:spcPts val="0"/>
                        </a:spcAft>
                        <a:buNone/>
                      </a:pPr>
                      <a:r>
                        <a:rPr b="1" lang="en-US" sz="2400"/>
                        <a:t>Feature</a:t>
                      </a:r>
                      <a:endParaRPr b="1"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Homoscedasticity</a:t>
                      </a:r>
                      <a:endParaRPr b="1"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400"/>
                        <a:t>Heteroscedasticity</a:t>
                      </a:r>
                      <a:endParaRPr b="1"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Variance of residuals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Constant across all X values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Changes across X values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Appearance on scatter plot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Even spread around regression line</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Fan-shaped or funnel-shaped spread</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Effect on coefficient estimates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Unbiased and efficient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Unbiased but inefficient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Effect on standard errors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Accurate</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Biased (inflated or deflated)</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Effect on p-values</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Valid</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Potentially misleading</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spcBef>
                          <a:spcPts val="0"/>
                        </a:spcBef>
                        <a:spcAft>
                          <a:spcPts val="0"/>
                        </a:spcAft>
                        <a:buNone/>
                      </a:pPr>
                      <a:r>
                        <a:rPr lang="en-US" sz="2400"/>
                        <a:t>Common in biomedical data?</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Ideal, but not always present</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400"/>
                        <a:t>Very common</a:t>
                      </a:r>
                      <a:endParaRPr sz="24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graphicFrame>
        <p:nvGraphicFramePr>
          <p:cNvPr id="167" name="Google Shape;167;h62b2205ea301b09f_0_113"/>
          <p:cNvGraphicFramePr/>
          <p:nvPr/>
        </p:nvGraphicFramePr>
        <p:xfrm>
          <a:off x="415913" y="2522175"/>
          <a:ext cx="3000000" cy="3000000"/>
        </p:xfrm>
        <a:graphic>
          <a:graphicData uri="http://schemas.openxmlformats.org/drawingml/2006/table">
            <a:tbl>
              <a:tblPr>
                <a:solidFill>
                  <a:srgbClr val="FFFFFF"/>
                </a:solidFill>
                <a:tableStyleId>{6D6FB90C-68D5-4DC2-8CC6-06CA0C885E98}</a:tableStyleId>
              </a:tblPr>
              <a:tblGrid>
                <a:gridCol w="2041625"/>
                <a:gridCol w="5719175"/>
                <a:gridCol w="3599025"/>
              </a:tblGrid>
              <a:tr h="381000">
                <a:tc>
                  <a:txBody>
                    <a:bodyPr/>
                    <a:lstStyle/>
                    <a:p>
                      <a:pPr indent="0" lvl="0" marL="0" rtl="0" algn="l">
                        <a:spcBef>
                          <a:spcPts val="0"/>
                        </a:spcBef>
                        <a:spcAft>
                          <a:spcPts val="0"/>
                        </a:spcAft>
                        <a:buNone/>
                      </a:pPr>
                      <a:r>
                        <a:rPr b="1" lang="en-US" sz="2000"/>
                        <a:t>Test                             </a:t>
                      </a:r>
                      <a:endParaRPr b="1"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What It Does</a:t>
                      </a:r>
                      <a:endParaRPr b="1"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Best Used When</a:t>
                      </a:r>
                      <a:endParaRPr b="1"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Breusch-Pagan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Regresses squared residuals on predictors; detects linear heteroscedasticity</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General-purpose; widely used</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White’s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A more general version of Breusch-Pagan; detects non-linear patterns too</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Complex models with interactions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Goldfeld-Quandt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Splits data in two and compares variances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Variance changes at a known breakpoint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52450">
                <a:tc>
                  <a:txBody>
                    <a:bodyPr/>
                    <a:lstStyle/>
                    <a:p>
                      <a:pPr indent="0" lvl="0" marL="0" rtl="0" algn="l">
                        <a:spcBef>
                          <a:spcPts val="0"/>
                        </a:spcBef>
                        <a:spcAft>
                          <a:spcPts val="0"/>
                        </a:spcAft>
                        <a:buNone/>
                      </a:pPr>
                      <a:r>
                        <a:rPr lang="en-US" sz="2000"/>
                        <a:t>Levene’s Test</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Compares variance across groups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ANOVA settings; comparing group variances</a:t>
                      </a:r>
                      <a:endParaRPr sz="2000"/>
                    </a:p>
                  </a:txBody>
                  <a:tcPr marT="95250" marB="95250" marR="95250" marL="95250">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68" name="Google Shape;168;h62b2205ea301b09f_0_113"/>
          <p:cNvSpPr txBox="1"/>
          <p:nvPr/>
        </p:nvSpPr>
        <p:spPr>
          <a:xfrm>
            <a:off x="304800" y="304800"/>
            <a:ext cx="11359800" cy="1941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p>
          <a:p>
            <a:pPr indent="0" lvl="0" marL="0" rtl="0" algn="l">
              <a:spcBef>
                <a:spcPts val="0"/>
              </a:spcBef>
              <a:spcAft>
                <a:spcPts val="0"/>
              </a:spcAft>
              <a:buClr>
                <a:schemeClr val="dk1"/>
              </a:buClr>
              <a:buSzPts val="1100"/>
              <a:buFont typeface="Arial"/>
              <a:buNone/>
            </a:pPr>
            <a:r>
              <a:rPr lang="en-US" sz="2000"/>
              <a:t>Formal Statistical Tests:When visual inspection is ambiguous, formal tests provide confirmation:</a:t>
            </a:r>
            <a:endParaRPr sz="2000"/>
          </a:p>
          <a:p>
            <a:pPr indent="0" lvl="0" marL="0" rtl="0" algn="l">
              <a:spcBef>
                <a:spcPts val="0"/>
              </a:spcBef>
              <a:spcAft>
                <a:spcPts val="0"/>
              </a:spcAft>
              <a:buNone/>
            </a:pPr>
            <a:r>
              <a:rPr lang="en-US" sz="2000"/>
              <a:t>Interpreting the results.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rPr lang="en-US" sz="2000"/>
              <a:t>A significant p-value (typically &lt; 0.05) in these tests indicates heteroscedasticity is present</a:t>
            </a:r>
            <a:endParaRPr sz="2000"/>
          </a:p>
          <a:p>
            <a:pPr indent="-228600" lvl="0" marL="457200" rtl="0" algn="l">
              <a:spcBef>
                <a:spcPts val="0"/>
              </a:spcBef>
              <a:spcAft>
                <a:spcPts val="0"/>
              </a:spcAft>
              <a:buSzPts val="2000"/>
              <a:buNone/>
            </a:pPr>
            <a:r>
              <a:rPr lang="en-US" sz="2000"/>
              <a:t>These tests can be overly sensitive in large samples so always combine with visual inspection</a:t>
            </a:r>
            <a:endParaRPr sz="2000"/>
          </a:p>
          <a:p>
            <a:pPr indent="0" lvl="0" marL="0" rtl="0" algn="l">
              <a:spcBef>
                <a:spcPts val="0"/>
              </a:spcBef>
              <a:spcAft>
                <a:spcPts val="0"/>
              </a:spcAft>
              <a:buNone/>
            </a:pPr>
            <a:r>
              <a:rPr lang="en-US" sz="2000"/>
              <a:t>                           </a:t>
            </a:r>
            <a:endParaRPr sz="2000">
              <a:solidFill>
                <a:srgbClr val="333333"/>
              </a:solidFill>
              <a:highlight>
                <a:srgbClr val="FFFFFF"/>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h62b2205ea301b09f_0_120"/>
          <p:cNvSpPr txBox="1"/>
          <p:nvPr/>
        </p:nvSpPr>
        <p:spPr>
          <a:xfrm>
            <a:off x="326675" y="253800"/>
            <a:ext cx="11538300" cy="660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There is </a:t>
            </a:r>
            <a:r>
              <a:rPr b="1" lang="en-US" sz="2400">
                <a:solidFill>
                  <a:schemeClr val="dk1"/>
                </a:solidFill>
              </a:rPr>
              <a:t>no single universal solution</a:t>
            </a:r>
            <a:r>
              <a:rPr lang="en-US" sz="2400">
                <a:solidFill>
                  <a:schemeClr val="dk1"/>
                </a:solidFill>
              </a:rPr>
              <a:t>. The appropriate remedy depends on why heteroscedasticity is occurring. </a:t>
            </a:r>
            <a:endParaRPr sz="2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US" sz="2400">
                <a:solidFill>
                  <a:schemeClr val="dk1"/>
                </a:solidFill>
              </a:rPr>
              <a:t>1. Transform the dependent variable</a:t>
            </a:r>
            <a:endParaRPr b="1"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This is one of the most common approaches.</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If the variance increases with the level of YY, we can transform YY.</a:t>
            </a:r>
            <a:endParaRPr sz="24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US" sz="2400">
                <a:solidFill>
                  <a:schemeClr val="dk1"/>
                </a:solidFill>
              </a:rPr>
              <a:t>Common transformations</a:t>
            </a:r>
            <a:endParaRPr b="1" sz="2400">
              <a:solidFill>
                <a:schemeClr val="dk1"/>
              </a:solidFill>
            </a:endParaRPr>
          </a:p>
          <a:p>
            <a:pPr indent="0" lvl="0" marL="0" rtl="0" algn="l">
              <a:lnSpc>
                <a:spcPct val="115000"/>
              </a:lnSpc>
              <a:spcBef>
                <a:spcPts val="1200"/>
              </a:spcBef>
              <a:spcAft>
                <a:spcPts val="0"/>
              </a:spcAft>
              <a:buNone/>
            </a:pPr>
            <a:r>
              <a:rPr b="1" lang="en-US" sz="2400">
                <a:solidFill>
                  <a:schemeClr val="dk1"/>
                </a:solidFill>
              </a:rPr>
              <a:t>Log transformation:            </a:t>
            </a:r>
            <a:r>
              <a:rPr lang="en-US" sz="2400">
                <a:solidFill>
                  <a:schemeClr val="dk1"/>
                </a:solidFill>
              </a:rPr>
              <a:t>Y∗=log(Y)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Square-root transformation:          </a:t>
            </a:r>
            <a:r>
              <a:rPr lang="en-US" sz="2400">
                <a:solidFill>
                  <a:schemeClr val="dk1"/>
                </a:solidFill>
              </a:rPr>
              <a:t>Y∗=YY^*=\sqrt{Y}</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Sometimes other transformations are appropriate, such as reciprocal transformation.</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Instead of:     Y=β0+β1X+ϵ      we may model: log⁡(Y)=β0+β1X+ϵ</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The transformation can reduce the unequal spread of residuals.</a:t>
            </a:r>
            <a:endParaRPr sz="24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h62b2205ea301b09f_0_127"/>
          <p:cNvSpPr txBox="1"/>
          <p:nvPr/>
        </p:nvSpPr>
        <p:spPr>
          <a:xfrm>
            <a:off x="401175" y="534875"/>
            <a:ext cx="11232600" cy="588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2. Weighted Least Squares (WLS)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If we know or can estimate how the error variance changes across observations, we can give </a:t>
            </a:r>
            <a:r>
              <a:rPr b="1" lang="en-US" sz="2400">
                <a:solidFill>
                  <a:schemeClr val="dk1"/>
                </a:solidFill>
              </a:rPr>
              <a:t>different weights</a:t>
            </a:r>
            <a:r>
              <a:rPr lang="en-US" sz="2400">
                <a:solidFill>
                  <a:schemeClr val="dk1"/>
                </a:solidFill>
              </a:rPr>
              <a:t> to observations.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Ordinary Least Squares:   min⁡ ∑ e</a:t>
            </a:r>
            <a:r>
              <a:rPr baseline="30000" lang="en-US" sz="2400">
                <a:solidFill>
                  <a:schemeClr val="dk1"/>
                </a:solidFill>
              </a:rPr>
              <a:t>i2 </a:t>
            </a:r>
            <a:endParaRPr baseline="30000" sz="2400">
              <a:solidFill>
                <a:schemeClr val="dk1"/>
              </a:solidFill>
            </a:endParaRPr>
          </a:p>
          <a:p>
            <a:pPr indent="0" lvl="0" marL="0" rtl="0" algn="l">
              <a:lnSpc>
                <a:spcPct val="115000"/>
              </a:lnSpc>
              <a:spcBef>
                <a:spcPts val="1200"/>
              </a:spcBef>
              <a:spcAft>
                <a:spcPts val="0"/>
              </a:spcAft>
              <a:buNone/>
            </a:pPr>
            <a:r>
              <a:rPr lang="en-US" sz="2400">
                <a:solidFill>
                  <a:schemeClr val="dk1"/>
                </a:solidFill>
              </a:rPr>
              <a:t>Weighted Least Squares:  min ∑w</a:t>
            </a:r>
            <a:r>
              <a:rPr baseline="30000" lang="en-US" sz="2400">
                <a:solidFill>
                  <a:schemeClr val="dk1"/>
                </a:solidFill>
              </a:rPr>
              <a:t>i​</a:t>
            </a:r>
            <a:r>
              <a:rPr lang="en-US" sz="2400">
                <a:solidFill>
                  <a:schemeClr val="dk1"/>
                </a:solidFill>
              </a:rPr>
              <a:t> e</a:t>
            </a:r>
            <a:r>
              <a:rPr baseline="30000" lang="en-US" sz="2400">
                <a:solidFill>
                  <a:schemeClr val="dk1"/>
                </a:solidFill>
              </a:rPr>
              <a:t>i2</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where w</a:t>
            </a:r>
            <a:r>
              <a:rPr baseline="30000" lang="en-US" sz="2400">
                <a:solidFill>
                  <a:schemeClr val="dk1"/>
                </a:solidFill>
              </a:rPr>
              <a:t>i</a:t>
            </a:r>
            <a:r>
              <a:rPr lang="en-US" sz="2400">
                <a:solidFill>
                  <a:schemeClr val="dk1"/>
                </a:solidFill>
              </a:rPr>
              <a:t>  is the weight assigned to observation ii.</a:t>
            </a:r>
            <a:endParaRPr sz="24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US" sz="2400">
                <a:solidFill>
                  <a:schemeClr val="dk1"/>
                </a:solidFill>
              </a:rPr>
              <a:t>Observations with greater error variance receive </a:t>
            </a:r>
            <a:r>
              <a:rPr b="1" lang="en-US" sz="2400">
                <a:solidFill>
                  <a:schemeClr val="dk1"/>
                </a:solidFill>
              </a:rPr>
              <a:t>less weight</a:t>
            </a:r>
            <a:r>
              <a:rPr lang="en-US" sz="2400">
                <a:solidFill>
                  <a:schemeClr val="dk1"/>
                </a:solidFill>
              </a:rPr>
              <a:t>, while observations with smaller error variance receive </a:t>
            </a:r>
            <a:r>
              <a:rPr b="1" lang="en-US" sz="2400">
                <a:solidFill>
                  <a:schemeClr val="dk1"/>
                </a:solidFill>
              </a:rPr>
              <a:t>more weight</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This can produce more efficient coefficient estimates when the variance structure is correctly specified.</a:t>
            </a:r>
            <a:endParaRPr sz="2400">
              <a:solidFill>
                <a:schemeClr val="dk1"/>
              </a:solidFill>
            </a:endParaRPr>
          </a:p>
          <a:p>
            <a:pPr indent="0" lvl="0" marL="0" rtl="0" algn="l">
              <a:spcBef>
                <a:spcPts val="1200"/>
              </a:spcBef>
              <a:spcAft>
                <a:spcPts val="0"/>
              </a:spcAft>
              <a:buNone/>
            </a:pPr>
            <a:r>
              <a:t/>
            </a:r>
            <a:endParaRPr sz="24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h2205aeae9b1c56da_0_10"/>
          <p:cNvSpPr txBox="1"/>
          <p:nvPr/>
        </p:nvSpPr>
        <p:spPr>
          <a:xfrm>
            <a:off x="496675" y="458475"/>
            <a:ext cx="10888800" cy="557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3. Use Robust Standard Errors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Sometimes we don't want to change the regression coefficients.Instead, we can use </a:t>
            </a:r>
            <a:r>
              <a:rPr b="1" lang="en-US" sz="2400">
                <a:solidFill>
                  <a:schemeClr val="dk1"/>
                </a:solidFill>
              </a:rPr>
              <a:t>heteroscedasticity-robust standard errors</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Keep the estimated regression coefficients, but adjust the standard errors so that statistical inference is more reliable in the presence of heteroscedasticity.</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This is particularly useful when the main concern is </a:t>
            </a:r>
            <a:r>
              <a:rPr b="1" lang="en-US" sz="2400">
                <a:solidFill>
                  <a:schemeClr val="dk1"/>
                </a:solidFill>
              </a:rPr>
              <a:t>hypothesis testing and confidence intervals</a:t>
            </a:r>
            <a:r>
              <a:rPr lang="en-US" sz="2400">
                <a:solidFill>
                  <a:schemeClr val="dk1"/>
                </a:solidFill>
              </a:rPr>
              <a:t> rather than changing the fitted mean relationship.</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You may hear these called:</a:t>
            </a:r>
            <a:endParaRPr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Robust standard errors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Heteroscedasticity-consistent standard errors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Huber–White standard errors</a:t>
            </a:r>
            <a:endParaRPr sz="24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h2205aeae9b1c56da_0_13"/>
          <p:cNvSpPr txBox="1"/>
          <p:nvPr/>
        </p:nvSpPr>
        <p:spPr>
          <a:xfrm>
            <a:off x="401175" y="401166"/>
            <a:ext cx="11118000" cy="655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4</a:t>
            </a:r>
            <a:r>
              <a:rPr b="1" lang="en-US" sz="2400">
                <a:solidFill>
                  <a:schemeClr val="dk1"/>
                </a:solidFill>
              </a:rPr>
              <a:t>. Reconsider the Model Specification</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Heteroscedasticity can sometimes indicate that the model is </a:t>
            </a:r>
            <a:r>
              <a:rPr b="1" lang="en-US" sz="2400">
                <a:solidFill>
                  <a:schemeClr val="dk1"/>
                </a:solidFill>
              </a:rPr>
              <a:t>missing an important variable or an appropriate functional form</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For example, suppose:      </a:t>
            </a:r>
            <a:r>
              <a:rPr lang="en-US" sz="2400">
                <a:solidFill>
                  <a:schemeClr val="dk1"/>
                </a:solidFill>
              </a:rPr>
              <a:t>M</a:t>
            </a:r>
            <a:r>
              <a:rPr lang="en-US" sz="2400">
                <a:solidFill>
                  <a:schemeClr val="dk1"/>
                </a:solidFill>
              </a:rPr>
              <a:t>arks=β0​+β1​StudyHours+ϵ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but students' </a:t>
            </a:r>
            <a:r>
              <a:rPr b="1" lang="en-US" sz="2400">
                <a:solidFill>
                  <a:schemeClr val="dk1"/>
                </a:solidFill>
              </a:rPr>
              <a:t>attendance</a:t>
            </a:r>
            <a:r>
              <a:rPr lang="en-US" sz="2400">
                <a:solidFill>
                  <a:schemeClr val="dk1"/>
                </a:solidFill>
              </a:rPr>
              <a:t> also affects marks.</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We could consider:             Marks=β0​+β1​StudyHours+β2​Attendance+ϵ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Similarly, a nonlinear relationship might require:</a:t>
            </a:r>
            <a:endParaRPr sz="2400">
              <a:solidFill>
                <a:schemeClr val="dk1"/>
              </a:solidFill>
            </a:endParaRPr>
          </a:p>
          <a:p>
            <a:pPr indent="0" lvl="0" marL="0" rtl="0" algn="l">
              <a:spcBef>
                <a:spcPts val="1200"/>
              </a:spcBef>
              <a:spcAft>
                <a:spcPts val="0"/>
              </a:spcAft>
              <a:buNone/>
            </a:pPr>
            <a:r>
              <a:rPr lang="en-US" sz="2400">
                <a:solidFill>
                  <a:schemeClr val="dk1"/>
                </a:solidFill>
              </a:rPr>
              <a:t>Marks=β0​+β1​StudyHours+β2​StudyHours2+ϵ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So:</a:t>
            </a:r>
            <a:endParaRPr sz="24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b="1" lang="en-US" sz="2400">
                <a:solidFill>
                  <a:schemeClr val="dk1"/>
                </a:solidFill>
              </a:rPr>
              <a:t>Check whether the regression model is correctly specified before simply applying a statistical remedy.</a:t>
            </a:r>
            <a:endParaRPr b="1" sz="2400">
              <a:solidFill>
                <a:schemeClr val="dk1"/>
              </a:solidFill>
            </a:endParaRPr>
          </a:p>
          <a:p>
            <a:pPr indent="0" lvl="0" marL="0" rtl="0" algn="l">
              <a:spcBef>
                <a:spcPts val="1200"/>
              </a:spcBef>
              <a:spcAft>
                <a:spcPts val="0"/>
              </a:spcAft>
              <a:buNone/>
            </a:pPr>
            <a:r>
              <a:t/>
            </a:r>
            <a:endParaRPr sz="24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graphicFrame>
        <p:nvGraphicFramePr>
          <p:cNvPr id="193" name="Google Shape;193;h2205aeae9b1c56da_0_29"/>
          <p:cNvGraphicFramePr/>
          <p:nvPr/>
        </p:nvGraphicFramePr>
        <p:xfrm>
          <a:off x="474900" y="350688"/>
          <a:ext cx="3000000" cy="3000000"/>
        </p:xfrm>
        <a:graphic>
          <a:graphicData uri="http://schemas.openxmlformats.org/drawingml/2006/table">
            <a:tbl>
              <a:tblPr>
                <a:noFill/>
                <a:tableStyleId>{118E0F4F-5B93-4366-B9F5-AB34FFFCB298}</a:tableStyleId>
              </a:tblPr>
              <a:tblGrid>
                <a:gridCol w="5296175"/>
                <a:gridCol w="5945675"/>
              </a:tblGrid>
              <a:tr h="533125">
                <a:tc gridSpan="2">
                  <a:txBody>
                    <a:bodyPr/>
                    <a:lstStyle/>
                    <a:p>
                      <a:pPr indent="0" lvl="0" marL="0" rtl="0" algn="l">
                        <a:spcBef>
                          <a:spcPts val="0"/>
                        </a:spcBef>
                        <a:spcAft>
                          <a:spcPts val="0"/>
                        </a:spcAft>
                        <a:buNone/>
                      </a:pPr>
                      <a:r>
                        <a:rPr lang="en-US" sz="2400"/>
                        <a:t>Handling </a:t>
                      </a:r>
                      <a:r>
                        <a:rPr lang="en-US" sz="2400"/>
                        <a:t>Heteroscedasticity</a:t>
                      </a:r>
                      <a:r>
                        <a:rPr lang="en-US" sz="2400"/>
                        <a:t> (Summary): </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r h="573325">
                <a:tc gridSpan="2">
                  <a:txBody>
                    <a:bodyPr/>
                    <a:lstStyle/>
                    <a:p>
                      <a:pPr indent="0" lvl="0" marL="0" rtl="0" algn="l">
                        <a:spcBef>
                          <a:spcPts val="0"/>
                        </a:spcBef>
                        <a:spcAft>
                          <a:spcPts val="0"/>
                        </a:spcAft>
                        <a:buNone/>
                      </a:pPr>
                      <a:r>
                        <a:rPr lang="en-US" sz="2400">
                          <a:solidFill>
                            <a:schemeClr val="dk1"/>
                          </a:solidFill>
                        </a:rPr>
                        <a:t>First understand why it occurs; then choose an appropriate remedy.                       </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hMerge="1"/>
              </a:tr>
              <a:tr h="381000">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1. Transform variables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Log transformation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Square-root transformation</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Other appropriate transformations</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2. Use Weighted Least Squares (WLS)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Assign weights based on error variance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Gives less influence to observations with greater error varianc</a:t>
                      </a:r>
                      <a:r>
                        <a:rPr lang="en-US" sz="2400">
                          <a:solidFill>
                            <a:schemeClr val="dk1"/>
                          </a:solidFill>
                        </a:rPr>
                        <a:t>e</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81000">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3. Use Robust Standard Errors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Regression coefficients can remain unchanged</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Standard errors are adjusted for heteroscedasticity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Useful for more reliable inference</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0"/>
                        </a:spcAft>
                        <a:buClr>
                          <a:schemeClr val="dk1"/>
                        </a:buClr>
                        <a:buSzPts val="1100"/>
                        <a:buFont typeface="Arial"/>
                        <a:buNone/>
                      </a:pPr>
                      <a:r>
                        <a:rPr b="1" lang="en-US" sz="2400">
                          <a:solidFill>
                            <a:schemeClr val="dk1"/>
                          </a:solidFill>
                        </a:rPr>
                        <a:t>4. Reconsider Model Specification</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lang="en-US" sz="2400">
                          <a:solidFill>
                            <a:schemeClr val="dk1"/>
                          </a:solidFill>
                        </a:rPr>
                        <a:t>Add relevant predictors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Consider nonlinear terms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Check whether the functional form is appropriate</a:t>
                      </a:r>
                      <a:endParaRPr sz="24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h62b2205ea301b09f_0_84"/>
          <p:cNvSpPr txBox="1"/>
          <p:nvPr/>
        </p:nvSpPr>
        <p:spPr>
          <a:xfrm>
            <a:off x="491275" y="373800"/>
            <a:ext cx="11377500" cy="666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rPr>
              <a:t>Diagnostic 3 — Normality of Residual</a:t>
            </a:r>
            <a:r>
              <a:rPr b="1" lang="en-US" sz="2400">
                <a:solidFill>
                  <a:schemeClr val="dk1"/>
                </a:solidFill>
              </a:rPr>
              <a:t>s :</a:t>
            </a:r>
            <a:endParaRPr sz="2400">
              <a:solidFill>
                <a:schemeClr val="dk1"/>
              </a:solidFill>
            </a:endParaRPr>
          </a:p>
          <a:p>
            <a:pPr indent="0" lvl="0" marL="0" rtl="0" algn="l">
              <a:lnSpc>
                <a:spcPct val="115000"/>
              </a:lnSpc>
              <a:spcBef>
                <a:spcPts val="1200"/>
              </a:spcBef>
              <a:spcAft>
                <a:spcPts val="0"/>
              </a:spcAft>
              <a:buNone/>
            </a:pPr>
            <a:r>
              <a:rPr b="1" lang="en-US" sz="2400">
                <a:solidFill>
                  <a:srgbClr val="2D3748"/>
                </a:solidFill>
                <a:highlight>
                  <a:srgbClr val="FFFFFF"/>
                </a:highlight>
                <a:latin typeface="Georgia"/>
                <a:ea typeface="Georgia"/>
                <a:cs typeface="Georgia"/>
                <a:sym typeface="Georgia"/>
              </a:rPr>
              <a:t>Normality of residuals</a:t>
            </a:r>
            <a:r>
              <a:rPr lang="en-US" sz="2400">
                <a:solidFill>
                  <a:srgbClr val="2D3748"/>
                </a:solidFill>
                <a:highlight>
                  <a:srgbClr val="FFFFFF"/>
                </a:highlight>
                <a:latin typeface="Georgia"/>
                <a:ea typeface="Georgia"/>
                <a:cs typeface="Georgia"/>
                <a:sym typeface="Georgia"/>
              </a:rPr>
              <a:t> is the assumption that these residuals follow a </a:t>
            </a:r>
            <a:r>
              <a:rPr b="1" lang="en-US" sz="2400">
                <a:solidFill>
                  <a:srgbClr val="2D3748"/>
                </a:solidFill>
                <a:highlight>
                  <a:srgbClr val="FFFFFF"/>
                </a:highlight>
                <a:latin typeface="Georgia"/>
                <a:ea typeface="Georgia"/>
                <a:cs typeface="Georgia"/>
                <a:sym typeface="Georgia"/>
              </a:rPr>
              <a:t>normal (Gaussian) distribution</a:t>
            </a:r>
            <a:r>
              <a:rPr lang="en-US" sz="2400">
                <a:solidFill>
                  <a:srgbClr val="2D3748"/>
                </a:solidFill>
                <a:highlight>
                  <a:srgbClr val="FFFFFF"/>
                </a:highlight>
                <a:latin typeface="Georgia"/>
                <a:ea typeface="Georgia"/>
                <a:cs typeface="Georgia"/>
                <a:sym typeface="Georgia"/>
              </a:rPr>
              <a:t>, typically centered around zero. Intuitively, most errors should be small, large errors should be rare, and the pattern of errors should look roughly symmetric.</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None/>
            </a:pPr>
            <a:r>
              <a:rPr lang="en-US" sz="2400">
                <a:solidFill>
                  <a:srgbClr val="2D3748"/>
                </a:solidFill>
                <a:highlight>
                  <a:srgbClr val="FFFFFF"/>
                </a:highlight>
                <a:latin typeface="Georgia"/>
                <a:ea typeface="Georgia"/>
                <a:cs typeface="Georgia"/>
                <a:sym typeface="Georgia"/>
              </a:rPr>
              <a:t>In linear regression, normal residuals are not required for the model to produce a line or even for predictions to be reasonable. The big reason we care is </a:t>
            </a:r>
            <a:r>
              <a:rPr b="1" lang="en-US" sz="2400">
                <a:solidFill>
                  <a:srgbClr val="2D3748"/>
                </a:solidFill>
                <a:highlight>
                  <a:srgbClr val="FFFFFF"/>
                </a:highlight>
                <a:latin typeface="Georgia"/>
                <a:ea typeface="Georgia"/>
                <a:cs typeface="Georgia"/>
                <a:sym typeface="Georgia"/>
              </a:rPr>
              <a:t>inference</a:t>
            </a:r>
            <a:r>
              <a:rPr lang="en-US" sz="2400">
                <a:solidFill>
                  <a:srgbClr val="2D3748"/>
                </a:solidFill>
                <a:highlight>
                  <a:srgbClr val="FFFFFF"/>
                </a:highlight>
                <a:latin typeface="Georgia"/>
                <a:ea typeface="Georgia"/>
                <a:cs typeface="Georgia"/>
                <a:sym typeface="Georgia"/>
              </a:rPr>
              <a:t>: normality supports the usual </a:t>
            </a:r>
            <a:r>
              <a:rPr b="1" lang="en-US" sz="2400">
                <a:solidFill>
                  <a:srgbClr val="2D3748"/>
                </a:solidFill>
                <a:highlight>
                  <a:srgbClr val="FFFFFF"/>
                </a:highlight>
                <a:latin typeface="Georgia"/>
                <a:ea typeface="Georgia"/>
                <a:cs typeface="Georgia"/>
                <a:sym typeface="Georgia"/>
              </a:rPr>
              <a:t>t-tests</a:t>
            </a:r>
            <a:r>
              <a:rPr lang="en-US" sz="2400">
                <a:solidFill>
                  <a:srgbClr val="2D3748"/>
                </a:solidFill>
                <a:highlight>
                  <a:srgbClr val="FFFFFF"/>
                </a:highlight>
                <a:latin typeface="Georgia"/>
                <a:ea typeface="Georgia"/>
                <a:cs typeface="Georgia"/>
                <a:sym typeface="Georgia"/>
              </a:rPr>
              <a:t>, </a:t>
            </a:r>
            <a:r>
              <a:rPr b="1" lang="en-US" sz="2400">
                <a:solidFill>
                  <a:srgbClr val="2D3748"/>
                </a:solidFill>
                <a:highlight>
                  <a:srgbClr val="FFFFFF"/>
                </a:highlight>
                <a:latin typeface="Georgia"/>
                <a:ea typeface="Georgia"/>
                <a:cs typeface="Georgia"/>
                <a:sym typeface="Georgia"/>
              </a:rPr>
              <a:t>F-tests</a:t>
            </a:r>
            <a:r>
              <a:rPr lang="en-US" sz="2400">
                <a:solidFill>
                  <a:srgbClr val="2D3748"/>
                </a:solidFill>
                <a:highlight>
                  <a:srgbClr val="FFFFFF"/>
                </a:highlight>
                <a:latin typeface="Georgia"/>
                <a:ea typeface="Georgia"/>
                <a:cs typeface="Georgia"/>
                <a:sym typeface="Georgia"/>
              </a:rPr>
              <a:t>, </a:t>
            </a:r>
            <a:r>
              <a:rPr b="1" lang="en-US" sz="2400">
                <a:solidFill>
                  <a:srgbClr val="2D3748"/>
                </a:solidFill>
                <a:highlight>
                  <a:srgbClr val="FFFFFF"/>
                </a:highlight>
                <a:latin typeface="Georgia"/>
                <a:ea typeface="Georgia"/>
                <a:cs typeface="Georgia"/>
                <a:sym typeface="Georgia"/>
              </a:rPr>
              <a:t>confidence intervals</a:t>
            </a:r>
            <a:r>
              <a:rPr lang="en-US" sz="2400">
                <a:solidFill>
                  <a:srgbClr val="2D3748"/>
                </a:solidFill>
                <a:highlight>
                  <a:srgbClr val="FFFFFF"/>
                </a:highlight>
                <a:latin typeface="Georgia"/>
                <a:ea typeface="Georgia"/>
                <a:cs typeface="Georgia"/>
                <a:sym typeface="Georgia"/>
              </a:rPr>
              <a:t>, and </a:t>
            </a:r>
            <a:r>
              <a:rPr b="1" lang="en-US" sz="2400">
                <a:solidFill>
                  <a:srgbClr val="2D3748"/>
                </a:solidFill>
                <a:highlight>
                  <a:srgbClr val="FFFFFF"/>
                </a:highlight>
                <a:latin typeface="Georgia"/>
                <a:ea typeface="Georgia"/>
                <a:cs typeface="Georgia"/>
                <a:sym typeface="Georgia"/>
              </a:rPr>
              <a:t>p-values</a:t>
            </a:r>
            <a:r>
              <a:rPr lang="en-US" sz="2400">
                <a:solidFill>
                  <a:srgbClr val="2D3748"/>
                </a:solidFill>
                <a:highlight>
                  <a:srgbClr val="FFFFFF"/>
                </a:highlight>
                <a:latin typeface="Georgia"/>
                <a:ea typeface="Georgia"/>
                <a:cs typeface="Georgia"/>
                <a:sym typeface="Georgia"/>
              </a:rPr>
              <a:t> for coefficients—especially in smaller samples. If residuals are strongly non-normal (heavy tails, skew), those uncertainty estimates can be misleading.</a:t>
            </a:r>
            <a:r>
              <a:rPr lang="en-US" sz="2400">
                <a:solidFill>
                  <a:schemeClr val="dk1"/>
                </a:solidFill>
              </a:rPr>
              <a:t> </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2400" u="sng">
                <a:solidFill>
                  <a:srgbClr val="2D3748"/>
                </a:solidFill>
                <a:latin typeface="Georgia"/>
                <a:ea typeface="Georgia"/>
                <a:cs typeface="Georgia"/>
                <a:sym typeface="Georgia"/>
              </a:rPr>
              <a:t>How you check it in practice</a:t>
            </a:r>
            <a:endParaRPr b="1" sz="2400" u="sng">
              <a:solidFill>
                <a:srgbClr val="2D3748"/>
              </a:solidFill>
              <a:latin typeface="Georgia"/>
              <a:ea typeface="Georgia"/>
              <a:cs typeface="Georgia"/>
              <a:sym typeface="Georgia"/>
            </a:endParaRPr>
          </a:p>
          <a:p>
            <a:pPr indent="-381000" lvl="0" marL="457200" rtl="0" algn="l">
              <a:lnSpc>
                <a:spcPct val="115000"/>
              </a:lnSpc>
              <a:spcBef>
                <a:spcPts val="1000"/>
              </a:spcBef>
              <a:spcAft>
                <a:spcPts val="0"/>
              </a:spcAft>
              <a:buClr>
                <a:srgbClr val="2D3748"/>
              </a:buClr>
              <a:buSzPts val="2400"/>
              <a:buFont typeface="Georgia"/>
              <a:buChar char="●"/>
            </a:pPr>
            <a:r>
              <a:rPr b="1" lang="en-US" sz="2400">
                <a:solidFill>
                  <a:srgbClr val="2D3748"/>
                </a:solidFill>
                <a:latin typeface="Georgia"/>
                <a:ea typeface="Georgia"/>
                <a:cs typeface="Georgia"/>
                <a:sym typeface="Georgia"/>
              </a:rPr>
              <a:t>Q–Q plot</a:t>
            </a:r>
            <a:r>
              <a:rPr lang="en-US" sz="2400">
                <a:solidFill>
                  <a:srgbClr val="2D3748"/>
                </a:solidFill>
                <a:latin typeface="Georgia"/>
                <a:ea typeface="Georgia"/>
                <a:cs typeface="Georgia"/>
                <a:sym typeface="Georgia"/>
              </a:rPr>
              <a:t>: points close to a straight line suggest approximate normality.</a:t>
            </a:r>
            <a:endParaRPr sz="2400">
              <a:solidFill>
                <a:srgbClr val="2D3748"/>
              </a:solidFill>
              <a:latin typeface="Georgia"/>
              <a:ea typeface="Georgia"/>
              <a:cs typeface="Georgia"/>
              <a:sym typeface="Georgia"/>
            </a:endParaRPr>
          </a:p>
          <a:p>
            <a:pPr indent="-381000" lvl="0" marL="457200" rtl="0" algn="l">
              <a:lnSpc>
                <a:spcPct val="115000"/>
              </a:lnSpc>
              <a:spcBef>
                <a:spcPts val="0"/>
              </a:spcBef>
              <a:spcAft>
                <a:spcPts val="0"/>
              </a:spcAft>
              <a:buClr>
                <a:srgbClr val="2D3748"/>
              </a:buClr>
              <a:buSzPts val="2400"/>
              <a:buFont typeface="Georgia"/>
              <a:buChar char="●"/>
            </a:pPr>
            <a:r>
              <a:rPr b="1" lang="en-US" sz="2400">
                <a:solidFill>
                  <a:srgbClr val="2D3748"/>
                </a:solidFill>
                <a:latin typeface="Georgia"/>
                <a:ea typeface="Georgia"/>
                <a:cs typeface="Georgia"/>
                <a:sym typeface="Georgia"/>
              </a:rPr>
              <a:t>Histogram</a:t>
            </a:r>
            <a:r>
              <a:rPr lang="en-US" sz="2400">
                <a:solidFill>
                  <a:srgbClr val="2D3748"/>
                </a:solidFill>
                <a:latin typeface="Georgia"/>
                <a:ea typeface="Georgia"/>
                <a:cs typeface="Georgia"/>
                <a:sym typeface="Georgia"/>
              </a:rPr>
              <a:t> of residuals: a rough bell shape is a good sign.</a:t>
            </a:r>
            <a:endParaRPr sz="2400">
              <a:solidFill>
                <a:srgbClr val="2D3748"/>
              </a:solidFill>
              <a:latin typeface="Georgia"/>
              <a:ea typeface="Georgia"/>
              <a:cs typeface="Georgia"/>
              <a:sym typeface="Georgia"/>
            </a:endParaRPr>
          </a:p>
          <a:p>
            <a:pPr indent="-381000" lvl="0" marL="457200" rtl="0" algn="l">
              <a:lnSpc>
                <a:spcPct val="115000"/>
              </a:lnSpc>
              <a:spcBef>
                <a:spcPts val="0"/>
              </a:spcBef>
              <a:spcAft>
                <a:spcPts val="0"/>
              </a:spcAft>
              <a:buClr>
                <a:srgbClr val="2D3748"/>
              </a:buClr>
              <a:buSzPts val="2400"/>
              <a:buFont typeface="Georgia"/>
              <a:buChar char="●"/>
            </a:pPr>
            <a:r>
              <a:rPr lang="en-US" sz="2400">
                <a:solidFill>
                  <a:srgbClr val="2D3748"/>
                </a:solidFill>
                <a:latin typeface="Georgia"/>
                <a:ea typeface="Georgia"/>
                <a:cs typeface="Georgia"/>
                <a:sym typeface="Georgia"/>
              </a:rPr>
              <a:t>Formal tests like </a:t>
            </a:r>
            <a:r>
              <a:rPr b="1" lang="en-US" sz="2400">
                <a:solidFill>
                  <a:srgbClr val="2D3748"/>
                </a:solidFill>
                <a:latin typeface="Georgia"/>
                <a:ea typeface="Georgia"/>
                <a:cs typeface="Georgia"/>
                <a:sym typeface="Georgia"/>
              </a:rPr>
              <a:t>Shapiro–Wilk</a:t>
            </a:r>
            <a:r>
              <a:rPr lang="en-US" sz="2400">
                <a:solidFill>
                  <a:srgbClr val="2D3748"/>
                </a:solidFill>
                <a:latin typeface="Georgia"/>
                <a:ea typeface="Georgia"/>
                <a:cs typeface="Georgia"/>
                <a:sym typeface="Georgia"/>
              </a:rPr>
              <a:t> (useful, but overreact with large datasets).</a:t>
            </a:r>
            <a:endParaRPr b="1" sz="2400">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h2205aeae9b1c56da_0_41"/>
          <p:cNvSpPr txBox="1"/>
          <p:nvPr/>
        </p:nvSpPr>
        <p:spPr>
          <a:xfrm>
            <a:off x="0" y="-95515"/>
            <a:ext cx="11824800" cy="705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chemeClr val="dk1"/>
                </a:solidFill>
              </a:rPr>
              <a:t>For Non-Linear Model:</a:t>
            </a:r>
            <a:endParaRPr b="1" sz="2400">
              <a:solidFill>
                <a:schemeClr val="dk1"/>
              </a:solidFill>
            </a:endParaRPr>
          </a:p>
          <a:p>
            <a:pPr indent="0" lvl="0" marL="0" rtl="0" algn="l">
              <a:spcBef>
                <a:spcPts val="0"/>
              </a:spcBef>
              <a:spcAft>
                <a:spcPts val="0"/>
              </a:spcAft>
              <a:buNone/>
            </a:pPr>
            <a:r>
              <a:rPr lang="en-US" sz="2400">
                <a:solidFill>
                  <a:schemeClr val="dk1"/>
                </a:solidFill>
              </a:rPr>
              <a:t>         </a:t>
            </a:r>
            <a:r>
              <a:rPr lang="en-US" sz="2400">
                <a:solidFill>
                  <a:schemeClr val="dk1"/>
                </a:solidFill>
              </a:rPr>
              <a:t>Normality of residuals in non-linear models is not strictly required for estimating parameters, but it is important for valid statistical inference (such as confidence intervals and p-values).</a:t>
            </a:r>
            <a:endParaRPr sz="2400">
              <a:solidFill>
                <a:schemeClr val="dk1"/>
              </a:solidFill>
            </a:endParaRPr>
          </a:p>
          <a:p>
            <a:pPr indent="0" lvl="0" marL="0" rtl="0" algn="l">
              <a:lnSpc>
                <a:spcPct val="115000"/>
              </a:lnSpc>
              <a:spcBef>
                <a:spcPts val="1800"/>
              </a:spcBef>
              <a:spcAft>
                <a:spcPts val="0"/>
              </a:spcAft>
              <a:buClr>
                <a:schemeClr val="dk1"/>
              </a:buClr>
              <a:buSzPts val="1100"/>
              <a:buFont typeface="Arial"/>
              <a:buNone/>
            </a:pPr>
            <a:r>
              <a:rPr lang="en-US" sz="2400">
                <a:solidFill>
                  <a:schemeClr val="dk1"/>
                </a:solidFill>
              </a:rPr>
              <a:t>Why It Matters:</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Parameter Estimation:</a:t>
            </a:r>
            <a:r>
              <a:rPr lang="en-US" sz="2400">
                <a:solidFill>
                  <a:schemeClr val="dk1"/>
                </a:solidFill>
              </a:rPr>
              <a:t> Just like in linear regression, you do not need normal residuals to find the best-fit curve for a non-linear model using methods like Ordinary Least Squares (OLS) or non-linear least squares.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Hypothesis Testing &amp; Inference:</a:t>
            </a:r>
            <a:r>
              <a:rPr lang="en-US" sz="2400">
                <a:solidFill>
                  <a:schemeClr val="dk1"/>
                </a:solidFill>
              </a:rPr>
              <a:t> P-values, t-statistics, and confidence intervals rely on the assumption that the error terms (and thus the residuals) follow a normal distribution, especially in small sample sizes.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Large Samples:</a:t>
            </a:r>
            <a:r>
              <a:rPr lang="en-US" sz="2400">
                <a:solidFill>
                  <a:schemeClr val="dk1"/>
                </a:solidFill>
              </a:rPr>
              <a:t> If sample size is large, the Central Limit Theorem helps ensure that confidence intervals and tests remain reasonably valid even if residuals depart from normality.</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Predictions:</a:t>
            </a:r>
            <a:r>
              <a:rPr lang="en-US" sz="2400">
                <a:solidFill>
                  <a:schemeClr val="dk1"/>
                </a:solidFill>
              </a:rPr>
              <a:t> Severe non-normality or skewed error distributions can make prediction intervals unreliable or inaccurate.</a:t>
            </a:r>
            <a:endParaRPr sz="24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h62b2205ea301b09f_0_92"/>
          <p:cNvSpPr txBox="1"/>
          <p:nvPr/>
        </p:nvSpPr>
        <p:spPr>
          <a:xfrm>
            <a:off x="401175" y="821435"/>
            <a:ext cx="10946100" cy="5031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lang="en-US" sz="2400">
                <a:solidFill>
                  <a:schemeClr val="dk1"/>
                </a:solidFill>
              </a:rPr>
              <a:t>How to Check Residuals in Non-Linear Models</a:t>
            </a:r>
            <a:endParaRPr sz="2400">
              <a:solidFill>
                <a:schemeClr val="dk1"/>
              </a:solidFill>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rPr>
              <a:t>Q-Q Plots &amp; Histograms:</a:t>
            </a:r>
            <a:r>
              <a:rPr lang="en-US" sz="2400">
                <a:solidFill>
                  <a:schemeClr val="dk1"/>
                </a:solidFill>
              </a:rPr>
              <a:t> Plot th</a:t>
            </a:r>
            <a:r>
              <a:rPr lang="en-US" sz="2400">
                <a:solidFill>
                  <a:schemeClr val="dk1"/>
                </a:solidFill>
              </a:rPr>
              <a:t>e</a:t>
            </a:r>
            <a:r>
              <a:rPr lang="en-US" sz="2400">
                <a:solidFill>
                  <a:schemeClr val="dk1"/>
                </a:solidFill>
                <a:uFill>
                  <a:noFill/>
                </a:uFill>
                <a:hlinkClick r:id="rId3">
                  <a:extLst>
                    <a:ext uri="{A12FA001-AC4F-418D-AE19-62706E023703}">
                      <ahyp:hlinkClr val="tx"/>
                    </a:ext>
                  </a:extLst>
                </a:hlinkClick>
              </a:rPr>
              <a:t> observed residuals</a:t>
            </a:r>
            <a:r>
              <a:rPr lang="en-US" sz="2400">
                <a:solidFill>
                  <a:schemeClr val="dk1"/>
                </a:solidFill>
              </a:rPr>
              <a:t> to see if they follow a roughly symmetric, bell-shaped pattern or a straight lin</a:t>
            </a:r>
            <a:r>
              <a:rPr lang="en-US" sz="2400">
                <a:solidFill>
                  <a:schemeClr val="dk1"/>
                </a:solidFill>
              </a:rPr>
              <a:t>e.</a:t>
            </a:r>
            <a:endParaRPr sz="2400">
              <a:solidFill>
                <a:schemeClr val="dk1"/>
              </a:solidFill>
            </a:endParaRPr>
          </a:p>
          <a:p>
            <a:pPr indent="0" lvl="0" marL="457200" rtl="0" algn="l">
              <a:lnSpc>
                <a:spcPct val="115000"/>
              </a:lnSpc>
              <a:spcBef>
                <a:spcPts val="2100"/>
              </a:spcBef>
              <a:spcAft>
                <a:spcPts val="0"/>
              </a:spcAft>
              <a:buNone/>
            </a:pPr>
            <a:r>
              <a:rPr lang="en-US" sz="2400">
                <a:solidFill>
                  <a:schemeClr val="dk1"/>
                </a:solidFill>
              </a:rPr>
              <a:t>A Q-Q plot is particularly useful for assessing departures from normality. </a:t>
            </a:r>
            <a:endParaRPr sz="2400">
              <a:solidFill>
                <a:schemeClr val="dk1"/>
              </a:solidFill>
            </a:endParaRPr>
          </a:p>
          <a:p>
            <a:pPr indent="-381000" lvl="0" marL="457200" rtl="0" algn="l">
              <a:lnSpc>
                <a:spcPct val="115000"/>
              </a:lnSpc>
              <a:spcBef>
                <a:spcPts val="2100"/>
              </a:spcBef>
              <a:spcAft>
                <a:spcPts val="0"/>
              </a:spcAft>
              <a:buClr>
                <a:schemeClr val="dk1"/>
              </a:buClr>
              <a:buSzPts val="2400"/>
              <a:buChar char="●"/>
            </a:pPr>
            <a:r>
              <a:rPr b="1" lang="en-US" sz="2400">
                <a:solidFill>
                  <a:schemeClr val="dk1"/>
                </a:solidFill>
              </a:rPr>
              <a:t>Normality Tests:</a:t>
            </a:r>
            <a:r>
              <a:rPr lang="en-US" sz="2400">
                <a:solidFill>
                  <a:schemeClr val="dk1"/>
                </a:solidFill>
              </a:rPr>
              <a:t> Software package</a:t>
            </a:r>
            <a:r>
              <a:rPr lang="en-US" sz="2400">
                <a:solidFill>
                  <a:schemeClr val="dk1"/>
                </a:solidFill>
              </a:rPr>
              <a:t>s (like</a:t>
            </a:r>
            <a:r>
              <a:rPr lang="en-US" sz="2400">
                <a:solidFill>
                  <a:schemeClr val="dk1"/>
                </a:solidFill>
                <a:uFill>
                  <a:noFill/>
                </a:uFill>
                <a:hlinkClick r:id="rId4">
                  <a:extLst>
                    <a:ext uri="{A12FA001-AC4F-418D-AE19-62706E023703}">
                      <ahyp:hlinkClr val="tx"/>
                    </a:ext>
                  </a:extLst>
                </a:hlinkClick>
              </a:rPr>
              <a:t> GraphPad Prism</a:t>
            </a:r>
            <a:r>
              <a:rPr lang="en-US" sz="2400">
                <a:solidFill>
                  <a:schemeClr val="dk1"/>
                </a:solidFill>
              </a:rPr>
              <a:t>) </a:t>
            </a:r>
            <a:r>
              <a:rPr lang="en-US" sz="2400">
                <a:solidFill>
                  <a:schemeClr val="dk1"/>
                </a:solidFill>
              </a:rPr>
              <a:t>allow you to run tests like Shapiro-Wilk or Kolmogorov-Smirnov directly on the regression residuals rather than the raw data.</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rPr>
              <a:t>Residuals vs. Fits:</a:t>
            </a:r>
            <a:r>
              <a:rPr lang="en-US" sz="2400">
                <a:solidFill>
                  <a:schemeClr val="dk1"/>
                </a:solidFill>
              </a:rPr>
              <a:t> Always check for homoscedasticity (constant variance) and non-linear patterns using residual scatter plots, as violations here are often more damaging than minor non-normality. </a:t>
            </a:r>
            <a:endParaRPr sz="24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h62b2205ea301b09f_0_12"/>
          <p:cNvSpPr txBox="1"/>
          <p:nvPr/>
        </p:nvSpPr>
        <p:spPr>
          <a:xfrm>
            <a:off x="0" y="19103"/>
            <a:ext cx="11977500" cy="645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400">
                <a:solidFill>
                  <a:schemeClr val="dk1"/>
                </a:solidFill>
              </a:rPr>
              <a:t>What is Multicollinearity?</a:t>
            </a:r>
            <a:endParaRPr b="1"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Multicollinearity occurs when two or more independent variables in a regression model are highly related to each other, which destabilizes parameter estimation, inflates standard errors, and makes individual </a:t>
            </a:r>
            <a:r>
              <a:rPr lang="en-US" sz="2400">
                <a:solidFill>
                  <a:schemeClr val="dk1"/>
                </a:solidFill>
              </a:rPr>
              <a:t>coefficient interpretation difficult.</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The problem is that the model then has difficulty separating the individual contribution of each predictor. </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Example: Suppose we want to predict: House Prices</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using:</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X1 = House area in square feet</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X2 = Number of bedrooms</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X3 = Number of rooms</a:t>
            </a:r>
            <a:endParaRPr sz="2400">
              <a:solidFill>
                <a:schemeClr val="dk1"/>
              </a:solidFill>
            </a:endParaRPr>
          </a:p>
          <a:p>
            <a:pPr indent="0" lvl="0" marL="381000" marR="381000" rtl="0" algn="l">
              <a:lnSpc>
                <a:spcPct val="115000"/>
              </a:lnSpc>
              <a:spcBef>
                <a:spcPts val="1200"/>
              </a:spcBef>
              <a:spcAft>
                <a:spcPts val="1200"/>
              </a:spcAft>
              <a:buNone/>
            </a:pPr>
            <a:r>
              <a:rPr lang="en-US" sz="2400">
                <a:solidFill>
                  <a:schemeClr val="dk1"/>
                </a:solidFill>
              </a:rPr>
              <a:t>X4 = Number of bathrooms.</a:t>
            </a:r>
            <a:endParaRPr b="1" sz="2400">
              <a:solidFill>
                <a:schemeClr val="dk1"/>
              </a:solidFill>
            </a:endParaRPr>
          </a:p>
        </p:txBody>
      </p:sp>
      <p:sp>
        <p:nvSpPr>
          <p:cNvPr id="214" name="Google Shape;214;h62b2205ea301b09f_0_12"/>
          <p:cNvSpPr txBox="1"/>
          <p:nvPr/>
        </p:nvSpPr>
        <p:spPr>
          <a:xfrm>
            <a:off x="6647875" y="4296600"/>
            <a:ext cx="4986000" cy="198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381000" marR="381000" rtl="0" algn="l">
              <a:lnSpc>
                <a:spcPct val="115000"/>
              </a:lnSpc>
              <a:spcBef>
                <a:spcPts val="1200"/>
              </a:spcBef>
              <a:spcAft>
                <a:spcPts val="0"/>
              </a:spcAft>
              <a:buNone/>
            </a:pPr>
            <a:r>
              <a:rPr lang="en-US" sz="2400">
                <a:solidFill>
                  <a:schemeClr val="dk1"/>
                </a:solidFill>
              </a:rPr>
              <a:t>2. </a:t>
            </a:r>
            <a:r>
              <a:rPr lang="en-US" sz="2400">
                <a:solidFill>
                  <a:schemeClr val="dk1"/>
                </a:solidFill>
              </a:rPr>
              <a:t>Age,Experience, YearTorRetirement</a:t>
            </a:r>
            <a:endParaRPr sz="2400">
              <a:solidFill>
                <a:schemeClr val="dk1"/>
              </a:solidFill>
            </a:endParaRPr>
          </a:p>
          <a:p>
            <a:pPr indent="0" lvl="0" marL="381000" marR="381000" rtl="0" algn="l">
              <a:lnSpc>
                <a:spcPct val="115000"/>
              </a:lnSpc>
              <a:spcBef>
                <a:spcPts val="1200"/>
              </a:spcBef>
              <a:spcAft>
                <a:spcPts val="1200"/>
              </a:spcAft>
              <a:buNone/>
            </a:pPr>
            <a:r>
              <a:rPr lang="en-US" sz="2400">
                <a:solidFill>
                  <a:schemeClr val="dk1"/>
                </a:solidFill>
              </a:rPr>
              <a:t>3. Income, expenditure, Standard of leaving</a:t>
            </a:r>
            <a:endParaRPr b="1" sz="24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h62b2205ea301b09f_0_15"/>
          <p:cNvSpPr txBox="1"/>
          <p:nvPr/>
        </p:nvSpPr>
        <p:spPr>
          <a:xfrm>
            <a:off x="416925" y="300900"/>
            <a:ext cx="11496000" cy="655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2400"/>
              <a:t>Our model is:</a:t>
            </a:r>
            <a:endParaRPr sz="2400"/>
          </a:p>
          <a:p>
            <a:pPr indent="0" lvl="0" marL="0" rtl="0" algn="l">
              <a:spcBef>
                <a:spcPts val="1200"/>
              </a:spcBef>
              <a:spcAft>
                <a:spcPts val="0"/>
              </a:spcAft>
              <a:buNone/>
            </a:pPr>
            <a:r>
              <a:rPr lang="en-US" sz="2400"/>
              <a:t>Price=β0​+β1​Area+β2​Bedrooms+β3​Rooms+β4​Bathrooms+ϵ</a:t>
            </a:r>
            <a:endParaRPr sz="2400"/>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Notice: As </a:t>
            </a:r>
            <a:r>
              <a:rPr b="1" lang="en-US" sz="2400">
                <a:solidFill>
                  <a:schemeClr val="dk1"/>
                </a:solidFill>
              </a:rPr>
              <a:t>Area increases</a:t>
            </a:r>
            <a:r>
              <a:rPr lang="en-US" sz="2400">
                <a:solidFill>
                  <a:schemeClr val="dk1"/>
                </a:solidFill>
              </a:rPr>
              <a:t>, the number of </a:t>
            </a:r>
            <a:r>
              <a:rPr b="1" lang="en-US" sz="2400">
                <a:solidFill>
                  <a:schemeClr val="dk1"/>
                </a:solidFill>
              </a:rPr>
              <a:t>Bedrooms and Rooms also increases</a:t>
            </a:r>
            <a:r>
              <a:rPr lang="en-US" sz="2400">
                <a:solidFill>
                  <a:schemeClr val="dk1"/>
                </a:solidFill>
              </a:rPr>
              <a:t>. Therefore, these predictors contain overlapping information.</a:t>
            </a:r>
            <a:endParaRPr sz="2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2400">
                <a:solidFill>
                  <a:schemeClr val="dk1"/>
                </a:solidFill>
              </a:rPr>
              <a:t>For example: </a:t>
            </a:r>
            <a:r>
              <a:rPr b="1" lang="en-US" sz="2400">
                <a:solidFill>
                  <a:schemeClr val="dk1"/>
                </a:solidFill>
              </a:rPr>
              <a:t>Area ↔ Bedrooms, Area ↔ Rooms, Bedrooms ↔ Rooms</a:t>
            </a:r>
            <a:endParaRPr b="1"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This creates </a:t>
            </a:r>
            <a:r>
              <a:rPr b="1" lang="en-US" sz="2400">
                <a:solidFill>
                  <a:schemeClr val="dk1"/>
                </a:solidFill>
              </a:rPr>
              <a:t>multicollinearity</a:t>
            </a:r>
            <a:r>
              <a:rPr lang="en-US" sz="2400">
                <a:solidFill>
                  <a:schemeClr val="dk1"/>
                </a:solidFill>
              </a:rPr>
              <a:t>.</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"If bedrooms and rooms are important </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for house prices, why are their </a:t>
            </a:r>
            <a:endParaRPr sz="2400">
              <a:solidFill>
                <a:schemeClr val="dk1"/>
              </a:solidFill>
            </a:endParaRPr>
          </a:p>
          <a:p>
            <a:pPr indent="0" lvl="0" marL="381000" marR="381000" rtl="0" algn="l">
              <a:lnSpc>
                <a:spcPct val="115000"/>
              </a:lnSpc>
              <a:spcBef>
                <a:spcPts val="1200"/>
              </a:spcBef>
              <a:spcAft>
                <a:spcPts val="0"/>
              </a:spcAft>
              <a:buNone/>
            </a:pPr>
            <a:r>
              <a:rPr lang="en-US" sz="2400">
                <a:solidFill>
                  <a:schemeClr val="dk1"/>
                </a:solidFill>
              </a:rPr>
              <a:t>p-values so high?". The answer can be </a:t>
            </a:r>
            <a:r>
              <a:rPr b="1" lang="en-US" sz="2400">
                <a:solidFill>
                  <a:schemeClr val="dk1"/>
                </a:solidFill>
              </a:rPr>
              <a:t>multicollinearity</a:t>
            </a:r>
            <a:r>
              <a:rPr lang="en-US" sz="2400">
                <a:solidFill>
                  <a:schemeClr val="dk1"/>
                </a:solidFill>
              </a:rPr>
              <a:t>.</a:t>
            </a:r>
            <a:endParaRPr sz="2400">
              <a:solidFill>
                <a:schemeClr val="dk1"/>
              </a:solidFill>
            </a:endParaRPr>
          </a:p>
          <a:p>
            <a:pPr indent="0" lvl="0" marL="0" rtl="0" algn="l">
              <a:lnSpc>
                <a:spcPct val="115000"/>
              </a:lnSpc>
              <a:spcBef>
                <a:spcPts val="1200"/>
              </a:spcBef>
              <a:spcAft>
                <a:spcPts val="0"/>
              </a:spcAft>
              <a:buNone/>
            </a:pPr>
            <a:r>
              <a:rPr lang="en-US" sz="2400">
                <a:solidFill>
                  <a:schemeClr val="dk1"/>
                </a:solidFill>
              </a:rPr>
              <a:t>The model has difficulty determining: "How much of the price effect should be attributed to Area, how much to Bedrooms, and how much to Rooms?"</a:t>
            </a:r>
            <a:endParaRPr sz="2400">
              <a:solidFill>
                <a:schemeClr val="dk1"/>
              </a:solidFill>
            </a:endParaRPr>
          </a:p>
          <a:p>
            <a:pPr indent="0" lvl="0" marL="0" rtl="0" algn="l">
              <a:lnSpc>
                <a:spcPct val="115000"/>
              </a:lnSpc>
              <a:spcBef>
                <a:spcPts val="1200"/>
              </a:spcBef>
              <a:spcAft>
                <a:spcPts val="1200"/>
              </a:spcAft>
              <a:buNone/>
            </a:pPr>
            <a:r>
              <a:rPr lang="en-US" sz="2400">
                <a:solidFill>
                  <a:schemeClr val="dk1"/>
                </a:solidFill>
              </a:rPr>
              <a:t>because these variables are strongly related.</a:t>
            </a:r>
            <a:endParaRPr sz="2400"/>
          </a:p>
        </p:txBody>
      </p:sp>
      <p:graphicFrame>
        <p:nvGraphicFramePr>
          <p:cNvPr id="220" name="Google Shape;220;h62b2205ea301b09f_0_15"/>
          <p:cNvGraphicFramePr/>
          <p:nvPr/>
        </p:nvGraphicFramePr>
        <p:xfrm>
          <a:off x="6291975" y="3067450"/>
          <a:ext cx="3000000" cy="3000000"/>
        </p:xfrm>
        <a:graphic>
          <a:graphicData uri="http://schemas.openxmlformats.org/drawingml/2006/table">
            <a:tbl>
              <a:tblPr>
                <a:noFill/>
                <a:tableStyleId>{6D6FB90C-68D5-4DC2-8CC6-06CA0C885E98}</a:tableStyleId>
              </a:tblPr>
              <a:tblGrid>
                <a:gridCol w="1602550"/>
                <a:gridCol w="1814625"/>
                <a:gridCol w="1249050"/>
              </a:tblGrid>
              <a:tr h="442325">
                <a:tc>
                  <a:txBody>
                    <a:bodyPr/>
                    <a:lstStyle/>
                    <a:p>
                      <a:pPr indent="0" lvl="0" marL="0" rtl="0" algn="ctr">
                        <a:lnSpc>
                          <a:spcPct val="115000"/>
                        </a:lnSpc>
                        <a:spcBef>
                          <a:spcPts val="0"/>
                        </a:spcBef>
                        <a:spcAft>
                          <a:spcPts val="0"/>
                        </a:spcAft>
                        <a:buNone/>
                      </a:pPr>
                      <a:r>
                        <a:rPr b="1" lang="en-US" sz="1100"/>
                        <a:t>Predictor</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Coefficient</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100"/>
                        <a:t>p-value</a:t>
                      </a:r>
                      <a:endParaRPr b="1" sz="11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4900">
                <a:tc>
                  <a:txBody>
                    <a:bodyPr/>
                    <a:lstStyle/>
                    <a:p>
                      <a:pPr indent="0" lvl="0" marL="0" rtl="0" algn="ctr">
                        <a:spcBef>
                          <a:spcPts val="0"/>
                        </a:spcBef>
                        <a:spcAft>
                          <a:spcPts val="0"/>
                        </a:spcAft>
                        <a:buNone/>
                      </a:pPr>
                      <a:r>
                        <a:rPr lang="en-US"/>
                        <a:t>Area</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₹5,000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0.001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4900">
                <a:tc>
                  <a:txBody>
                    <a:bodyPr/>
                    <a:lstStyle/>
                    <a:p>
                      <a:pPr indent="0" lvl="0" marL="0" rtl="0" algn="ctr">
                        <a:spcBef>
                          <a:spcPts val="0"/>
                        </a:spcBef>
                        <a:spcAft>
                          <a:spcPts val="0"/>
                        </a:spcAft>
                        <a:buNone/>
                      </a:pPr>
                      <a:r>
                        <a:rPr lang="en-US"/>
                        <a:t>Bedrooms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₹20,000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0.62</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4900">
                <a:tc>
                  <a:txBody>
                    <a:bodyPr/>
                    <a:lstStyle/>
                    <a:p>
                      <a:pPr indent="0" lvl="0" marL="0" rtl="0" algn="ctr">
                        <a:spcBef>
                          <a:spcPts val="0"/>
                        </a:spcBef>
                        <a:spcAft>
                          <a:spcPts val="0"/>
                        </a:spcAft>
                        <a:buNone/>
                      </a:pPr>
                      <a:r>
                        <a:rPr lang="en-US"/>
                        <a:t>Rooms</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₹15,000</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t>0.71</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h2205aeae9b1c56da_0_70"/>
          <p:cNvSpPr txBox="1"/>
          <p:nvPr/>
        </p:nvSpPr>
        <p:spPr>
          <a:xfrm>
            <a:off x="630400" y="458475"/>
            <a:ext cx="10869600" cy="587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600">
                <a:solidFill>
                  <a:schemeClr val="dk1"/>
                </a:solidFill>
                <a:latin typeface="Times New Roman"/>
                <a:ea typeface="Times New Roman"/>
                <a:cs typeface="Times New Roman"/>
                <a:sym typeface="Times New Roman"/>
              </a:rPr>
              <a:t>Impact on Predictive Analysis: </a:t>
            </a:r>
            <a:r>
              <a:rPr lang="en-US" sz="2600">
                <a:solidFill>
                  <a:schemeClr val="dk1"/>
                </a:solidFill>
                <a:latin typeface="Times New Roman"/>
                <a:ea typeface="Times New Roman"/>
                <a:cs typeface="Times New Roman"/>
                <a:sym typeface="Times New Roman"/>
              </a:rPr>
              <a:t>Multicollinearity occurs when predictors provide overlapping information, making it difficult for the regression model to estimate the individual contribution of each predictor accurately. </a:t>
            </a:r>
            <a:endParaRPr sz="26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Unstable Estimates:</a:t>
            </a:r>
            <a:r>
              <a:rPr lang="en-US" sz="2400">
                <a:solidFill>
                  <a:schemeClr val="dk1"/>
                </a:solidFill>
                <a:latin typeface="Times New Roman"/>
                <a:ea typeface="Times New Roman"/>
                <a:cs typeface="Times New Roman"/>
                <a:sym typeface="Times New Roman"/>
              </a:rPr>
              <a:t> Small changes in the data or starting values lead to wildly fluctuating nonlinear coefficients.</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Misleading Inference:</a:t>
            </a:r>
            <a:r>
              <a:rPr lang="en-US" sz="2400">
                <a:solidFill>
                  <a:schemeClr val="dk1"/>
                </a:solidFill>
                <a:latin typeface="Times New Roman"/>
                <a:ea typeface="Times New Roman"/>
                <a:cs typeface="Times New Roman"/>
                <a:sym typeface="Times New Roman"/>
              </a:rPr>
              <a:t> P-values can appear non-significant even when a </a:t>
            </a:r>
            <a:r>
              <a:rPr lang="en-US" sz="2400">
                <a:solidFill>
                  <a:schemeClr val="dk1"/>
                </a:solidFill>
                <a:latin typeface="Times New Roman"/>
                <a:ea typeface="Times New Roman"/>
                <a:cs typeface="Times New Roman"/>
                <a:sym typeface="Times New Roman"/>
              </a:rPr>
              <a:t>strong relationship exists between the predictors and the response. If predictors are highly correlated, their standard errors can become large, making the individual t-statistics smaller and p-values larger. The model cannot precisely separate its effect from the effects of correlated predictors.</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Parameter Estimation: </a:t>
            </a:r>
            <a:r>
              <a:rPr lang="en-US" sz="2400">
                <a:solidFill>
                  <a:schemeClr val="dk1"/>
                </a:solidFill>
                <a:latin typeface="Times New Roman"/>
                <a:ea typeface="Times New Roman"/>
                <a:cs typeface="Times New Roman"/>
                <a:sym typeface="Times New Roman"/>
              </a:rPr>
              <a:t>High collinearity can inflate standard errors and undermine the precision of parameter estimates. Standard errors become excessively large, reducing the statistical significance of individual predictors.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h2205aeae9b1c56da_0_78"/>
          <p:cNvSpPr txBox="1"/>
          <p:nvPr/>
        </p:nvSpPr>
        <p:spPr>
          <a:xfrm>
            <a:off x="298038" y="553994"/>
            <a:ext cx="11595600" cy="52272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90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Model Interpretation:</a:t>
            </a:r>
            <a:r>
              <a:rPr lang="en-US" sz="2400">
                <a:solidFill>
                  <a:schemeClr val="dk1"/>
                </a:solidFill>
                <a:latin typeface="Times New Roman"/>
                <a:ea typeface="Times New Roman"/>
                <a:cs typeface="Times New Roman"/>
                <a:sym typeface="Times New Roman"/>
              </a:rPr>
              <a:t> Correlated predictors make it challenging to discern the individual effect of each variable on the outcome. When predictors move together, it becomes difficult to isolate the individual contribution of each predictor.</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b="1" lang="en-US" sz="2400">
                <a:solidFill>
                  <a:schemeClr val="dk1"/>
                </a:solidFill>
                <a:latin typeface="Times New Roman"/>
                <a:ea typeface="Times New Roman"/>
                <a:cs typeface="Times New Roman"/>
                <a:sym typeface="Times New Roman"/>
              </a:rPr>
              <a:t>Prediction Accuracy: </a:t>
            </a:r>
            <a:r>
              <a:rPr lang="en-US" sz="2400">
                <a:solidFill>
                  <a:schemeClr val="dk1"/>
                </a:solidFill>
                <a:latin typeface="Times New Roman"/>
                <a:ea typeface="Times New Roman"/>
                <a:cs typeface="Times New Roman"/>
                <a:sym typeface="Times New Roman"/>
              </a:rPr>
              <a:t>Multicollinearity can lead to overfitting or poor generalization, affecting the model's predictive</a:t>
            </a:r>
            <a:r>
              <a:rPr lang="en-US" sz="2400">
                <a:solidFill>
                  <a:schemeClr val="dk1"/>
                </a:solidFill>
                <a:uFill>
                  <a:noFill/>
                </a:uFill>
                <a:latin typeface="Times New Roman"/>
                <a:ea typeface="Times New Roman"/>
                <a:cs typeface="Times New Roman"/>
                <a:sym typeface="Times New Roman"/>
                <a:hlinkClick r:id="rId3">
                  <a:extLst>
                    <a:ext uri="{A12FA001-AC4F-418D-AE19-62706E023703}">
                      <ahyp:hlinkClr val="tx"/>
                    </a:ext>
                  </a:extLst>
                </a:hlinkClick>
              </a:rPr>
              <a:t> power.</a:t>
            </a:r>
            <a:r>
              <a:rPr lang="en-US" sz="2400">
                <a:solidFill>
                  <a:schemeClr val="dk1"/>
                </a:solidFill>
                <a:latin typeface="Times New Roman"/>
                <a:ea typeface="Times New Roman"/>
                <a:cs typeface="Times New Roman"/>
                <a:sym typeface="Times New Roman"/>
              </a:rPr>
              <a:t> Multicollinearity primarily creates a problem with the stability and precision of coefficient estimates and inference. It does not automatically mean that prediction accuracy will be poor.</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Multicollinearity can reduce the stability and generalizability of a model's predictions, particularly when the predictor relationships in new data differ from those in the training data.</a:t>
            </a:r>
            <a:endParaRPr sz="2400">
              <a:solidFill>
                <a:schemeClr val="dk1"/>
              </a:solidFill>
              <a:latin typeface="Times New Roman"/>
              <a:ea typeface="Times New Roman"/>
              <a:cs typeface="Times New Roman"/>
              <a:sym typeface="Times New Roman"/>
            </a:endParaRPr>
          </a:p>
          <a:p>
            <a:pPr indent="-381000" lvl="0" marL="457200" marR="0" rtl="0" algn="l">
              <a:lnSpc>
                <a:spcPct val="115000"/>
              </a:lnSpc>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Multicollinearity does not necessarily make the entire model useless; its major impact is that it makes individual coefficient estimates less precise and harder to interpret.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h36dc2ce36be3d24_0_7"/>
          <p:cNvSpPr txBox="1"/>
          <p:nvPr/>
        </p:nvSpPr>
        <p:spPr>
          <a:xfrm>
            <a:off x="454950" y="303300"/>
            <a:ext cx="11388900" cy="626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2400">
                <a:solidFill>
                  <a:schemeClr val="dk1"/>
                </a:solidFill>
                <a:latin typeface="Times New Roman"/>
                <a:ea typeface="Times New Roman"/>
                <a:cs typeface="Times New Roman"/>
                <a:sym typeface="Times New Roman"/>
              </a:rPr>
              <a:t>Diagnostic Methods:</a:t>
            </a:r>
            <a:endParaRPr b="1" sz="24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Correlation Matrix:</a:t>
            </a:r>
            <a:r>
              <a:rPr lang="en-US" sz="2400">
                <a:solidFill>
                  <a:schemeClr val="dk1"/>
                </a:solidFill>
                <a:latin typeface="Times New Roman"/>
                <a:ea typeface="Times New Roman"/>
                <a:cs typeface="Times New Roman"/>
                <a:sym typeface="Times New Roman"/>
              </a:rPr>
              <a:t> Check pairwise linear or monotonic correlations.</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21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lnSpc>
                <a:spcPct val="115000"/>
              </a:lnSpc>
              <a:spcBef>
                <a:spcPts val="2100"/>
              </a:spcBef>
              <a:spcAft>
                <a:spcPts val="2100"/>
              </a:spcAft>
              <a:buNone/>
            </a:pPr>
            <a:r>
              <a:rPr lang="en-US" sz="2400">
                <a:solidFill>
                  <a:schemeClr val="dk1"/>
                </a:solidFill>
                <a:latin typeface="Times New Roman"/>
                <a:ea typeface="Times New Roman"/>
                <a:cs typeface="Times New Roman"/>
                <a:sym typeface="Times New Roman"/>
              </a:rPr>
              <a:t>Area &amp; Bedrooms = 0.85 → strong positive correlation . Diagonal values are always 1.00, because a variable is perfectly correlated with itself, means the predictors are strongly related to each other. So there is a possibility of multicollinearity. Therefore, the model may find it difficult to determine the individual contribution of Area, Bedrooms, and Bathrooms to house price. </a:t>
            </a:r>
            <a:endParaRPr sz="2400">
              <a:solidFill>
                <a:schemeClr val="dk1"/>
              </a:solidFill>
              <a:latin typeface="Times New Roman"/>
              <a:ea typeface="Times New Roman"/>
              <a:cs typeface="Times New Roman"/>
              <a:sym typeface="Times New Roman"/>
            </a:endParaRPr>
          </a:p>
        </p:txBody>
      </p:sp>
      <p:graphicFrame>
        <p:nvGraphicFramePr>
          <p:cNvPr id="236" name="Google Shape;236;h36dc2ce36be3d24_0_7"/>
          <p:cNvGraphicFramePr/>
          <p:nvPr/>
        </p:nvGraphicFramePr>
        <p:xfrm>
          <a:off x="2730475" y="1816025"/>
          <a:ext cx="3000000" cy="3000000"/>
        </p:xfrm>
        <a:graphic>
          <a:graphicData uri="http://schemas.openxmlformats.org/drawingml/2006/table">
            <a:tbl>
              <a:tblPr>
                <a:noFill/>
                <a:tableStyleId>{6D6FB90C-68D5-4DC2-8CC6-06CA0C885E98}</a:tableStyleId>
              </a:tblPr>
              <a:tblGrid>
                <a:gridCol w="1652750"/>
                <a:gridCol w="997225"/>
                <a:gridCol w="1538125"/>
                <a:gridCol w="1641625"/>
              </a:tblGrid>
              <a:tr h="655275">
                <a:tc>
                  <a:txBody>
                    <a:bodyPr/>
                    <a:lstStyle/>
                    <a:p>
                      <a:pPr indent="0" lvl="0" marL="0" rtl="0" algn="l">
                        <a:spcBef>
                          <a:spcPts val="0"/>
                        </a:spcBef>
                        <a:spcAft>
                          <a:spcPts val="0"/>
                        </a:spcAft>
                        <a:buNone/>
                      </a:pPr>
                      <a:r>
                        <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t>Area</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t>Bedrooms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2000"/>
                        <a:t>Bathrooms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59975">
                <a:tc>
                  <a:txBody>
                    <a:bodyPr/>
                    <a:lstStyle/>
                    <a:p>
                      <a:pPr indent="0" lvl="0" marL="0" rtl="0" algn="l">
                        <a:spcBef>
                          <a:spcPts val="0"/>
                        </a:spcBef>
                        <a:spcAft>
                          <a:spcPts val="0"/>
                        </a:spcAft>
                        <a:buNone/>
                      </a:pPr>
                      <a:r>
                        <a:rPr b="1" lang="en-US" sz="2000"/>
                        <a:t>Area</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1.00</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0.80</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4950">
                <a:tc>
                  <a:txBody>
                    <a:bodyPr/>
                    <a:lstStyle/>
                    <a:p>
                      <a:pPr indent="0" lvl="0" marL="0" rtl="0" algn="l">
                        <a:spcBef>
                          <a:spcPts val="0"/>
                        </a:spcBef>
                        <a:spcAft>
                          <a:spcPts val="0"/>
                        </a:spcAft>
                        <a:buNone/>
                      </a:pPr>
                      <a:r>
                        <a:rPr b="1" lang="en-US" sz="2000"/>
                        <a:t>Bedrooms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1.00</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0.75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84950">
                <a:tc>
                  <a:txBody>
                    <a:bodyPr/>
                    <a:lstStyle/>
                    <a:p>
                      <a:pPr indent="0" lvl="0" marL="0" rtl="0" algn="l">
                        <a:spcBef>
                          <a:spcPts val="0"/>
                        </a:spcBef>
                        <a:spcAft>
                          <a:spcPts val="0"/>
                        </a:spcAft>
                        <a:buNone/>
                      </a:pPr>
                      <a:r>
                        <a:rPr b="1" lang="en-US" sz="2000"/>
                        <a:t>Bathrooms</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0.80</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US" sz="2000"/>
                        <a:t>0.75</a:t>
                      </a:r>
                      <a:endParaRPr b="1"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US" sz="2000"/>
                        <a:t>1.00</a:t>
                      </a:r>
                      <a:endParaRPr sz="20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h36dc2ce36be3d24_0_23"/>
          <p:cNvSpPr txBox="1"/>
          <p:nvPr/>
        </p:nvSpPr>
        <p:spPr>
          <a:xfrm>
            <a:off x="0" y="343850"/>
            <a:ext cx="10583100" cy="61908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Variance Inflation Factor (VIF):</a:t>
            </a:r>
            <a:r>
              <a:rPr lang="en-US" sz="2400">
                <a:solidFill>
                  <a:schemeClr val="dk1"/>
                </a:solidFill>
                <a:latin typeface="Times New Roman"/>
                <a:ea typeface="Times New Roman"/>
                <a:cs typeface="Times New Roman"/>
                <a:sym typeface="Times New Roman"/>
              </a:rPr>
              <a:t> Measure how much the variance of a coefficient is inflated; a VIF value above 5 or 10 signals critical multicollinearity. Standard errors become excessively large, reducing the statistical significance of individual predictors.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Tolerance:</a:t>
            </a:r>
            <a:r>
              <a:rPr lang="en-US" sz="2400">
                <a:solidFill>
                  <a:schemeClr val="dk1"/>
                </a:solidFill>
                <a:latin typeface="Times New Roman"/>
                <a:ea typeface="Times New Roman"/>
                <a:cs typeface="Times New Roman"/>
                <a:sym typeface="Times New Roman"/>
              </a:rPr>
              <a:t> Calculated as 1 - R² for a predictor regressed on others; values below 0.10 indicate severe collinearity. R-squared (R^2) measures the proportion of variation in the dependent variable that is explained by the fitted regression model.</a:t>
            </a:r>
            <a:endParaRPr sz="2400">
              <a:solidFill>
                <a:schemeClr val="dk1"/>
              </a:solidFill>
              <a:latin typeface="Times New Roman"/>
              <a:ea typeface="Times New Roman"/>
              <a:cs typeface="Times New Roman"/>
              <a:sym typeface="Times New Roman"/>
            </a:endParaRPr>
          </a:p>
          <a:p>
            <a:pPr indent="0" lvl="0" marL="457200" rtl="0" algn="l">
              <a:lnSpc>
                <a:spcPct val="115000"/>
              </a:lnSpc>
              <a:spcBef>
                <a:spcPts val="2100"/>
              </a:spcBef>
              <a:spcAft>
                <a:spcPts val="0"/>
              </a:spcAft>
              <a:buNone/>
            </a:pPr>
            <a:r>
              <a:rPr lang="en-US" sz="2400">
                <a:solidFill>
                  <a:schemeClr val="dk1"/>
                </a:solidFill>
                <a:latin typeface="Times New Roman"/>
                <a:ea typeface="Times New Roman"/>
                <a:cs typeface="Times New Roman"/>
                <a:sym typeface="Times New Roman"/>
              </a:rPr>
              <a:t>R² = explanatory power, NOT prediction accuracy. R^2=0.80 → The model explains 80% of the observed variation in Y. R² = explanatory power, NOT prediction accuracy.</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21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Condition Number / Index:</a:t>
            </a:r>
            <a:r>
              <a:rPr lang="en-US" sz="2400">
                <a:solidFill>
                  <a:schemeClr val="dk1"/>
                </a:solidFill>
                <a:latin typeface="Times New Roman"/>
                <a:ea typeface="Times New Roman"/>
                <a:cs typeface="Times New Roman"/>
                <a:sym typeface="Times New Roman"/>
              </a:rPr>
              <a:t> Derived from the eigenvalues of the scaled design/ Jacobian matrix; values exceeding 30 suggest severe instability.</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h2205aeae9b1c56da_0_85"/>
          <p:cNvSpPr txBox="1"/>
          <p:nvPr/>
        </p:nvSpPr>
        <p:spPr>
          <a:xfrm>
            <a:off x="745025" y="840550"/>
            <a:ext cx="10312200" cy="506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900"/>
              </a:spcBef>
              <a:spcAft>
                <a:spcPts val="0"/>
              </a:spcAft>
              <a:buNone/>
            </a:pPr>
            <a:r>
              <a:rPr b="1" lang="en-US" sz="2600">
                <a:solidFill>
                  <a:schemeClr val="dk1"/>
                </a:solidFill>
                <a:latin typeface="Times New Roman"/>
                <a:ea typeface="Times New Roman"/>
                <a:cs typeface="Times New Roman"/>
                <a:sym typeface="Times New Roman"/>
              </a:rPr>
              <a:t>Solution to the Multicollinearity:</a:t>
            </a:r>
            <a:endParaRPr b="1" sz="26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0"/>
              </a:spcAft>
              <a:buNone/>
            </a:pPr>
            <a:r>
              <a:rPr lang="en-US" sz="2400">
                <a:solidFill>
                  <a:schemeClr val="dk1"/>
                </a:solidFill>
                <a:latin typeface="Times New Roman"/>
                <a:ea typeface="Times New Roman"/>
                <a:cs typeface="Times New Roman"/>
                <a:sym typeface="Times New Roman"/>
              </a:rPr>
              <a:t>Mitigation Strategies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90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Feature Selection:</a:t>
            </a:r>
            <a:r>
              <a:rPr lang="en-US" sz="2400">
                <a:solidFill>
                  <a:schemeClr val="dk1"/>
                </a:solidFill>
                <a:latin typeface="Times New Roman"/>
                <a:ea typeface="Times New Roman"/>
                <a:cs typeface="Times New Roman"/>
                <a:sym typeface="Times New Roman"/>
              </a:rPr>
              <a:t> Remove redundant or highly overlapping predictor variables.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Dimensionality Reduction:</a:t>
            </a:r>
            <a:r>
              <a:rPr lang="en-US" sz="2400">
                <a:solidFill>
                  <a:schemeClr val="dk1"/>
                </a:solidFill>
                <a:latin typeface="Times New Roman"/>
                <a:ea typeface="Times New Roman"/>
                <a:cs typeface="Times New Roman"/>
                <a:sym typeface="Times New Roman"/>
              </a:rPr>
              <a:t> Apply Principal Component Analysis (PCA) to convert correlated variables into orthogonal features. </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US" sz="2400">
                <a:solidFill>
                  <a:schemeClr val="dk1"/>
                </a:solidFill>
                <a:latin typeface="Times New Roman"/>
                <a:ea typeface="Times New Roman"/>
                <a:cs typeface="Times New Roman"/>
                <a:sym typeface="Times New Roman"/>
              </a:rPr>
              <a:t>Regularization:</a:t>
            </a:r>
            <a:r>
              <a:rPr lang="en-US" sz="2400">
                <a:solidFill>
                  <a:schemeClr val="dk1"/>
                </a:solidFill>
                <a:latin typeface="Times New Roman"/>
                <a:ea typeface="Times New Roman"/>
                <a:cs typeface="Times New Roman"/>
                <a:sym typeface="Times New Roman"/>
              </a:rPr>
              <a:t> Use penalized regression techniques adapted for nonlinear or generalized frameworks (such as Ridge or LASSO) to shrink coefficients and stabilize variance.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2100"/>
              </a:spcBef>
              <a:spcAft>
                <a:spcPts val="210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h7ea41d1a13685d46_0_0"/>
          <p:cNvSpPr txBox="1"/>
          <p:nvPr/>
        </p:nvSpPr>
        <p:spPr>
          <a:xfrm>
            <a:off x="333825" y="438750"/>
            <a:ext cx="11388600" cy="6600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latin typeface="Times New Roman"/>
                <a:ea typeface="Times New Roman"/>
                <a:cs typeface="Times New Roman"/>
                <a:sym typeface="Times New Roman"/>
              </a:rPr>
              <a:t>Autocorrelation : </a:t>
            </a:r>
            <a:r>
              <a:rPr lang="en-US" spc="12" sz="2400">
                <a:solidFill>
                  <a:srgbClr val="273239"/>
                </a:solidFill>
                <a:highlight>
                  <a:srgbClr val="FFFFFF"/>
                </a:highlight>
                <a:latin typeface="Times New Roman"/>
                <a:ea typeface="Times New Roman"/>
                <a:cs typeface="Times New Roman"/>
                <a:sym typeface="Times New Roman"/>
              </a:rPr>
              <a:t>Autocorrelation is an time series analysis that measures the relationship between a variable and its lagged values.  </a:t>
            </a:r>
            <a:r>
              <a:rPr b="1" lang="en-US" sz="2400">
                <a:solidFill>
                  <a:schemeClr val="dk1"/>
                </a:solidFill>
                <a:latin typeface="Times New Roman"/>
                <a:ea typeface="Times New Roman"/>
                <a:cs typeface="Times New Roman"/>
                <a:sym typeface="Times New Roman"/>
              </a:rPr>
              <a:t>Autocorrelation</a:t>
            </a:r>
            <a:r>
              <a:rPr lang="en-US" sz="2400">
                <a:solidFill>
                  <a:schemeClr val="dk1"/>
                </a:solidFill>
                <a:latin typeface="Times New Roman"/>
                <a:ea typeface="Times New Roman"/>
                <a:cs typeface="Times New Roman"/>
                <a:sym typeface="Times New Roman"/>
              </a:rPr>
              <a:t> means that the error/residual at one observation is related to the error/residual at another observation. The current error is related to a previous error.</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              It is especially common when data is collected </a:t>
            </a:r>
            <a:r>
              <a:rPr b="1" lang="en-US" sz="2400">
                <a:solidFill>
                  <a:schemeClr val="dk1"/>
                </a:solidFill>
                <a:latin typeface="Times New Roman"/>
                <a:ea typeface="Times New Roman"/>
                <a:cs typeface="Times New Roman"/>
                <a:sym typeface="Times New Roman"/>
              </a:rPr>
              <a:t>over time</a:t>
            </a:r>
            <a:r>
              <a:rPr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If residuals tend to remain positive for several consecutive months, the errors are </a:t>
            </a:r>
            <a:r>
              <a:rPr b="1" lang="en-US" sz="2400">
                <a:solidFill>
                  <a:schemeClr val="dk1"/>
                </a:solidFill>
                <a:latin typeface="Times New Roman"/>
                <a:ea typeface="Times New Roman"/>
                <a:cs typeface="Times New Roman"/>
                <a:sym typeface="Times New Roman"/>
              </a:rPr>
              <a:t>not independent</a:t>
            </a:r>
            <a:r>
              <a:rPr lang="en-US" sz="2400">
                <a:solidFill>
                  <a:schemeClr val="dk1"/>
                </a:solidFill>
                <a:latin typeface="Times New Roman"/>
                <a:ea typeface="Times New Roman"/>
                <a:cs typeface="Times New Roman"/>
                <a:sym typeface="Times New Roman"/>
              </a:rPr>
              <a:t>. There may be autocorrelation. </a:t>
            </a:r>
            <a:r>
              <a:rPr lang="en-US" spc="12" sz="2400">
                <a:solidFill>
                  <a:srgbClr val="273239"/>
                </a:solidFill>
                <a:highlight>
                  <a:srgbClr val="FFFFFF"/>
                </a:highlight>
                <a:latin typeface="Times New Roman"/>
                <a:ea typeface="Times New Roman"/>
                <a:cs typeface="Times New Roman"/>
                <a:sym typeface="Times New Roman"/>
              </a:rPr>
              <a:t>It is widely used in finance, economics, weather forecasting and many other fields to identify trends, seasonality, and temporal dependencies in sequential data.</a:t>
            </a:r>
            <a:r>
              <a:rPr lang="en-US" sz="2400">
                <a:solidFill>
                  <a:schemeClr val="dk1"/>
                </a:solidFill>
                <a:latin typeface="Times New Roman"/>
                <a:ea typeface="Times New Roman"/>
                <a:cs typeface="Times New Roman"/>
                <a:sym typeface="Times New Roman"/>
              </a:rPr>
              <a:t> </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     It commonly occurs in </a:t>
            </a:r>
            <a:r>
              <a:rPr b="1" lang="en-US" sz="2400">
                <a:solidFill>
                  <a:schemeClr val="dk1"/>
                </a:solidFill>
                <a:latin typeface="Times New Roman"/>
                <a:ea typeface="Times New Roman"/>
                <a:cs typeface="Times New Roman"/>
                <a:sym typeface="Times New Roman"/>
              </a:rPr>
              <a:t>time-series data</a:t>
            </a:r>
            <a:r>
              <a:rPr lang="en-US" sz="2400">
                <a:solidFill>
                  <a:schemeClr val="dk1"/>
                </a:solidFill>
                <a:latin typeface="Times New Roman"/>
                <a:ea typeface="Times New Roman"/>
                <a:cs typeface="Times New Roman"/>
                <a:sym typeface="Times New Roman"/>
              </a:rPr>
              <a:t> because observations close in time may be related.</a:t>
            </a:r>
            <a:r>
              <a:rPr lang="en-US" spc="12" sz="2400">
                <a:solidFill>
                  <a:srgbClr val="273239"/>
                </a:solidFill>
                <a:highlight>
                  <a:srgbClr val="FFFFFF"/>
                </a:highlight>
                <a:latin typeface="Nunito"/>
                <a:ea typeface="Nunito"/>
                <a:cs typeface="Nunito"/>
                <a:sym typeface="Nunito"/>
              </a:rPr>
              <a:t>Autocorrelation, measures how a time series </a:t>
            </a:r>
            <a:r>
              <a:rPr lang="en-US" spc="12" sz="2400">
                <a:solidFill>
                  <a:srgbClr val="273239"/>
                </a:solidFill>
                <a:highlight>
                  <a:srgbClr val="FFFFFF"/>
                </a:highlight>
                <a:latin typeface="Times New Roman"/>
                <a:ea typeface="Times New Roman"/>
                <a:cs typeface="Times New Roman"/>
                <a:sym typeface="Times New Roman"/>
              </a:rPr>
              <a:t>Xt </a:t>
            </a:r>
            <a:r>
              <a:rPr lang="en-US" spc="12" sz="2400">
                <a:solidFill>
                  <a:srgbClr val="273239"/>
                </a:solidFill>
                <a:highlight>
                  <a:srgbClr val="FFFFFF"/>
                </a:highlight>
                <a:latin typeface="Nunito"/>
                <a:ea typeface="Nunito"/>
                <a:cs typeface="Nunito"/>
                <a:sym typeface="Nunito"/>
              </a:rPr>
              <a:t>relates to its past values</a:t>
            </a:r>
            <a:endParaRPr spc="12" sz="2400">
              <a:solidFill>
                <a:srgbClr val="273239"/>
              </a:solidFill>
              <a:highlight>
                <a:srgbClr val="FFFFFF"/>
              </a:highlight>
              <a:latin typeface="Nunito"/>
              <a:ea typeface="Nunito"/>
              <a:cs typeface="Nunito"/>
              <a:sym typeface="Nunito"/>
            </a:endParaRPr>
          </a:p>
          <a:p>
            <a:pPr indent="0" lvl="0" marL="0" rtl="0" algn="l">
              <a:lnSpc>
                <a:spcPct val="160000"/>
              </a:lnSpc>
              <a:spcBef>
                <a:spcPts val="1200"/>
              </a:spcBef>
              <a:spcAft>
                <a:spcPts val="0"/>
              </a:spcAft>
              <a:buNone/>
            </a:pPr>
            <a:r>
              <a:rPr lang="en-US" spc="12" sz="2400">
                <a:solidFill>
                  <a:srgbClr val="273239"/>
                </a:solidFill>
                <a:highlight>
                  <a:srgbClr val="FFFFFF"/>
                </a:highlight>
                <a:latin typeface="Times New Roman"/>
                <a:ea typeface="Times New Roman"/>
                <a:cs typeface="Times New Roman"/>
                <a:sym typeface="Times New Roman"/>
              </a:rPr>
              <a:t>Xt−k. </a:t>
            </a:r>
            <a:r>
              <a:rPr lang="en-US" spc="12" sz="2400">
                <a:solidFill>
                  <a:srgbClr val="273239"/>
                </a:solidFill>
                <a:highlight>
                  <a:srgbClr val="FFFFFF"/>
                </a:highlight>
                <a:latin typeface="Nunito"/>
                <a:ea typeface="Nunito"/>
                <a:cs typeface="Nunito"/>
                <a:sym typeface="Nunito"/>
              </a:rPr>
              <a:t>where k is the lag. Unlike correlation between two different variables, autocorrelation examines the internal structure of a single series.</a:t>
            </a:r>
            <a:r>
              <a:rPr lang="en-US" sz="2400">
                <a:solidFill>
                  <a:schemeClr val="dk1"/>
                </a:solidFill>
              </a:rPr>
              <a:t>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aphicFrame>
        <p:nvGraphicFramePr>
          <p:cNvPr id="256" name="Google Shape;256;h54bad88e4038c330_0_0"/>
          <p:cNvGraphicFramePr/>
          <p:nvPr/>
        </p:nvGraphicFramePr>
        <p:xfrm>
          <a:off x="7769538" y="509075"/>
          <a:ext cx="3000000" cy="3000000"/>
        </p:xfrm>
        <a:graphic>
          <a:graphicData uri="http://schemas.openxmlformats.org/drawingml/2006/table">
            <a:tbl>
              <a:tblPr>
                <a:noFill/>
                <a:tableStyleId>{118E0F4F-5B93-4366-B9F5-AB34FFFCB298}</a:tableStyleId>
              </a:tblPr>
              <a:tblGrid>
                <a:gridCol w="826675"/>
                <a:gridCol w="858050"/>
                <a:gridCol w="1043975"/>
                <a:gridCol w="872000"/>
              </a:tblGrid>
              <a:tr h="704700">
                <a:tc>
                  <a:txBody>
                    <a:bodyPr/>
                    <a:lstStyle/>
                    <a:p>
                      <a:pPr indent="0" lvl="0" marL="0" rtl="0" algn="l">
                        <a:spcBef>
                          <a:spcPts val="0"/>
                        </a:spcBef>
                        <a:spcAft>
                          <a:spcPts val="0"/>
                        </a:spcAft>
                        <a:buNone/>
                      </a:pPr>
                      <a:r>
                        <a:rPr lang="en-US"/>
                        <a:t>Month</a:t>
                      </a:r>
                      <a:endParaRPr/>
                    </a:p>
                  </a:txBody>
                  <a:tcPr marT="91425" marB="91425" marR="91425" marL="91425"/>
                </a:tc>
                <a:tc>
                  <a:txBody>
                    <a:bodyPr/>
                    <a:lstStyle/>
                    <a:p>
                      <a:pPr indent="0" lvl="0" marL="0" rtl="0" algn="l">
                        <a:spcBef>
                          <a:spcPts val="0"/>
                        </a:spcBef>
                        <a:spcAft>
                          <a:spcPts val="0"/>
                        </a:spcAft>
                        <a:buNone/>
                      </a:pPr>
                      <a:r>
                        <a:rPr lang="en-US"/>
                        <a:t>Actual value</a:t>
                      </a:r>
                      <a:endParaRPr/>
                    </a:p>
                  </a:txBody>
                  <a:tcPr marT="91425" marB="91425" marR="91425" marL="91425"/>
                </a:tc>
                <a:tc>
                  <a:txBody>
                    <a:bodyPr/>
                    <a:lstStyle/>
                    <a:p>
                      <a:pPr indent="0" lvl="0" marL="0" rtl="0" algn="l">
                        <a:spcBef>
                          <a:spcPts val="0"/>
                        </a:spcBef>
                        <a:spcAft>
                          <a:spcPts val="0"/>
                        </a:spcAft>
                        <a:buNone/>
                      </a:pPr>
                      <a:r>
                        <a:rPr lang="en-US"/>
                        <a:t>Predicted Sales</a:t>
                      </a:r>
                      <a:endParaRPr/>
                    </a:p>
                  </a:txBody>
                  <a:tcPr marT="91425" marB="91425" marR="91425" marL="91425"/>
                </a:tc>
                <a:tc>
                  <a:txBody>
                    <a:bodyPr/>
                    <a:lstStyle/>
                    <a:p>
                      <a:pPr indent="0" lvl="0" marL="0" rtl="0" algn="l">
                        <a:spcBef>
                          <a:spcPts val="0"/>
                        </a:spcBef>
                        <a:spcAft>
                          <a:spcPts val="0"/>
                        </a:spcAft>
                        <a:buNone/>
                      </a:pPr>
                      <a:r>
                        <a:rPr lang="en-US"/>
                        <a:t>Residual</a:t>
                      </a:r>
                      <a:endParaRPr/>
                    </a:p>
                  </a:txBody>
                  <a:tcPr marT="91425" marB="91425" marR="91425" marL="91425"/>
                </a:tc>
              </a:tr>
              <a:tr h="458050">
                <a:tc>
                  <a:txBody>
                    <a:bodyPr/>
                    <a:lstStyle/>
                    <a:p>
                      <a:pPr indent="0" lvl="0" marL="0" rtl="0" algn="l">
                        <a:spcBef>
                          <a:spcPts val="0"/>
                        </a:spcBef>
                        <a:spcAft>
                          <a:spcPts val="0"/>
                        </a:spcAft>
                        <a:buNone/>
                      </a:pPr>
                      <a:r>
                        <a:rPr lang="en-US"/>
                        <a:t>Jan</a:t>
                      </a:r>
                      <a:endParaRPr/>
                    </a:p>
                  </a:txBody>
                  <a:tcPr marT="91425" marB="91425" marR="91425" marL="91425"/>
                </a:tc>
                <a:tc>
                  <a:txBody>
                    <a:bodyPr/>
                    <a:lstStyle/>
                    <a:p>
                      <a:pPr indent="0" lvl="0" marL="0" rtl="0" algn="l">
                        <a:spcBef>
                          <a:spcPts val="0"/>
                        </a:spcBef>
                        <a:spcAft>
                          <a:spcPts val="0"/>
                        </a:spcAft>
                        <a:buNone/>
                      </a:pPr>
                      <a:r>
                        <a:rPr lang="en-US"/>
                        <a:t>100</a:t>
                      </a:r>
                      <a:endParaRPr/>
                    </a:p>
                  </a:txBody>
                  <a:tcPr marT="91425" marB="91425" marR="91425" marL="91425"/>
                </a:tc>
                <a:tc>
                  <a:txBody>
                    <a:bodyPr/>
                    <a:lstStyle/>
                    <a:p>
                      <a:pPr indent="0" lvl="0" marL="0" rtl="0" algn="l">
                        <a:spcBef>
                          <a:spcPts val="0"/>
                        </a:spcBef>
                        <a:spcAft>
                          <a:spcPts val="0"/>
                        </a:spcAft>
                        <a:buNone/>
                      </a:pPr>
                      <a:r>
                        <a:rPr lang="en-US"/>
                        <a:t>95</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r>
              <a:tr h="458050">
                <a:tc>
                  <a:txBody>
                    <a:bodyPr/>
                    <a:lstStyle/>
                    <a:p>
                      <a:pPr indent="0" lvl="0" marL="0" rtl="0" algn="l">
                        <a:spcBef>
                          <a:spcPts val="0"/>
                        </a:spcBef>
                        <a:spcAft>
                          <a:spcPts val="0"/>
                        </a:spcAft>
                        <a:buNone/>
                      </a:pPr>
                      <a:r>
                        <a:rPr lang="en-US"/>
                        <a:t>Feb</a:t>
                      </a:r>
                      <a:endParaRPr/>
                    </a:p>
                  </a:txBody>
                  <a:tcPr marT="91425" marB="91425" marR="91425" marL="91425"/>
                </a:tc>
                <a:tc>
                  <a:txBody>
                    <a:bodyPr/>
                    <a:lstStyle/>
                    <a:p>
                      <a:pPr indent="0" lvl="0" marL="0" rtl="0" algn="l">
                        <a:spcBef>
                          <a:spcPts val="0"/>
                        </a:spcBef>
                        <a:spcAft>
                          <a:spcPts val="0"/>
                        </a:spcAft>
                        <a:buNone/>
                      </a:pPr>
                      <a:r>
                        <a:rPr lang="en-US"/>
                        <a:t>110</a:t>
                      </a:r>
                      <a:endParaRPr/>
                    </a:p>
                  </a:txBody>
                  <a:tcPr marT="91425" marB="91425" marR="91425" marL="91425"/>
                </a:tc>
                <a:tc>
                  <a:txBody>
                    <a:bodyPr/>
                    <a:lstStyle/>
                    <a:p>
                      <a:pPr indent="0" lvl="0" marL="0" rtl="0" algn="l">
                        <a:spcBef>
                          <a:spcPts val="0"/>
                        </a:spcBef>
                        <a:spcAft>
                          <a:spcPts val="0"/>
                        </a:spcAft>
                        <a:buNone/>
                      </a:pPr>
                      <a:r>
                        <a:rPr lang="en-US"/>
                        <a:t>103</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r>
              <a:tr h="458050">
                <a:tc>
                  <a:txBody>
                    <a:bodyPr/>
                    <a:lstStyle/>
                    <a:p>
                      <a:pPr indent="0" lvl="0" marL="0" rtl="0" algn="l">
                        <a:spcBef>
                          <a:spcPts val="0"/>
                        </a:spcBef>
                        <a:spcAft>
                          <a:spcPts val="0"/>
                        </a:spcAft>
                        <a:buNone/>
                      </a:pPr>
                      <a:r>
                        <a:rPr lang="en-US"/>
                        <a:t>Mar</a:t>
                      </a:r>
                      <a:endParaRPr/>
                    </a:p>
                  </a:txBody>
                  <a:tcPr marT="91425" marB="91425" marR="91425" marL="91425"/>
                </a:tc>
                <a:tc>
                  <a:txBody>
                    <a:bodyPr/>
                    <a:lstStyle/>
                    <a:p>
                      <a:pPr indent="0" lvl="0" marL="0" rtl="0" algn="l">
                        <a:spcBef>
                          <a:spcPts val="0"/>
                        </a:spcBef>
                        <a:spcAft>
                          <a:spcPts val="0"/>
                        </a:spcAft>
                        <a:buNone/>
                      </a:pPr>
                      <a:r>
                        <a:rPr lang="en-US"/>
                        <a:t>120</a:t>
                      </a:r>
                      <a:endParaRPr/>
                    </a:p>
                  </a:txBody>
                  <a:tcPr marT="91425" marB="91425" marR="91425" marL="91425"/>
                </a:tc>
                <a:tc>
                  <a:txBody>
                    <a:bodyPr/>
                    <a:lstStyle/>
                    <a:p>
                      <a:pPr indent="0" lvl="0" marL="0" rtl="0" algn="l">
                        <a:spcBef>
                          <a:spcPts val="0"/>
                        </a:spcBef>
                        <a:spcAft>
                          <a:spcPts val="0"/>
                        </a:spcAft>
                        <a:buNone/>
                      </a:pPr>
                      <a:r>
                        <a:rPr lang="en-US"/>
                        <a:t>112</a:t>
                      </a:r>
                      <a:endParaRPr/>
                    </a:p>
                  </a:txBody>
                  <a:tcPr marT="91425" marB="91425" marR="91425" marL="91425"/>
                </a:tc>
                <a:tc>
                  <a:txBody>
                    <a:bodyPr/>
                    <a:lstStyle/>
                    <a:p>
                      <a:pPr indent="0" lvl="0" marL="0" rtl="0" algn="l">
                        <a:spcBef>
                          <a:spcPts val="0"/>
                        </a:spcBef>
                        <a:spcAft>
                          <a:spcPts val="0"/>
                        </a:spcAft>
                        <a:buNone/>
                      </a:pPr>
                      <a:r>
                        <a:rPr lang="en-US"/>
                        <a:t>+8</a:t>
                      </a:r>
                      <a:endParaRPr/>
                    </a:p>
                  </a:txBody>
                  <a:tcPr marT="91425" marB="91425" marR="91425" marL="91425"/>
                </a:tc>
              </a:tr>
              <a:tr h="458050">
                <a:tc>
                  <a:txBody>
                    <a:bodyPr/>
                    <a:lstStyle/>
                    <a:p>
                      <a:pPr indent="0" lvl="0" marL="0" rtl="0" algn="l">
                        <a:spcBef>
                          <a:spcPts val="0"/>
                        </a:spcBef>
                        <a:spcAft>
                          <a:spcPts val="0"/>
                        </a:spcAft>
                        <a:buNone/>
                      </a:pPr>
                      <a:r>
                        <a:rPr lang="en-US"/>
                        <a:t>Apr</a:t>
                      </a:r>
                      <a:endParaRPr/>
                    </a:p>
                  </a:txBody>
                  <a:tcPr marT="91425" marB="91425" marR="91425" marL="91425"/>
                </a:tc>
                <a:tc>
                  <a:txBody>
                    <a:bodyPr/>
                    <a:lstStyle/>
                    <a:p>
                      <a:pPr indent="0" lvl="0" marL="0" rtl="0" algn="l">
                        <a:spcBef>
                          <a:spcPts val="0"/>
                        </a:spcBef>
                        <a:spcAft>
                          <a:spcPts val="0"/>
                        </a:spcAft>
                        <a:buNone/>
                      </a:pPr>
                      <a:r>
                        <a:rPr lang="en-US"/>
                        <a:t>115</a:t>
                      </a:r>
                      <a:endParaRPr/>
                    </a:p>
                  </a:txBody>
                  <a:tcPr marT="91425" marB="91425" marR="91425" marL="91425"/>
                </a:tc>
                <a:tc>
                  <a:txBody>
                    <a:bodyPr/>
                    <a:lstStyle/>
                    <a:p>
                      <a:pPr indent="0" lvl="0" marL="0" rtl="0" algn="l">
                        <a:spcBef>
                          <a:spcPts val="0"/>
                        </a:spcBef>
                        <a:spcAft>
                          <a:spcPts val="0"/>
                        </a:spcAft>
                        <a:buNone/>
                      </a:pPr>
                      <a:r>
                        <a:rPr lang="en-US"/>
                        <a:t>120</a:t>
                      </a:r>
                      <a:endParaRPr/>
                    </a:p>
                  </a:txBody>
                  <a:tcPr marT="91425" marB="91425" marR="91425" marL="91425"/>
                </a:tc>
                <a:tc>
                  <a:txBody>
                    <a:bodyPr/>
                    <a:lstStyle/>
                    <a:p>
                      <a:pPr indent="0" lvl="0" marL="0" rtl="0" algn="l">
                        <a:spcBef>
                          <a:spcPts val="0"/>
                        </a:spcBef>
                        <a:spcAft>
                          <a:spcPts val="0"/>
                        </a:spcAft>
                        <a:buNone/>
                      </a:pPr>
                      <a:r>
                        <a:rPr lang="en-US"/>
                        <a:t>-5</a:t>
                      </a:r>
                      <a:endParaRPr/>
                    </a:p>
                  </a:txBody>
                  <a:tcPr marT="91425" marB="91425" marR="91425" marL="91425"/>
                </a:tc>
              </a:tr>
              <a:tr h="458050">
                <a:tc>
                  <a:txBody>
                    <a:bodyPr/>
                    <a:lstStyle/>
                    <a:p>
                      <a:pPr indent="0" lvl="0" marL="0" rtl="0" algn="l">
                        <a:spcBef>
                          <a:spcPts val="0"/>
                        </a:spcBef>
                        <a:spcAft>
                          <a:spcPts val="0"/>
                        </a:spcAft>
                        <a:buNone/>
                      </a:pPr>
                      <a:r>
                        <a:rPr lang="en-US"/>
                        <a:t>may</a:t>
                      </a:r>
                      <a:endParaRPr/>
                    </a:p>
                  </a:txBody>
                  <a:tcPr marT="91425" marB="91425" marR="91425" marL="91425"/>
                </a:tc>
                <a:tc>
                  <a:txBody>
                    <a:bodyPr/>
                    <a:lstStyle/>
                    <a:p>
                      <a:pPr indent="0" lvl="0" marL="0" rtl="0" algn="l">
                        <a:spcBef>
                          <a:spcPts val="0"/>
                        </a:spcBef>
                        <a:spcAft>
                          <a:spcPts val="0"/>
                        </a:spcAft>
                        <a:buNone/>
                      </a:pPr>
                      <a:r>
                        <a:rPr lang="en-US"/>
                        <a:t>125</a:t>
                      </a:r>
                      <a:endParaRPr/>
                    </a:p>
                  </a:txBody>
                  <a:tcPr marT="91425" marB="91425" marR="91425" marL="91425"/>
                </a:tc>
                <a:tc>
                  <a:txBody>
                    <a:bodyPr/>
                    <a:lstStyle/>
                    <a:p>
                      <a:pPr indent="0" lvl="0" marL="0" rtl="0" algn="l">
                        <a:spcBef>
                          <a:spcPts val="0"/>
                        </a:spcBef>
                        <a:spcAft>
                          <a:spcPts val="0"/>
                        </a:spcAft>
                        <a:buNone/>
                      </a:pPr>
                      <a:r>
                        <a:rPr lang="en-US"/>
                        <a:t>118</a:t>
                      </a:r>
                      <a:endParaRPr/>
                    </a:p>
                  </a:txBody>
                  <a:tcPr marT="91425" marB="91425" marR="91425" marL="91425"/>
                </a:tc>
                <a:tc>
                  <a:txBody>
                    <a:bodyPr/>
                    <a:lstStyle/>
                    <a:p>
                      <a:pPr indent="0" lvl="0" marL="0" rtl="0" algn="l">
                        <a:spcBef>
                          <a:spcPts val="0"/>
                        </a:spcBef>
                        <a:spcAft>
                          <a:spcPts val="0"/>
                        </a:spcAft>
                        <a:buNone/>
                      </a:pPr>
                      <a:r>
                        <a:rPr lang="en-US"/>
                        <a:t>+7</a:t>
                      </a:r>
                      <a:endParaRPr/>
                    </a:p>
                  </a:txBody>
                  <a:tcPr marT="91425" marB="91425" marR="91425" marL="91425"/>
                </a:tc>
              </a:tr>
            </a:tbl>
          </a:graphicData>
        </a:graphic>
      </p:graphicFrame>
      <p:sp>
        <p:nvSpPr>
          <p:cNvPr id="257" name="Google Shape;257;h54bad88e4038c330_0_0"/>
          <p:cNvSpPr txBox="1"/>
          <p:nvPr/>
        </p:nvSpPr>
        <p:spPr>
          <a:xfrm>
            <a:off x="269600" y="454950"/>
            <a:ext cx="10902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a:p>
        </p:txBody>
      </p:sp>
      <p:sp>
        <p:nvSpPr>
          <p:cNvPr id="258" name="Google Shape;258;h54bad88e4038c330_0_0"/>
          <p:cNvSpPr txBox="1"/>
          <p:nvPr/>
        </p:nvSpPr>
        <p:spPr>
          <a:xfrm>
            <a:off x="269600" y="454950"/>
            <a:ext cx="73971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2400">
                <a:solidFill>
                  <a:schemeClr val="dk1"/>
                </a:solidFill>
                <a:latin typeface="Times New Roman"/>
                <a:ea typeface="Times New Roman"/>
                <a:cs typeface="Times New Roman"/>
                <a:sym typeface="Times New Roman"/>
              </a:rPr>
              <a:t>Examples: Monthly sales, Daily stock prices, Yearly GDP, Temperature measurements, Electricity demand, Website traffic, Student attendance over consecutive days. </a:t>
            </a:r>
            <a:r>
              <a:rPr lang="en-US" sz="2400">
                <a:solidFill>
                  <a:schemeClr val="dk1"/>
                </a:solidFill>
                <a:latin typeface="Times New Roman"/>
                <a:ea typeface="Times New Roman"/>
                <a:cs typeface="Times New Roman"/>
                <a:sym typeface="Times New Roman"/>
              </a:rPr>
              <a:t>For example: </a:t>
            </a:r>
            <a:r>
              <a:rPr b="1" lang="en-US" sz="2400">
                <a:solidFill>
                  <a:schemeClr val="dk1"/>
                </a:solidFill>
                <a:latin typeface="Times New Roman"/>
                <a:ea typeface="Times New Roman"/>
                <a:cs typeface="Times New Roman"/>
                <a:sym typeface="Times New Roman"/>
              </a:rPr>
              <a:t>Today's electricity demand</a:t>
            </a:r>
            <a:r>
              <a:rPr lang="en-US" sz="2400">
                <a:solidFill>
                  <a:schemeClr val="dk1"/>
                </a:solidFill>
                <a:latin typeface="Times New Roman"/>
                <a:ea typeface="Times New Roman"/>
                <a:cs typeface="Times New Roman"/>
                <a:sym typeface="Times New Roman"/>
              </a:rPr>
              <a:t> may be related to </a:t>
            </a:r>
            <a:r>
              <a:rPr b="1" lang="en-US" sz="2400">
                <a:solidFill>
                  <a:schemeClr val="dk1"/>
                </a:solidFill>
                <a:latin typeface="Times New Roman"/>
                <a:ea typeface="Times New Roman"/>
                <a:cs typeface="Times New Roman"/>
                <a:sym typeface="Times New Roman"/>
              </a:rPr>
              <a:t>yesterday's electricity demand</a:t>
            </a:r>
            <a:r>
              <a:rPr lang="en-US" sz="2400">
                <a:solidFill>
                  <a:schemeClr val="dk1"/>
                </a:solidFill>
                <a:latin typeface="Times New Roman"/>
                <a:ea typeface="Times New Roman"/>
                <a:cs typeface="Times New Roman"/>
                <a:sym typeface="Times New Roman"/>
              </a:rPr>
              <a:t>.Therefore, the model errors may also show a time-dependent pattern.</a:t>
            </a:r>
            <a:endParaRPr sz="2400">
              <a:solidFill>
                <a:schemeClr val="dk1"/>
              </a:solidFill>
              <a:latin typeface="Times New Roman"/>
              <a:ea typeface="Times New Roman"/>
              <a:cs typeface="Times New Roman"/>
              <a:sym typeface="Times New Roman"/>
            </a:endParaRPr>
          </a:p>
        </p:txBody>
      </p:sp>
      <p:pic>
        <p:nvPicPr>
          <p:cNvPr id="259" name="Google Shape;259;h54bad88e4038c330_0_0"/>
          <p:cNvPicPr preferRelativeResize="0"/>
          <p:nvPr/>
        </p:nvPicPr>
        <p:blipFill>
          <a:blip r:embed="rId3">
            <a:alphaModFix/>
          </a:blip>
          <a:stretch>
            <a:fillRect/>
          </a:stretch>
        </p:blipFill>
        <p:spPr>
          <a:xfrm>
            <a:off x="152400" y="3656425"/>
            <a:ext cx="3728900" cy="1179550"/>
          </a:xfrm>
          <a:prstGeom prst="rect">
            <a:avLst/>
          </a:prstGeom>
          <a:noFill/>
          <a:ln cap="flat" cmpd="sng" w="9525">
            <a:solidFill>
              <a:schemeClr val="dk1"/>
            </a:solidFill>
            <a:prstDash val="solid"/>
            <a:round/>
            <a:headEnd len="sm" w="sm" type="none"/>
            <a:tailEnd len="sm" w="sm" type="none"/>
          </a:ln>
        </p:spPr>
      </p:pic>
      <p:sp>
        <p:nvSpPr>
          <p:cNvPr id="260" name="Google Shape;260;h54bad88e4038c330_0_0"/>
          <p:cNvSpPr txBox="1"/>
          <p:nvPr/>
        </p:nvSpPr>
        <p:spPr>
          <a:xfrm>
            <a:off x="4074050" y="3504025"/>
            <a:ext cx="7940100" cy="3449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US" spc="12" sz="2400">
                <a:solidFill>
                  <a:srgbClr val="273239"/>
                </a:solidFill>
                <a:highlight>
                  <a:srgbClr val="FFFFFF"/>
                </a:highlight>
                <a:latin typeface="Nunito"/>
                <a:ea typeface="Nunito"/>
                <a:cs typeface="Nunito"/>
                <a:sym typeface="Nunito"/>
              </a:rPr>
              <a:t>where</a:t>
            </a:r>
            <a:endParaRPr spc="12" sz="2400">
              <a:solidFill>
                <a:srgbClr val="273239"/>
              </a:solidFill>
              <a:highlight>
                <a:srgbClr val="FFFFFF"/>
              </a:highlight>
              <a:latin typeface="Nunito"/>
              <a:ea typeface="Nunito"/>
              <a:cs typeface="Nunito"/>
              <a:sym typeface="Nunito"/>
            </a:endParaRPr>
          </a:p>
          <a:p>
            <a:pPr indent="-381000" lvl="0" marL="685800" rtl="0" algn="l">
              <a:lnSpc>
                <a:spcPct val="160000"/>
              </a:lnSpc>
              <a:spcBef>
                <a:spcPts val="800"/>
              </a:spcBef>
              <a:spcAft>
                <a:spcPts val="0"/>
              </a:spcAft>
              <a:buClr>
                <a:srgbClr val="273239"/>
              </a:buClr>
              <a:buSzPts val="2400"/>
              <a:buFont typeface="Nunito"/>
              <a:buChar char="●"/>
            </a:pPr>
            <a:r>
              <a:rPr lang="en-US" spc="12" sz="2400">
                <a:solidFill>
                  <a:srgbClr val="273239"/>
                </a:solidFill>
                <a:highlight>
                  <a:srgbClr val="FFFFFF"/>
                </a:highlight>
                <a:latin typeface="Times New Roman"/>
                <a:ea typeface="Times New Roman"/>
                <a:cs typeface="Times New Roman"/>
                <a:sym typeface="Times New Roman"/>
              </a:rPr>
              <a:t>Xt:</a:t>
            </a:r>
            <a:r>
              <a:rPr lang="en-US" spc="12" sz="2400">
                <a:solidFill>
                  <a:srgbClr val="273239"/>
                </a:solidFill>
                <a:highlight>
                  <a:srgbClr val="FFFFFF"/>
                </a:highlight>
                <a:latin typeface="Nunito"/>
                <a:ea typeface="Nunito"/>
                <a:cs typeface="Nunito"/>
                <a:sym typeface="Nunito"/>
              </a:rPr>
              <a:t>: Value at time</a:t>
            </a:r>
            <a:endParaRPr i="1" spc="12" sz="2400">
              <a:solidFill>
                <a:srgbClr val="273239"/>
              </a:solidFill>
              <a:highlight>
                <a:srgbClr val="FFFFFF"/>
              </a:highlight>
              <a:latin typeface="Times New Roman"/>
              <a:ea typeface="Times New Roman"/>
              <a:cs typeface="Times New Roman"/>
              <a:sym typeface="Times New Roman"/>
            </a:endParaRPr>
          </a:p>
          <a:p>
            <a:pPr indent="-381000" lvl="0" marL="685800" rtl="0" algn="l">
              <a:lnSpc>
                <a:spcPct val="160000"/>
              </a:lnSpc>
              <a:spcBef>
                <a:spcPts val="0"/>
              </a:spcBef>
              <a:spcAft>
                <a:spcPts val="0"/>
              </a:spcAft>
              <a:buClr>
                <a:srgbClr val="273239"/>
              </a:buClr>
              <a:buSzPts val="2400"/>
              <a:buFont typeface="Nunito"/>
              <a:buChar char="●"/>
            </a:pPr>
            <a:r>
              <a:rPr lang="en-US" spc="12" sz="2400">
                <a:solidFill>
                  <a:srgbClr val="273239"/>
                </a:solidFill>
                <a:highlight>
                  <a:srgbClr val="FFFFFF"/>
                </a:highlight>
                <a:latin typeface="Times New Roman"/>
                <a:ea typeface="Times New Roman"/>
                <a:cs typeface="Times New Roman"/>
                <a:sym typeface="Times New Roman"/>
              </a:rPr>
              <a:t>Xt−k :</a:t>
            </a:r>
            <a:r>
              <a:rPr lang="en-US" spc="12" sz="2400">
                <a:solidFill>
                  <a:srgbClr val="273239"/>
                </a:solidFill>
                <a:highlight>
                  <a:srgbClr val="FFFFFF"/>
                </a:highlight>
                <a:latin typeface="Nunito"/>
                <a:ea typeface="Nunito"/>
                <a:cs typeface="Nunito"/>
                <a:sym typeface="Nunito"/>
              </a:rPr>
              <a:t> Value at time</a:t>
            </a:r>
            <a:endParaRPr spc="12" sz="2400">
              <a:solidFill>
                <a:srgbClr val="273239"/>
              </a:solidFill>
              <a:highlight>
                <a:srgbClr val="FFFFFF"/>
              </a:highlight>
              <a:latin typeface="Times New Roman"/>
              <a:ea typeface="Times New Roman"/>
              <a:cs typeface="Times New Roman"/>
              <a:sym typeface="Times New Roman"/>
            </a:endParaRPr>
          </a:p>
          <a:p>
            <a:pPr indent="-381000" lvl="0" marL="685800" rtl="0" algn="l">
              <a:lnSpc>
                <a:spcPct val="158000"/>
              </a:lnSpc>
              <a:spcBef>
                <a:spcPts val="0"/>
              </a:spcBef>
              <a:spcAft>
                <a:spcPts val="0"/>
              </a:spcAft>
              <a:buClr>
                <a:srgbClr val="273239"/>
              </a:buClr>
              <a:buSzPts val="2400"/>
              <a:buFont typeface="Nunito"/>
              <a:buChar char="●"/>
            </a:pPr>
            <a:r>
              <a:rPr i="1" lang="en-US" spc="12" sz="2400">
                <a:solidFill>
                  <a:srgbClr val="273239"/>
                </a:solidFill>
                <a:highlight>
                  <a:srgbClr val="FFFFFF"/>
                </a:highlight>
                <a:latin typeface="Times New Roman"/>
                <a:ea typeface="Times New Roman"/>
                <a:cs typeface="Times New Roman"/>
                <a:sym typeface="Times New Roman"/>
              </a:rPr>
              <a:t>k</a:t>
            </a:r>
            <a:r>
              <a:rPr lang="en-US" spc="12" sz="2400">
                <a:solidFill>
                  <a:srgbClr val="273239"/>
                </a:solidFill>
                <a:highlight>
                  <a:srgbClr val="FFFFFF"/>
                </a:highlight>
                <a:latin typeface="Nunito"/>
                <a:ea typeface="Nunito"/>
                <a:cs typeface="Nunito"/>
                <a:sym typeface="Nunito"/>
              </a:rPr>
              <a:t>: Time lag between observations</a:t>
            </a:r>
            <a:endParaRPr spc="12" sz="2400">
              <a:solidFill>
                <a:srgbClr val="273239"/>
              </a:solidFill>
              <a:highlight>
                <a:srgbClr val="FFFFFF"/>
              </a:highlight>
              <a:latin typeface="Times New Roman"/>
              <a:ea typeface="Times New Roman"/>
              <a:cs typeface="Times New Roman"/>
              <a:sym typeface="Times New Roman"/>
            </a:endParaRPr>
          </a:p>
          <a:p>
            <a:pPr indent="-381000" lvl="0" marL="685800" rtl="0" algn="l">
              <a:lnSpc>
                <a:spcPct val="158000"/>
              </a:lnSpc>
              <a:spcBef>
                <a:spcPts val="0"/>
              </a:spcBef>
              <a:spcAft>
                <a:spcPts val="0"/>
              </a:spcAft>
              <a:buClr>
                <a:srgbClr val="273239"/>
              </a:buClr>
              <a:buSzPts val="2400"/>
              <a:buFont typeface="Nunito"/>
              <a:buChar char="●"/>
            </a:pPr>
            <a:r>
              <a:rPr lang="en-US" spc="12" sz="2400">
                <a:solidFill>
                  <a:srgbClr val="273239"/>
                </a:solidFill>
                <a:highlight>
                  <a:srgbClr val="FFFFFF"/>
                </a:highlight>
                <a:latin typeface="Nunito"/>
                <a:ea typeface="Nunito"/>
                <a:cs typeface="Nunito"/>
                <a:sym typeface="Nunito"/>
              </a:rPr>
              <a:t>Cov: Covariance between current &amp; lagged values</a:t>
            </a:r>
            <a:endParaRPr spc="12" sz="2400">
              <a:solidFill>
                <a:srgbClr val="273239"/>
              </a:solidFill>
              <a:highlight>
                <a:srgbClr val="FFFFFF"/>
              </a:highlight>
              <a:latin typeface="Times New Roman"/>
              <a:ea typeface="Times New Roman"/>
              <a:cs typeface="Times New Roman"/>
              <a:sym typeface="Times New Roman"/>
            </a:endParaRPr>
          </a:p>
          <a:p>
            <a:pPr indent="-381000" lvl="0" marL="685800" rtl="0" algn="l">
              <a:lnSpc>
                <a:spcPct val="158000"/>
              </a:lnSpc>
              <a:spcBef>
                <a:spcPts val="0"/>
              </a:spcBef>
              <a:spcAft>
                <a:spcPts val="0"/>
              </a:spcAft>
              <a:buClr>
                <a:srgbClr val="273239"/>
              </a:buClr>
              <a:buSzPts val="2400"/>
              <a:buFont typeface="Nunito"/>
              <a:buChar char="●"/>
            </a:pPr>
            <a:r>
              <a:rPr i="1" lang="en-US" spc="12" sz="2400">
                <a:solidFill>
                  <a:srgbClr val="273239"/>
                </a:solidFill>
                <a:highlight>
                  <a:srgbClr val="FFFFFF"/>
                </a:highlight>
                <a:latin typeface="Times New Roman"/>
                <a:ea typeface="Times New Roman"/>
                <a:cs typeface="Times New Roman"/>
                <a:sym typeface="Times New Roman"/>
              </a:rPr>
              <a:t>σ</a:t>
            </a:r>
            <a:r>
              <a:rPr lang="en-US" spc="12" sz="2400">
                <a:solidFill>
                  <a:srgbClr val="273239"/>
                </a:solidFill>
                <a:highlight>
                  <a:srgbClr val="FFFFFF"/>
                </a:highlight>
                <a:latin typeface="Nunito"/>
                <a:ea typeface="Nunito"/>
                <a:cs typeface="Nunito"/>
                <a:sym typeface="Nunito"/>
              </a:rPr>
              <a:t>: Standard deviation of the respective value.</a:t>
            </a:r>
            <a:endParaRPr i="1" spc="12" sz="2400">
              <a:solidFill>
                <a:srgbClr val="273239"/>
              </a:solidFill>
              <a:highlight>
                <a:srgbClr val="F9F9F9"/>
              </a:highlight>
              <a:latin typeface="Nunito"/>
              <a:ea typeface="Nunito"/>
              <a:cs typeface="Nunito"/>
              <a:sym typeface="Nunito"/>
            </a:endParaRPr>
          </a:p>
        </p:txBody>
      </p:sp>
      <p:sp>
        <p:nvSpPr>
          <p:cNvPr id="261" name="Google Shape;261;h54bad88e4038c330_0_0"/>
          <p:cNvSpPr txBox="1"/>
          <p:nvPr/>
        </p:nvSpPr>
        <p:spPr>
          <a:xfrm>
            <a:off x="269600" y="5055025"/>
            <a:ext cx="3353100" cy="997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254000" marR="254000" rtl="0" algn="l">
              <a:lnSpc>
                <a:spcPct val="120000"/>
              </a:lnSpc>
              <a:spcBef>
                <a:spcPts val="800"/>
              </a:spcBef>
              <a:spcAft>
                <a:spcPts val="2600"/>
              </a:spcAft>
              <a:buNone/>
            </a:pPr>
            <a:r>
              <a:rPr i="1" lang="en-US" spc="12" sz="2400">
                <a:solidFill>
                  <a:srgbClr val="273239"/>
                </a:solidFill>
                <a:highlight>
                  <a:srgbClr val="F9F9F9"/>
                </a:highlight>
                <a:latin typeface="Nunito"/>
                <a:ea typeface="Nunito"/>
                <a:cs typeface="Nunito"/>
                <a:sym typeface="Nunito"/>
              </a:rPr>
              <a:t>value of </a:t>
            </a:r>
            <a:r>
              <a:rPr i="1" lang="en-US" spc="12" sz="2400">
                <a:solidFill>
                  <a:srgbClr val="273239"/>
                </a:solidFill>
                <a:highlight>
                  <a:srgbClr val="F9F9F9"/>
                </a:highlight>
                <a:latin typeface="Times New Roman"/>
                <a:ea typeface="Times New Roman"/>
                <a:cs typeface="Times New Roman"/>
                <a:sym typeface="Times New Roman"/>
              </a:rPr>
              <a:t>ρ</a:t>
            </a:r>
            <a:r>
              <a:rPr lang="en-US" spc="12" sz="2400">
                <a:solidFill>
                  <a:srgbClr val="273239"/>
                </a:solidFill>
                <a:highlight>
                  <a:srgbClr val="F9F9F9"/>
                </a:highlight>
                <a:latin typeface="Times New Roman"/>
                <a:ea typeface="Times New Roman"/>
                <a:cs typeface="Times New Roman"/>
                <a:sym typeface="Times New Roman"/>
              </a:rPr>
              <a:t>(</a:t>
            </a:r>
            <a:r>
              <a:rPr i="1" lang="en-US" spc="12" sz="2400">
                <a:solidFill>
                  <a:srgbClr val="273239"/>
                </a:solidFill>
                <a:highlight>
                  <a:srgbClr val="F9F9F9"/>
                </a:highlight>
                <a:latin typeface="Times New Roman"/>
                <a:ea typeface="Times New Roman"/>
                <a:cs typeface="Times New Roman"/>
                <a:sym typeface="Times New Roman"/>
              </a:rPr>
              <a:t>k</a:t>
            </a:r>
            <a:r>
              <a:rPr lang="en-US" spc="12" sz="2400">
                <a:solidFill>
                  <a:srgbClr val="273239"/>
                </a:solidFill>
                <a:highlight>
                  <a:srgbClr val="F9F9F9"/>
                </a:highlight>
                <a:latin typeface="Times New Roman"/>
                <a:ea typeface="Times New Roman"/>
                <a:cs typeface="Times New Roman"/>
                <a:sym typeface="Times New Roman"/>
              </a:rPr>
              <a:t>)</a:t>
            </a:r>
            <a:r>
              <a:rPr i="1" lang="en-US" spc="12" sz="2400">
                <a:solidFill>
                  <a:srgbClr val="273239"/>
                </a:solidFill>
                <a:highlight>
                  <a:srgbClr val="F9F9F9"/>
                </a:highlight>
                <a:latin typeface="Nunito"/>
                <a:ea typeface="Nunito"/>
                <a:cs typeface="Nunito"/>
                <a:sym typeface="Nunito"/>
              </a:rPr>
              <a:t> lies between -1 and 1</a:t>
            </a:r>
            <a:endParaRPr i="1" spc="12" sz="2400">
              <a:solidFill>
                <a:srgbClr val="273239"/>
              </a:solidFill>
              <a:highlight>
                <a:srgbClr val="F9F9F9"/>
              </a:highlight>
              <a:latin typeface="Nunito"/>
              <a:ea typeface="Nunito"/>
              <a:cs typeface="Nunito"/>
              <a:sym typeface="Nuni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630db3fd719f6c7e_0"/>
          <p:cNvSpPr txBox="1"/>
          <p:nvPr/>
        </p:nvSpPr>
        <p:spPr>
          <a:xfrm>
            <a:off x="582575" y="459925"/>
            <a:ext cx="11456400" cy="634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Types of Autocorrelation:</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Positive Autocorrelation: </a:t>
            </a:r>
            <a:r>
              <a:rPr lang="en-US" sz="2400">
                <a:solidFill>
                  <a:schemeClr val="dk1"/>
                </a:solidFill>
                <a:latin typeface="Times New Roman"/>
                <a:ea typeface="Times New Roman"/>
                <a:cs typeface="Times New Roman"/>
                <a:sym typeface="Times New Roman"/>
              </a:rPr>
              <a:t>Similar residuals tend to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occur together.   </a:t>
            </a:r>
            <a:r>
              <a:rPr lang="en-US" sz="2400">
                <a:solidFill>
                  <a:srgbClr val="188038"/>
                </a:solidFill>
                <a:latin typeface="Times New Roman"/>
                <a:ea typeface="Times New Roman"/>
                <a:cs typeface="Times New Roman"/>
                <a:sym typeface="Times New Roman"/>
              </a:rPr>
              <a:t>+ + + + - - -. </a:t>
            </a:r>
            <a:r>
              <a:rPr lang="en-US" spc="12" sz="2400">
                <a:solidFill>
                  <a:srgbClr val="273239"/>
                </a:solidFill>
                <a:highlight>
                  <a:srgbClr val="FFFFFF"/>
                </a:highlight>
                <a:latin typeface="Times New Roman"/>
                <a:ea typeface="Times New Roman"/>
                <a:cs typeface="Times New Roman"/>
                <a:sym typeface="Times New Roman"/>
              </a:rPr>
              <a:t>ρ(k)=1, </a:t>
            </a:r>
            <a:r>
              <a:rPr lang="en-US" spc="12" sz="2400">
                <a:solidFill>
                  <a:srgbClr val="273239"/>
                </a:solidFill>
                <a:highlight>
                  <a:srgbClr val="FFFFFF"/>
                </a:highlight>
                <a:latin typeface="Nunito"/>
                <a:ea typeface="Nunito"/>
                <a:cs typeface="Nunito"/>
                <a:sym typeface="Nunito"/>
              </a:rPr>
              <a:t>indicates </a:t>
            </a:r>
            <a:endParaRPr spc="12" sz="2400">
              <a:solidFill>
                <a:srgbClr val="273239"/>
              </a:solidFill>
              <a:highlight>
                <a:srgbClr val="FFFFFF"/>
              </a:highlight>
              <a:latin typeface="Nunito"/>
              <a:ea typeface="Nunito"/>
              <a:cs typeface="Nunito"/>
              <a:sym typeface="Nunito"/>
            </a:endParaRPr>
          </a:p>
          <a:p>
            <a:pPr indent="0" lvl="0" marL="0" rtl="0" algn="l">
              <a:lnSpc>
                <a:spcPct val="115000"/>
              </a:lnSpc>
              <a:spcBef>
                <a:spcPts val="1200"/>
              </a:spcBef>
              <a:spcAft>
                <a:spcPts val="0"/>
              </a:spcAft>
              <a:buNone/>
            </a:pPr>
            <a:r>
              <a:rPr lang="en-US" spc="12" sz="2400">
                <a:solidFill>
                  <a:srgbClr val="273239"/>
                </a:solidFill>
                <a:highlight>
                  <a:srgbClr val="FFFFFF"/>
                </a:highlight>
                <a:latin typeface="Nunito"/>
                <a:ea typeface="Nunito"/>
                <a:cs typeface="Nunito"/>
                <a:sym typeface="Nunito"/>
              </a:rPr>
              <a:t>persistence where high values are likely to </a:t>
            </a:r>
            <a:endParaRPr spc="12" sz="2400">
              <a:solidFill>
                <a:srgbClr val="273239"/>
              </a:solidFill>
              <a:highlight>
                <a:srgbClr val="FFFFFF"/>
              </a:highlight>
              <a:latin typeface="Nunito"/>
              <a:ea typeface="Nunito"/>
              <a:cs typeface="Nunito"/>
              <a:sym typeface="Nunito"/>
            </a:endParaRPr>
          </a:p>
          <a:p>
            <a:pPr indent="0" lvl="0" marL="0" rtl="0" algn="l">
              <a:lnSpc>
                <a:spcPct val="115000"/>
              </a:lnSpc>
              <a:spcBef>
                <a:spcPts val="1200"/>
              </a:spcBef>
              <a:spcAft>
                <a:spcPts val="0"/>
              </a:spcAft>
              <a:buNone/>
            </a:pPr>
            <a:r>
              <a:rPr lang="en-US" spc="12" sz="2400">
                <a:solidFill>
                  <a:srgbClr val="273239"/>
                </a:solidFill>
                <a:highlight>
                  <a:srgbClr val="FFFFFF"/>
                </a:highlight>
                <a:latin typeface="Nunito"/>
                <a:ea typeface="Nunito"/>
                <a:cs typeface="Nunito"/>
                <a:sym typeface="Nunito"/>
              </a:rPr>
              <a:t>be followed by high values and low values </a:t>
            </a:r>
            <a:endParaRPr spc="12" sz="2400">
              <a:solidFill>
                <a:srgbClr val="273239"/>
              </a:solidFill>
              <a:highlight>
                <a:srgbClr val="FFFFFF"/>
              </a:highlight>
              <a:latin typeface="Nunito"/>
              <a:ea typeface="Nunito"/>
              <a:cs typeface="Nunito"/>
              <a:sym typeface="Nunito"/>
            </a:endParaRPr>
          </a:p>
          <a:p>
            <a:pPr indent="0" lvl="0" marL="0" rtl="0" algn="l">
              <a:lnSpc>
                <a:spcPct val="115000"/>
              </a:lnSpc>
              <a:spcBef>
                <a:spcPts val="1200"/>
              </a:spcBef>
              <a:spcAft>
                <a:spcPts val="0"/>
              </a:spcAft>
              <a:buNone/>
            </a:pPr>
            <a:r>
              <a:rPr lang="en-US" spc="12" sz="2400">
                <a:solidFill>
                  <a:srgbClr val="273239"/>
                </a:solidFill>
                <a:highlight>
                  <a:srgbClr val="FFFFFF"/>
                </a:highlight>
                <a:latin typeface="Nunito"/>
                <a:ea typeface="Nunito"/>
                <a:cs typeface="Nunito"/>
                <a:sym typeface="Nunito"/>
              </a:rPr>
              <a:t>by low values.</a:t>
            </a:r>
            <a:endParaRPr spc="12" sz="2400">
              <a:solidFill>
                <a:srgbClr val="273239"/>
              </a:solidFill>
              <a:highlight>
                <a:srgbClr val="FFFFFF"/>
              </a:highlight>
              <a:latin typeface="Nunito"/>
              <a:ea typeface="Nunito"/>
              <a:cs typeface="Nunito"/>
              <a:sym typeface="Nunito"/>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Negative Autocorrelation: </a:t>
            </a:r>
            <a:r>
              <a:rPr lang="en-US" sz="2400">
                <a:solidFill>
                  <a:schemeClr val="dk1"/>
                </a:solidFill>
                <a:latin typeface="Times New Roman"/>
                <a:ea typeface="Times New Roman"/>
                <a:cs typeface="Times New Roman"/>
                <a:sym typeface="Times New Roman"/>
              </a:rPr>
              <a:t>Residuals tend to alternate.   </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 </a:t>
            </a:r>
            <a:r>
              <a:rPr lang="en-US" sz="2400">
                <a:solidFill>
                  <a:srgbClr val="188038"/>
                </a:solidFill>
                <a:latin typeface="Times New Roman"/>
                <a:ea typeface="Times New Roman"/>
                <a:cs typeface="Times New Roman"/>
                <a:sym typeface="Times New Roman"/>
              </a:rPr>
              <a:t>+ - + - + -. </a:t>
            </a:r>
            <a:r>
              <a:rPr i="1" lang="en-US" spc="12" sz="2400">
                <a:solidFill>
                  <a:srgbClr val="273239"/>
                </a:solidFill>
                <a:highlight>
                  <a:srgbClr val="FFFFFF"/>
                </a:highlight>
                <a:latin typeface="Times New Roman"/>
                <a:ea typeface="Times New Roman"/>
                <a:cs typeface="Times New Roman"/>
                <a:sym typeface="Times New Roman"/>
              </a:rPr>
              <a:t>ρ</a:t>
            </a:r>
            <a:r>
              <a:rPr lang="en-US" spc="12" sz="2400">
                <a:solidFill>
                  <a:srgbClr val="273239"/>
                </a:solidFill>
                <a:highlight>
                  <a:srgbClr val="FFFFFF"/>
                </a:highlight>
                <a:latin typeface="Times New Roman"/>
                <a:ea typeface="Times New Roman"/>
                <a:cs typeface="Times New Roman"/>
                <a:sym typeface="Times New Roman"/>
              </a:rPr>
              <a:t>(</a:t>
            </a:r>
            <a:r>
              <a:rPr i="1" lang="en-US" spc="12" sz="2400">
                <a:solidFill>
                  <a:srgbClr val="273239"/>
                </a:solidFill>
                <a:highlight>
                  <a:srgbClr val="FFFFFF"/>
                </a:highlight>
                <a:latin typeface="Times New Roman"/>
                <a:ea typeface="Times New Roman"/>
                <a:cs typeface="Times New Roman"/>
                <a:sym typeface="Times New Roman"/>
              </a:rPr>
              <a:t>k</a:t>
            </a:r>
            <a:r>
              <a:rPr lang="en-US" spc="12" sz="2400">
                <a:solidFill>
                  <a:srgbClr val="273239"/>
                </a:solidFill>
                <a:highlight>
                  <a:srgbClr val="FFFFFF"/>
                </a:highlight>
                <a:latin typeface="Times New Roman"/>
                <a:ea typeface="Times New Roman"/>
                <a:cs typeface="Times New Roman"/>
                <a:sym typeface="Times New Roman"/>
              </a:rPr>
              <a:t>)=−1) indicates reversal, meaning an </a:t>
            </a:r>
            <a:endParaRPr spc="12" sz="2400">
              <a:solidFill>
                <a:srgbClr val="273239"/>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pc="12" sz="2400">
                <a:solidFill>
                  <a:srgbClr val="273239"/>
                </a:solidFill>
                <a:highlight>
                  <a:srgbClr val="FFFFFF"/>
                </a:highlight>
                <a:latin typeface="Times New Roman"/>
                <a:ea typeface="Times New Roman"/>
                <a:cs typeface="Times New Roman"/>
                <a:sym typeface="Times New Roman"/>
              </a:rPr>
              <a:t>increase is likely to be followed by a decrease and vice </a:t>
            </a:r>
            <a:endParaRPr spc="12" sz="2400">
              <a:solidFill>
                <a:srgbClr val="273239"/>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pc="12" sz="2400">
                <a:solidFill>
                  <a:srgbClr val="273239"/>
                </a:solidFill>
                <a:highlight>
                  <a:srgbClr val="FFFFFF"/>
                </a:highlight>
                <a:latin typeface="Times New Roman"/>
                <a:ea typeface="Times New Roman"/>
                <a:cs typeface="Times New Roman"/>
                <a:sym typeface="Times New Roman"/>
              </a:rPr>
              <a:t>versa.</a:t>
            </a:r>
            <a:r>
              <a:rPr lang="en-US" sz="2400">
                <a:solidFill>
                  <a:schemeClr val="dk1"/>
                </a:solidFill>
                <a:latin typeface="Times New Roman"/>
                <a:ea typeface="Times New Roman"/>
                <a:cs typeface="Times New Roman"/>
                <a:sym typeface="Times New Roman"/>
              </a:rPr>
              <a:t> </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t/>
            </a:r>
            <a:endParaRPr sz="2400">
              <a:solidFill>
                <a:schemeClr val="dk1"/>
              </a:solidFill>
              <a:latin typeface="Times New Roman"/>
              <a:ea typeface="Times New Roman"/>
              <a:cs typeface="Times New Roman"/>
              <a:sym typeface="Times New Roman"/>
            </a:endParaRPr>
          </a:p>
        </p:txBody>
      </p:sp>
      <p:pic>
        <p:nvPicPr>
          <p:cNvPr id="267" name="Google Shape;267;g630db3fd719f6c7e_0"/>
          <p:cNvPicPr preferRelativeResize="0"/>
          <p:nvPr/>
        </p:nvPicPr>
        <p:blipFill>
          <a:blip r:embed="rId3">
            <a:alphaModFix/>
          </a:blip>
          <a:stretch>
            <a:fillRect/>
          </a:stretch>
        </p:blipFill>
        <p:spPr>
          <a:xfrm>
            <a:off x="7181088" y="459913"/>
            <a:ext cx="4857750" cy="2295525"/>
          </a:xfrm>
          <a:prstGeom prst="rect">
            <a:avLst/>
          </a:prstGeom>
          <a:noFill/>
          <a:ln cap="flat" cmpd="sng" w="9525">
            <a:solidFill>
              <a:schemeClr val="dk1"/>
            </a:solidFill>
            <a:prstDash val="solid"/>
            <a:round/>
            <a:headEnd len="sm" w="sm" type="none"/>
            <a:tailEnd len="sm" w="sm" type="none"/>
          </a:ln>
        </p:spPr>
      </p:pic>
      <p:pic>
        <p:nvPicPr>
          <p:cNvPr id="268" name="Google Shape;268;g630db3fd719f6c7e_0"/>
          <p:cNvPicPr preferRelativeResize="0"/>
          <p:nvPr/>
        </p:nvPicPr>
        <p:blipFill>
          <a:blip r:embed="rId4">
            <a:alphaModFix/>
          </a:blip>
          <a:stretch>
            <a:fillRect/>
          </a:stretch>
        </p:blipFill>
        <p:spPr>
          <a:xfrm>
            <a:off x="7692046" y="3194800"/>
            <a:ext cx="4247404" cy="2561675"/>
          </a:xfrm>
          <a:prstGeom prst="rect">
            <a:avLst/>
          </a:prstGeom>
          <a:noFill/>
          <a:ln cap="flat" cmpd="sng" w="9525">
            <a:solidFill>
              <a:srgbClr val="333333"/>
            </a:solidFill>
            <a:prstDash val="solid"/>
            <a:round/>
            <a:headEnd len="sm" w="sm" type="none"/>
            <a:tailEnd len="sm" w="sm" type="none"/>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h54bad88e4038c330_0_21"/>
          <p:cNvSpPr txBox="1"/>
          <p:nvPr/>
        </p:nvSpPr>
        <p:spPr>
          <a:xfrm>
            <a:off x="286550" y="286550"/>
            <a:ext cx="11404500" cy="503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No Autocorrelation: </a:t>
            </a:r>
            <a:r>
              <a:rPr lang="en-US" sz="2400">
                <a:solidFill>
                  <a:schemeClr val="dk1"/>
                </a:solidFill>
                <a:latin typeface="Times New Roman"/>
                <a:ea typeface="Times New Roman"/>
                <a:cs typeface="Times New Roman"/>
                <a:sym typeface="Times New Roman"/>
              </a:rPr>
              <a:t>No systematic pattern.       </a:t>
            </a:r>
            <a:r>
              <a:rPr lang="en-US" sz="2400">
                <a:solidFill>
                  <a:srgbClr val="188038"/>
                </a:solidFill>
                <a:latin typeface="Times New Roman"/>
                <a:ea typeface="Times New Roman"/>
                <a:cs typeface="Times New Roman"/>
                <a:sym typeface="Times New Roman"/>
              </a:rPr>
              <a:t>+ - + + - - + -</a:t>
            </a:r>
            <a:endParaRPr spc="12" sz="1650">
              <a:solidFill>
                <a:srgbClr val="273239"/>
              </a:solidFill>
              <a:highlight>
                <a:srgbClr val="FFFFFF"/>
              </a:highlight>
              <a:latin typeface="Times New Roman"/>
              <a:ea typeface="Times New Roman"/>
              <a:cs typeface="Times New Roman"/>
              <a:sym typeface="Times New Roman"/>
            </a:endParaRPr>
          </a:p>
          <a:p>
            <a:pPr indent="-381000" lvl="0" marL="685800" rtl="0" algn="l">
              <a:lnSpc>
                <a:spcPct val="158000"/>
              </a:lnSpc>
              <a:spcBef>
                <a:spcPts val="1200"/>
              </a:spcBef>
              <a:spcAft>
                <a:spcPts val="0"/>
              </a:spcAft>
              <a:buClr>
                <a:srgbClr val="273239"/>
              </a:buClr>
              <a:buSzPts val="2400"/>
              <a:buFont typeface="Nunito"/>
              <a:buChar char="●"/>
            </a:pPr>
            <a:r>
              <a:rPr lang="en-US" spc="12" sz="2400">
                <a:solidFill>
                  <a:srgbClr val="273239"/>
                </a:solidFill>
                <a:highlight>
                  <a:srgbClr val="FFFFFF"/>
                </a:highlight>
                <a:latin typeface="Times New Roman"/>
                <a:ea typeface="Times New Roman"/>
                <a:cs typeface="Times New Roman"/>
                <a:sym typeface="Times New Roman"/>
              </a:rPr>
              <a:t>(</a:t>
            </a:r>
            <a:r>
              <a:rPr i="1" lang="en-US" spc="12" sz="2400">
                <a:solidFill>
                  <a:srgbClr val="273239"/>
                </a:solidFill>
                <a:highlight>
                  <a:srgbClr val="FFFFFF"/>
                </a:highlight>
                <a:latin typeface="Times New Roman"/>
                <a:ea typeface="Times New Roman"/>
                <a:cs typeface="Times New Roman"/>
                <a:sym typeface="Times New Roman"/>
              </a:rPr>
              <a:t>ρ</a:t>
            </a:r>
            <a:r>
              <a:rPr lang="en-US" spc="12" sz="2400">
                <a:solidFill>
                  <a:srgbClr val="273239"/>
                </a:solidFill>
                <a:highlight>
                  <a:srgbClr val="FFFFFF"/>
                </a:highlight>
                <a:latin typeface="Times New Roman"/>
                <a:ea typeface="Times New Roman"/>
                <a:cs typeface="Times New Roman"/>
                <a:sym typeface="Times New Roman"/>
              </a:rPr>
              <a:t>(</a:t>
            </a:r>
            <a:r>
              <a:rPr i="1" lang="en-US" spc="12" sz="2400">
                <a:solidFill>
                  <a:srgbClr val="273239"/>
                </a:solidFill>
                <a:highlight>
                  <a:srgbClr val="FFFFFF"/>
                </a:highlight>
                <a:latin typeface="Times New Roman"/>
                <a:ea typeface="Times New Roman"/>
                <a:cs typeface="Times New Roman"/>
                <a:sym typeface="Times New Roman"/>
              </a:rPr>
              <a:t>k</a:t>
            </a:r>
            <a:r>
              <a:rPr lang="en-US" spc="12" sz="2400">
                <a:solidFill>
                  <a:srgbClr val="273239"/>
                </a:solidFill>
                <a:highlight>
                  <a:srgbClr val="FFFFFF"/>
                </a:highlight>
                <a:latin typeface="Times New Roman"/>
                <a:ea typeface="Times New Roman"/>
                <a:cs typeface="Times New Roman"/>
                <a:sym typeface="Times New Roman"/>
              </a:rPr>
              <a:t>)=0)</a:t>
            </a:r>
            <a:r>
              <a:rPr lang="en-US" spc="12" sz="2400">
                <a:solidFill>
                  <a:srgbClr val="273239"/>
                </a:solidFill>
                <a:highlight>
                  <a:srgbClr val="FFFFFF"/>
                </a:highlight>
                <a:latin typeface="Nunito"/>
                <a:ea typeface="Nunito"/>
                <a:cs typeface="Nunito"/>
                <a:sym typeface="Nunito"/>
              </a:rPr>
              <a:t> no linear correlation.</a:t>
            </a:r>
            <a:endParaRPr sz="2400">
              <a:solidFill>
                <a:srgbClr val="188038"/>
              </a:solidFill>
              <a:latin typeface="Times New Roman"/>
              <a:ea typeface="Times New Roman"/>
              <a:cs typeface="Times New Roman"/>
              <a:sym typeface="Times New Roman"/>
            </a:endParaRPr>
          </a:p>
          <a:p>
            <a:pPr indent="0" lvl="0" marL="0" rtl="0" algn="l">
              <a:lnSpc>
                <a:spcPct val="115000"/>
              </a:lnSpc>
              <a:spcBef>
                <a:spcPts val="2400"/>
              </a:spcBef>
              <a:spcAft>
                <a:spcPts val="0"/>
              </a:spcAft>
              <a:buNone/>
            </a:pPr>
            <a:r>
              <a:rPr b="1" lang="en-US" sz="2400">
                <a:solidFill>
                  <a:schemeClr val="dk1"/>
                </a:solidFill>
                <a:latin typeface="Times New Roman"/>
                <a:ea typeface="Times New Roman"/>
                <a:cs typeface="Times New Roman"/>
                <a:sym typeface="Times New Roman"/>
              </a:rPr>
              <a:t>Why is autocorrelation a problem?</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Autocorrelation generally </a:t>
            </a:r>
            <a:r>
              <a:rPr b="1" lang="en-US" sz="2400">
                <a:solidFill>
                  <a:schemeClr val="dk1"/>
                </a:solidFill>
                <a:latin typeface="Times New Roman"/>
                <a:ea typeface="Times New Roman"/>
                <a:cs typeface="Times New Roman"/>
                <a:sym typeface="Times New Roman"/>
              </a:rPr>
              <a:t>does not necessarily make the regression coefficients biased</a:t>
            </a:r>
            <a:r>
              <a:rPr lang="en-US" sz="2400">
                <a:solidFill>
                  <a:schemeClr val="dk1"/>
                </a:solidFill>
                <a:latin typeface="Times New Roman"/>
                <a:ea typeface="Times New Roman"/>
                <a:cs typeface="Times New Roman"/>
                <a:sym typeface="Times New Roman"/>
              </a:rPr>
              <a:t>, but it makes the usual standard errors and statistical tests unreliable under the classical assumptions.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It can result in: </a:t>
            </a:r>
            <a:r>
              <a:rPr lang="en-US" sz="2400">
                <a:solidFill>
                  <a:schemeClr val="dk1"/>
                </a:solidFill>
                <a:latin typeface="Times New Roman"/>
                <a:ea typeface="Times New Roman"/>
                <a:cs typeface="Times New Roman"/>
                <a:sym typeface="Times New Roman"/>
              </a:rPr>
              <a:t>Incorrect standard errors, Misleading t-tests, Misleading p-values, Incorrect confidence intervals, Poor statistical conclusions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2400">
                <a:solidFill>
                  <a:schemeClr val="dk1"/>
                </a:solidFill>
                <a:latin typeface="Times New Roman"/>
                <a:ea typeface="Times New Roman"/>
                <a:cs typeface="Times New Roman"/>
                <a:sym typeface="Times New Roman"/>
              </a:rPr>
              <a:t>So a predictor may appear </a:t>
            </a:r>
            <a:r>
              <a:rPr b="1" lang="en-US" sz="2400">
                <a:solidFill>
                  <a:schemeClr val="dk1"/>
                </a:solidFill>
                <a:latin typeface="Times New Roman"/>
                <a:ea typeface="Times New Roman"/>
                <a:cs typeface="Times New Roman"/>
                <a:sym typeface="Times New Roman"/>
              </a:rPr>
              <a:t>statistically significant when it is actually not</a:t>
            </a:r>
            <a:r>
              <a:rPr lang="en-US" sz="2400">
                <a:solidFill>
                  <a:schemeClr val="dk1"/>
                </a:solidFill>
                <a:latin typeface="Times New Roman"/>
                <a:ea typeface="Times New Roman"/>
                <a:cs typeface="Times New Roman"/>
                <a:sym typeface="Times New Roman"/>
              </a:rPr>
              <a:t>, or vice versa.</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g630db3fd719f6c7e_10"/>
          <p:cNvSpPr txBox="1"/>
          <p:nvPr/>
        </p:nvSpPr>
        <p:spPr>
          <a:xfrm>
            <a:off x="0" y="0"/>
            <a:ext cx="11655900" cy="694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latin typeface="Times New Roman"/>
                <a:ea typeface="Times New Roman"/>
                <a:cs typeface="Times New Roman"/>
                <a:sym typeface="Times New Roman"/>
              </a:rPr>
              <a:t>How do we detect autocorrelation?</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A very common method is the:</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Durbin–Watson Test</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The Durbin-Watson statistic is: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DW</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where e</a:t>
            </a:r>
            <a:r>
              <a:rPr baseline="-25000" lang="en-US" sz="2400">
                <a:solidFill>
                  <a:schemeClr val="dk1"/>
                </a:solidFill>
                <a:latin typeface="Times New Roman"/>
                <a:ea typeface="Times New Roman"/>
                <a:cs typeface="Times New Roman"/>
                <a:sym typeface="Times New Roman"/>
              </a:rPr>
              <a:t>t</a:t>
            </a:r>
            <a:r>
              <a:rPr lang="en-US" sz="2400">
                <a:solidFill>
                  <a:schemeClr val="dk1"/>
                </a:solidFill>
                <a:latin typeface="Times New Roman"/>
                <a:ea typeface="Times New Roman"/>
                <a:cs typeface="Times New Roman"/>
                <a:sym typeface="Times New Roman"/>
              </a:rPr>
              <a:t> is the regression residual.</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The value is approximately between </a:t>
            </a:r>
            <a:r>
              <a:rPr b="1" lang="en-US" sz="2400">
                <a:solidFill>
                  <a:schemeClr val="dk1"/>
                </a:solidFill>
                <a:latin typeface="Times New Roman"/>
                <a:ea typeface="Times New Roman"/>
                <a:cs typeface="Times New Roman"/>
                <a:sym typeface="Times New Roman"/>
              </a:rPr>
              <a:t>0 and 4</a:t>
            </a:r>
            <a:r>
              <a:rPr lang="en-US" sz="2400">
                <a:solidFill>
                  <a:schemeClr val="dk1"/>
                </a:solidFill>
                <a:latin typeface="Times New Roman"/>
                <a:ea typeface="Times New Roman"/>
                <a:cs typeface="Times New Roman"/>
                <a:sym typeface="Times New Roman"/>
              </a:rPr>
              <a:t>. Formal Durbin-Watson inference depends on sample size and model conditions.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2400"/>
              </a:spcBef>
              <a:spcAft>
                <a:spcPts val="0"/>
              </a:spcAft>
              <a:buNone/>
            </a:pPr>
            <a:r>
              <a:rPr b="1" lang="en-US" sz="2400">
                <a:solidFill>
                  <a:schemeClr val="dk1"/>
                </a:solidFill>
                <a:latin typeface="Times New Roman"/>
                <a:ea typeface="Times New Roman"/>
                <a:cs typeface="Times New Roman"/>
                <a:sym typeface="Times New Roman"/>
              </a:rPr>
              <a:t>Residual Plot: </a:t>
            </a:r>
            <a:r>
              <a:rPr lang="en-US" sz="2400">
                <a:solidFill>
                  <a:schemeClr val="dk1"/>
                </a:solidFill>
                <a:latin typeface="Times New Roman"/>
                <a:ea typeface="Times New Roman"/>
                <a:cs typeface="Times New Roman"/>
                <a:sym typeface="Times New Roman"/>
              </a:rPr>
              <a:t>Residuals should ideally </a:t>
            </a:r>
            <a:r>
              <a:rPr b="1" lang="en-US" sz="2400">
                <a:solidFill>
                  <a:schemeClr val="dk1"/>
                </a:solidFill>
                <a:latin typeface="Times New Roman"/>
                <a:ea typeface="Times New Roman"/>
                <a:cs typeface="Times New Roman"/>
                <a:sym typeface="Times New Roman"/>
              </a:rPr>
              <a:t>not show</a:t>
            </a:r>
            <a:r>
              <a:rPr lang="en-US" sz="2400">
                <a:solidFill>
                  <a:schemeClr val="dk1"/>
                </a:solidFill>
                <a:latin typeface="Times New Roman"/>
                <a:ea typeface="Times New Roman"/>
                <a:cs typeface="Times New Roman"/>
                <a:sym typeface="Times New Roman"/>
              </a:rPr>
              <a:t> a systematic time pattern.</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Another useful approach is to plot residuals against </a:t>
            </a:r>
            <a:r>
              <a:rPr b="1" lang="en-US" sz="2400">
                <a:solidFill>
                  <a:schemeClr val="dk1"/>
                </a:solidFill>
                <a:latin typeface="Times New Roman"/>
                <a:ea typeface="Times New Roman"/>
                <a:cs typeface="Times New Roman"/>
                <a:sym typeface="Times New Roman"/>
              </a:rPr>
              <a:t>time/order of observation</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If we see: </a:t>
            </a:r>
            <a:r>
              <a:rPr b="1" lang="en-US" sz="2400">
                <a:solidFill>
                  <a:schemeClr val="dk1"/>
                </a:solidFill>
                <a:latin typeface="Times New Roman"/>
                <a:ea typeface="Times New Roman"/>
                <a:cs typeface="Times New Roman"/>
                <a:sym typeface="Times New Roman"/>
              </a:rPr>
              <a:t>Random pattern: </a:t>
            </a:r>
            <a:r>
              <a:rPr lang="en-US" sz="2400">
                <a:solidFill>
                  <a:srgbClr val="188038"/>
                </a:solidFill>
                <a:latin typeface="Times New Roman"/>
                <a:ea typeface="Times New Roman"/>
                <a:cs typeface="Times New Roman"/>
                <a:sym typeface="Times New Roman"/>
              </a:rPr>
              <a:t>+ - + - + -    </a:t>
            </a:r>
            <a:r>
              <a:rPr lang="en-US" sz="2400">
                <a:solidFill>
                  <a:schemeClr val="dk1"/>
                </a:solidFill>
                <a:latin typeface="Times New Roman"/>
                <a:ea typeface="Times New Roman"/>
                <a:cs typeface="Times New Roman"/>
                <a:sym typeface="Times New Roman"/>
              </a:rPr>
              <a:t>→    autocorrelation less likely.</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2400">
                <a:solidFill>
                  <a:schemeClr val="dk1"/>
                </a:solidFill>
                <a:latin typeface="Times New Roman"/>
                <a:ea typeface="Times New Roman"/>
                <a:cs typeface="Times New Roman"/>
                <a:sym typeface="Times New Roman"/>
              </a:rPr>
              <a:t>If we see:      </a:t>
            </a:r>
            <a:r>
              <a:rPr lang="en-US" sz="2400">
                <a:solidFill>
                  <a:srgbClr val="188038"/>
                </a:solidFill>
                <a:latin typeface="Times New Roman"/>
                <a:ea typeface="Times New Roman"/>
                <a:cs typeface="Times New Roman"/>
                <a:sym typeface="Times New Roman"/>
              </a:rPr>
              <a:t>+ + + + - - - -  </a:t>
            </a:r>
            <a:r>
              <a:rPr lang="en-US" sz="2400">
                <a:solidFill>
                  <a:schemeClr val="dk1"/>
                </a:solidFill>
                <a:latin typeface="Times New Roman"/>
                <a:ea typeface="Times New Roman"/>
                <a:cs typeface="Times New Roman"/>
                <a:sym typeface="Times New Roman"/>
              </a:rPr>
              <a:t>→           possible </a:t>
            </a:r>
            <a:r>
              <a:rPr b="1" lang="en-US" sz="2400">
                <a:solidFill>
                  <a:schemeClr val="dk1"/>
                </a:solidFill>
                <a:latin typeface="Times New Roman"/>
                <a:ea typeface="Times New Roman"/>
                <a:cs typeface="Times New Roman"/>
                <a:sym typeface="Times New Roman"/>
              </a:rPr>
              <a:t>positive autocorrelation</a:t>
            </a:r>
            <a:r>
              <a:rPr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p:txBody>
      </p:sp>
      <p:graphicFrame>
        <p:nvGraphicFramePr>
          <p:cNvPr id="279" name="Google Shape;279;g630db3fd719f6c7e_10"/>
          <p:cNvGraphicFramePr/>
          <p:nvPr/>
        </p:nvGraphicFramePr>
        <p:xfrm>
          <a:off x="5950488" y="263350"/>
          <a:ext cx="3000000" cy="3000000"/>
        </p:xfrm>
        <a:graphic>
          <a:graphicData uri="http://schemas.openxmlformats.org/drawingml/2006/table">
            <a:tbl>
              <a:tblPr>
                <a:noFill/>
                <a:tableStyleId>{118E0F4F-5B93-4366-B9F5-AB34FFFCB298}</a:tableStyleId>
              </a:tblPr>
              <a:tblGrid>
                <a:gridCol w="2601425"/>
                <a:gridCol w="2601425"/>
              </a:tblGrid>
              <a:tr h="435850">
                <a:tc>
                  <a:txBody>
                    <a:bodyPr/>
                    <a:lstStyle/>
                    <a:p>
                      <a:pPr indent="0" lvl="0" marL="0" rtl="0" algn="l">
                        <a:spcBef>
                          <a:spcPts val="0"/>
                        </a:spcBef>
                        <a:spcAft>
                          <a:spcPts val="0"/>
                        </a:spcAft>
                        <a:buNone/>
                      </a:pPr>
                      <a:r>
                        <a:rPr lang="en-US"/>
                        <a:t>DW Value</a:t>
                      </a:r>
                      <a:endParaRPr/>
                    </a:p>
                  </a:txBody>
                  <a:tcPr marT="91425" marB="91425" marR="91425" marL="91425"/>
                </a:tc>
                <a:tc>
                  <a:txBody>
                    <a:bodyPr/>
                    <a:lstStyle/>
                    <a:p>
                      <a:pPr indent="0" lvl="0" marL="0" rtl="0" algn="l">
                        <a:spcBef>
                          <a:spcPts val="0"/>
                        </a:spcBef>
                        <a:spcAft>
                          <a:spcPts val="0"/>
                        </a:spcAft>
                        <a:buNone/>
                      </a:pPr>
                      <a:r>
                        <a:rPr lang="en-US"/>
                        <a:t>General Indication</a:t>
                      </a:r>
                      <a:endParaRPr/>
                    </a:p>
                  </a:txBody>
                  <a:tcPr marT="91425" marB="91425" marR="91425" marL="91425"/>
                </a:tc>
              </a:tr>
              <a:tr h="435850">
                <a:tc>
                  <a:txBody>
                    <a:bodyPr/>
                    <a:lstStyle/>
                    <a:p>
                      <a:pPr indent="0" lvl="0" marL="0" rtl="0" algn="l">
                        <a:spcBef>
                          <a:spcPts val="0"/>
                        </a:spcBef>
                        <a:spcAft>
                          <a:spcPts val="0"/>
                        </a:spcAft>
                        <a:buNone/>
                      </a:pPr>
                      <a:r>
                        <a:rPr lang="en-US"/>
                        <a:t>Around 2</a:t>
                      </a:r>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Little/no first-order autocorrelation</a:t>
                      </a:r>
                      <a:endParaRPr/>
                    </a:p>
                  </a:txBody>
                  <a:tcPr marT="91425" marB="91425" marR="91425" marL="91425"/>
                </a:tc>
              </a:tr>
              <a:tr h="435850">
                <a:tc>
                  <a:txBody>
                    <a:bodyPr/>
                    <a:lstStyle/>
                    <a:p>
                      <a:pPr indent="0" lvl="0" marL="0" rtl="0" algn="l">
                        <a:spcBef>
                          <a:spcPts val="0"/>
                        </a:spcBef>
                        <a:spcAft>
                          <a:spcPts val="0"/>
                        </a:spcAft>
                        <a:buNone/>
                      </a:pPr>
                      <a:r>
                        <a:rPr lang="en-US"/>
                        <a:t>2 &gt;</a:t>
                      </a:r>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Possible positive autocorrelation</a:t>
                      </a:r>
                      <a:endParaRPr/>
                    </a:p>
                  </a:txBody>
                  <a:tcPr marT="91425" marB="91425" marR="91425" marL="91425"/>
                </a:tc>
              </a:tr>
              <a:tr h="435850">
                <a:tc>
                  <a:txBody>
                    <a:bodyPr/>
                    <a:lstStyle/>
                    <a:p>
                      <a:pPr indent="0" lvl="0" marL="0" rtl="0" algn="l">
                        <a:spcBef>
                          <a:spcPts val="0"/>
                        </a:spcBef>
                        <a:spcAft>
                          <a:spcPts val="0"/>
                        </a:spcAft>
                        <a:buNone/>
                      </a:pPr>
                      <a:r>
                        <a:rPr lang="en-US"/>
                        <a:t>2&lt;</a:t>
                      </a:r>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Possible negative autocorrelation</a:t>
                      </a:r>
                      <a:endParaRPr/>
                    </a:p>
                  </a:txBody>
                  <a:tcPr marT="91425" marB="91425" marR="91425" marL="91425"/>
                </a:tc>
              </a:tr>
              <a:tr h="435850">
                <a:tc>
                  <a:txBody>
                    <a:bodyPr/>
                    <a:lstStyle/>
                    <a:p>
                      <a:pPr indent="0" lvl="0" marL="0" rtl="0" algn="l">
                        <a:spcBef>
                          <a:spcPts val="0"/>
                        </a:spcBef>
                        <a:spcAft>
                          <a:spcPts val="0"/>
                        </a:spcAft>
                        <a:buNone/>
                      </a:pPr>
                      <a:r>
                        <a:rPr lang="en-US"/>
                        <a:t>Close to 0</a:t>
                      </a:r>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Strong positive autocorrelation</a:t>
                      </a:r>
                      <a:endParaRPr sz="1100">
                        <a:solidFill>
                          <a:schemeClr val="dk1"/>
                        </a:solidFill>
                      </a:endParaRPr>
                    </a:p>
                  </a:txBody>
                  <a:tcPr marT="91425" marB="91425" marR="91425" marL="91425"/>
                </a:tc>
              </a:tr>
              <a:tr h="435850">
                <a:tc>
                  <a:txBody>
                    <a:bodyPr/>
                    <a:lstStyle/>
                    <a:p>
                      <a:pPr indent="0" lvl="0" marL="0" rtl="0" algn="l">
                        <a:spcBef>
                          <a:spcPts val="0"/>
                        </a:spcBef>
                        <a:spcAft>
                          <a:spcPts val="0"/>
                        </a:spcAft>
                        <a:buNone/>
                      </a:pPr>
                      <a:r>
                        <a:rPr lang="en-US"/>
                        <a:t>Close to 4</a:t>
                      </a:r>
                      <a:endParaRPr/>
                    </a:p>
                  </a:txBody>
                  <a:tcPr marT="91425" marB="91425" marR="91425" marL="91425"/>
                </a:tc>
                <a:tc>
                  <a:txBody>
                    <a:bodyPr/>
                    <a:lstStyle/>
                    <a:p>
                      <a:pPr indent="0" lvl="0" marL="0" rtl="0" algn="l">
                        <a:lnSpc>
                          <a:spcPct val="115000"/>
                        </a:lnSpc>
                        <a:spcBef>
                          <a:spcPts val="1200"/>
                        </a:spcBef>
                        <a:spcAft>
                          <a:spcPts val="1200"/>
                        </a:spcAft>
                        <a:buClr>
                          <a:schemeClr val="dk1"/>
                        </a:buClr>
                        <a:buSzPts val="1100"/>
                        <a:buFont typeface="Arial"/>
                        <a:buNone/>
                      </a:pPr>
                      <a:r>
                        <a:rPr lang="en-US" sz="1100">
                          <a:solidFill>
                            <a:schemeClr val="dk1"/>
                          </a:solidFill>
                        </a:rPr>
                        <a:t>Strong ngative autocorrelation</a:t>
                      </a:r>
                      <a:endParaRPr sz="1100">
                        <a:solidFill>
                          <a:schemeClr val="dk1"/>
                        </a:solidFill>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630db3fd719f6c7e_7"/>
          <p:cNvSpPr txBox="1"/>
          <p:nvPr/>
        </p:nvSpPr>
        <p:spPr>
          <a:xfrm>
            <a:off x="438738" y="173750"/>
            <a:ext cx="11314200" cy="671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0"/>
              </a:spcAft>
              <a:buNone/>
            </a:pPr>
            <a:r>
              <a:rPr b="1" lang="en-US" sz="2400">
                <a:solidFill>
                  <a:schemeClr val="dk1"/>
                </a:solidFill>
                <a:latin typeface="Times New Roman"/>
                <a:ea typeface="Times New Roman"/>
                <a:cs typeface="Times New Roman"/>
                <a:sym typeface="Times New Roman"/>
              </a:rPr>
              <a:t>How can autocorrelation be handled?: </a:t>
            </a:r>
            <a:r>
              <a:rPr lang="en-US" sz="2400">
                <a:solidFill>
                  <a:schemeClr val="dk1"/>
                </a:solidFill>
                <a:latin typeface="Times New Roman"/>
                <a:ea typeface="Times New Roman"/>
                <a:cs typeface="Times New Roman"/>
                <a:sym typeface="Times New Roman"/>
              </a:rPr>
              <a:t>Depending on the cause and model, approaches include:</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1. Include relevant time-related variables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For example, trend or seasonal variables.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2. Add lagged variables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For example:  Sales</a:t>
            </a:r>
            <a:r>
              <a:rPr baseline="-25000" lang="en-US" sz="2400">
                <a:solidFill>
                  <a:schemeClr val="dk1"/>
                </a:solidFill>
                <a:latin typeface="Times New Roman"/>
                <a:ea typeface="Times New Roman"/>
                <a:cs typeface="Times New Roman"/>
                <a:sym typeface="Times New Roman"/>
              </a:rPr>
              <a:t>t</a:t>
            </a:r>
            <a:r>
              <a:rPr lang="en-US" sz="2400">
                <a:solidFill>
                  <a:schemeClr val="dk1"/>
                </a:solidFill>
                <a:latin typeface="Times New Roman"/>
                <a:ea typeface="Times New Roman"/>
                <a:cs typeface="Times New Roman"/>
                <a:sym typeface="Times New Roman"/>
              </a:rPr>
              <a:t> =β</a:t>
            </a:r>
            <a:r>
              <a:rPr baseline="-25000" lang="en-US" sz="2400">
                <a:solidFill>
                  <a:schemeClr val="dk1"/>
                </a:solidFill>
                <a:latin typeface="Times New Roman"/>
                <a:ea typeface="Times New Roman"/>
                <a:cs typeface="Times New Roman"/>
                <a:sym typeface="Times New Roman"/>
              </a:rPr>
              <a:t>0</a:t>
            </a:r>
            <a:r>
              <a:rPr lang="en-US" sz="2400">
                <a:solidFill>
                  <a:schemeClr val="dk1"/>
                </a:solidFill>
                <a:latin typeface="Times New Roman"/>
                <a:ea typeface="Times New Roman"/>
                <a:cs typeface="Times New Roman"/>
                <a:sym typeface="Times New Roman"/>
              </a:rPr>
              <a:t> + </a:t>
            </a:r>
            <a:r>
              <a:rPr lang="en-US" sz="2400">
                <a:solidFill>
                  <a:schemeClr val="dk1"/>
                </a:solidFill>
                <a:latin typeface="Times New Roman"/>
                <a:ea typeface="Times New Roman"/>
                <a:cs typeface="Times New Roman"/>
                <a:sym typeface="Times New Roman"/>
              </a:rPr>
              <a:t>β</a:t>
            </a:r>
            <a:r>
              <a:rPr baseline="-25000" lang="en-US" sz="2400">
                <a:solidFill>
                  <a:schemeClr val="dk1"/>
                </a:solidFill>
                <a:latin typeface="Times New Roman"/>
                <a:ea typeface="Times New Roman"/>
                <a:cs typeface="Times New Roman"/>
                <a:sym typeface="Times New Roman"/>
              </a:rPr>
              <a:t>1</a:t>
            </a:r>
            <a:r>
              <a:rPr lang="en-US" sz="2400">
                <a:solidFill>
                  <a:schemeClr val="dk1"/>
                </a:solidFill>
                <a:latin typeface="Times New Roman"/>
                <a:ea typeface="Times New Roman"/>
                <a:cs typeface="Times New Roman"/>
                <a:sym typeface="Times New Roman"/>
              </a:rPr>
              <a:t> (Advertising) + β</a:t>
            </a:r>
            <a:r>
              <a:rPr baseline="-25000" lang="en-US" sz="2400">
                <a:solidFill>
                  <a:schemeClr val="dk1"/>
                </a:solidFill>
                <a:latin typeface="Times New Roman"/>
                <a:ea typeface="Times New Roman"/>
                <a:cs typeface="Times New Roman"/>
                <a:sym typeface="Times New Roman"/>
              </a:rPr>
              <a:t>2 </a:t>
            </a:r>
            <a:r>
              <a:rPr lang="en-US" sz="2400">
                <a:solidFill>
                  <a:schemeClr val="dk1"/>
                </a:solidFill>
                <a:latin typeface="Times New Roman"/>
                <a:ea typeface="Times New Roman"/>
                <a:cs typeface="Times New Roman"/>
                <a:sym typeface="Times New Roman"/>
              </a:rPr>
              <a:t>( Sales</a:t>
            </a:r>
            <a:r>
              <a:rPr baseline="-25000" lang="en-US" sz="2400">
                <a:solidFill>
                  <a:schemeClr val="dk1"/>
                </a:solidFill>
                <a:latin typeface="Times New Roman"/>
                <a:ea typeface="Times New Roman"/>
                <a:cs typeface="Times New Roman"/>
                <a:sym typeface="Times New Roman"/>
              </a:rPr>
              <a:t>t-1</a:t>
            </a:r>
            <a:r>
              <a:rPr lang="en-US" sz="2400">
                <a:solidFill>
                  <a:schemeClr val="dk1"/>
                </a:solidFill>
                <a:latin typeface="Times New Roman"/>
                <a:ea typeface="Times New Roman"/>
                <a:cs typeface="Times New Roman"/>
                <a:sym typeface="Times New Roman"/>
              </a:rPr>
              <a:t>) + </a:t>
            </a:r>
            <a:r>
              <a:rPr lang="en-US" sz="2400">
                <a:solidFill>
                  <a:schemeClr val="dk1"/>
                </a:solidFill>
              </a:rPr>
              <a:t>ϵ</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Here, previous-period sales are used to explain current sales.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3. Use time-series regression methods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US" sz="2400">
                <a:solidFill>
                  <a:schemeClr val="dk1"/>
                </a:solidFill>
                <a:latin typeface="Times New Roman"/>
                <a:ea typeface="Times New Roman"/>
                <a:cs typeface="Times New Roman"/>
                <a:sym typeface="Times New Roman"/>
              </a:rPr>
              <a:t>Models specifically designed to account for serial dependence can be used.</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4. Use appropriate standard-error corrections</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US" sz="2400">
                <a:solidFill>
                  <a:schemeClr val="dk1"/>
                </a:solidFill>
                <a:latin typeface="Times New Roman"/>
                <a:ea typeface="Times New Roman"/>
                <a:cs typeface="Times New Roman"/>
                <a:sym typeface="Times New Roman"/>
              </a:rPr>
              <a:t>Methods such as </a:t>
            </a:r>
            <a:r>
              <a:rPr b="1" lang="en-US" sz="2400">
                <a:solidFill>
                  <a:schemeClr val="dk1"/>
                </a:solidFill>
                <a:latin typeface="Times New Roman"/>
                <a:ea typeface="Times New Roman"/>
                <a:cs typeface="Times New Roman"/>
                <a:sym typeface="Times New Roman"/>
              </a:rPr>
              <a:t>Newey-West/HAC standard errors</a:t>
            </a:r>
            <a:r>
              <a:rPr lang="en-US" sz="2400">
                <a:solidFill>
                  <a:schemeClr val="dk1"/>
                </a:solidFill>
                <a:latin typeface="Times New Roman"/>
                <a:ea typeface="Times New Roman"/>
                <a:cs typeface="Times New Roman"/>
                <a:sym typeface="Times New Roman"/>
              </a:rPr>
              <a:t> can provide more reliable inference under certain forms of autocorrelation.</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630db3fd719f6c7e_25"/>
          <p:cNvSpPr txBox="1"/>
          <p:nvPr/>
        </p:nvSpPr>
        <p:spPr>
          <a:xfrm>
            <a:off x="337275" y="327050"/>
            <a:ext cx="11211900" cy="618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400">
                <a:solidFill>
                  <a:schemeClr val="dk1"/>
                </a:solidFill>
                <a:latin typeface="Times New Roman"/>
                <a:ea typeface="Times New Roman"/>
                <a:cs typeface="Times New Roman"/>
                <a:sym typeface="Times New Roman"/>
              </a:rPr>
              <a:t>Autocorrelation: Complete Flow</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Step 1: </a:t>
            </a:r>
            <a:r>
              <a:rPr lang="en-US" sz="2400">
                <a:solidFill>
                  <a:schemeClr val="dk1"/>
                </a:solidFill>
                <a:latin typeface="Times New Roman"/>
                <a:ea typeface="Times New Roman"/>
                <a:cs typeface="Times New Roman"/>
                <a:sym typeface="Times New Roman"/>
              </a:rPr>
              <a:t>T</a:t>
            </a:r>
            <a:r>
              <a:rPr lang="en-US" sz="2400">
                <a:solidFill>
                  <a:schemeClr val="dk1"/>
                </a:solidFill>
                <a:latin typeface="Times New Roman"/>
                <a:ea typeface="Times New Roman"/>
                <a:cs typeface="Times New Roman"/>
                <a:sym typeface="Times New Roman"/>
              </a:rPr>
              <a:t>ime-Series Data</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Step 2: </a:t>
            </a:r>
            <a:r>
              <a:rPr lang="en-US" sz="2400">
                <a:solidFill>
                  <a:schemeClr val="dk1"/>
                </a:solidFill>
                <a:latin typeface="Times New Roman"/>
                <a:ea typeface="Times New Roman"/>
                <a:cs typeface="Times New Roman"/>
                <a:sym typeface="Times New Roman"/>
              </a:rPr>
              <a:t>Build Regression Model</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Step 3</a:t>
            </a:r>
            <a:r>
              <a:rPr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Calculate Residuals</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Step 4</a:t>
            </a:r>
            <a:r>
              <a:rPr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Check Residuals Over Time</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Step 5: </a:t>
            </a:r>
            <a:r>
              <a:rPr lang="en-US" sz="2400">
                <a:solidFill>
                  <a:schemeClr val="dk1"/>
                </a:solidFill>
                <a:latin typeface="Times New Roman"/>
                <a:ea typeface="Times New Roman"/>
                <a:cs typeface="Times New Roman"/>
                <a:sym typeface="Times New Roman"/>
              </a:rPr>
              <a:t>Autocorrelation Detected?</a:t>
            </a:r>
            <a:endParaRPr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Step 6</a:t>
            </a:r>
            <a:r>
              <a:rPr lang="en-US" sz="2400">
                <a:solidFill>
                  <a:schemeClr val="dk1"/>
                </a:solidFill>
                <a:latin typeface="Times New Roman"/>
                <a:ea typeface="Times New Roman"/>
                <a:cs typeface="Times New Roman"/>
                <a:sym typeface="Times New Roman"/>
              </a:rPr>
              <a:t>: </a:t>
            </a:r>
            <a:r>
              <a:rPr lang="en-US" sz="2400">
                <a:solidFill>
                  <a:schemeClr val="dk1"/>
                </a:solidFill>
                <a:latin typeface="Times New Roman"/>
                <a:ea typeface="Times New Roman"/>
                <a:cs typeface="Times New Roman"/>
                <a:sym typeface="Times New Roman"/>
              </a:rPr>
              <a:t>Use Appropriate Model / Variables / Standard Errors.</a:t>
            </a:r>
            <a:endParaRPr sz="2400">
              <a:solidFill>
                <a:schemeClr val="dk1"/>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0"/>
              </a:spcAft>
              <a:buNone/>
            </a:pPr>
            <a:r>
              <a:rPr b="1" lang="en-US" sz="2400">
                <a:solidFill>
                  <a:schemeClr val="dk1"/>
                </a:solidFill>
                <a:latin typeface="Times New Roman"/>
                <a:ea typeface="Times New Roman"/>
                <a:cs typeface="Times New Roman"/>
                <a:sym typeface="Times New Roman"/>
              </a:rPr>
              <a:t>Summary : “Autocorrelation occurs when the regression errors are related across time, meaning that today's error may depend on yesterday's error.”</a:t>
            </a:r>
            <a:endParaRPr b="1" sz="2400">
              <a:solidFill>
                <a:schemeClr val="dk1"/>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0"/>
              </a:spcAft>
              <a:buNone/>
            </a:pPr>
            <a:r>
              <a:t/>
            </a:r>
            <a:endParaRPr b="1" sz="2400">
              <a:solidFill>
                <a:schemeClr val="dk1"/>
              </a:solidFill>
              <a:latin typeface="Times New Roman"/>
              <a:ea typeface="Times New Roman"/>
              <a:cs typeface="Times New Roman"/>
              <a:sym typeface="Times New Roman"/>
            </a:endParaRPr>
          </a:p>
          <a:p>
            <a:pPr indent="0" lvl="0" marL="381000" marR="381000" rtl="0" algn="l">
              <a:lnSpc>
                <a:spcPct val="115000"/>
              </a:lnSpc>
              <a:spcBef>
                <a:spcPts val="1200"/>
              </a:spcBef>
              <a:spcAft>
                <a:spcPts val="1200"/>
              </a:spcAft>
              <a:buNone/>
            </a:pPr>
            <a:r>
              <a:rPr b="1" lang="en-US" sz="2400">
                <a:solidFill>
                  <a:schemeClr val="dk1"/>
                </a:solidFill>
                <a:latin typeface="Times New Roman"/>
                <a:ea typeface="Times New Roman"/>
                <a:cs typeface="Times New Roman"/>
                <a:sym typeface="Times New Roman"/>
              </a:rPr>
              <a:t>                                           ******************************</a:t>
            </a:r>
            <a:endParaRPr b="1" sz="24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